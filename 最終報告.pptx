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56" r:id="rId2"/>
    <p:sldId id="288" r:id="rId3"/>
    <p:sldId id="258" r:id="rId4"/>
    <p:sldId id="287" r:id="rId5"/>
    <p:sldId id="266" r:id="rId6"/>
    <p:sldId id="267" r:id="rId7"/>
    <p:sldId id="268" r:id="rId8"/>
    <p:sldId id="270" r:id="rId9"/>
    <p:sldId id="271" r:id="rId10"/>
    <p:sldId id="290" r:id="rId11"/>
    <p:sldId id="291" r:id="rId12"/>
    <p:sldId id="282" r:id="rId13"/>
    <p:sldId id="273" r:id="rId14"/>
    <p:sldId id="284" r:id="rId15"/>
    <p:sldId id="279" r:id="rId16"/>
    <p:sldId id="280" r:id="rId17"/>
    <p:sldId id="285" r:id="rId18"/>
    <p:sldId id="277" r:id="rId19"/>
    <p:sldId id="276" r:id="rId20"/>
    <p:sldId id="260" r:id="rId21"/>
    <p:sldId id="261" r:id="rId22"/>
    <p:sldId id="286" r:id="rId23"/>
    <p:sldId id="262" r:id="rId24"/>
    <p:sldId id="264" r:id="rId25"/>
    <p:sldId id="265" r:id="rId26"/>
    <p:sldId id="278" r:id="rId27"/>
    <p:sldId id="283" r:id="rId28"/>
    <p:sldId id="263" r:id="rId29"/>
    <p:sldId id="269" r:id="rId30"/>
    <p:sldId id="281" r:id="rId31"/>
    <p:sldId id="275" r:id="rId32"/>
    <p:sldId id="289" r:id="rId33"/>
  </p:sldIdLst>
  <p:sldSz cx="12192000" cy="6858000"/>
  <p:notesSz cx="6886575" cy="10017125"/>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572D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0533" autoAdjust="0"/>
  </p:normalViewPr>
  <p:slideViewPr>
    <p:cSldViewPr snapToGrid="0">
      <p:cViewPr varScale="1">
        <p:scale>
          <a:sx n="113" d="100"/>
          <a:sy n="113" d="100"/>
        </p:scale>
        <p:origin x="444" y="96"/>
      </p:cViewPr>
      <p:guideLst/>
    </p:cSldViewPr>
  </p:slideViewPr>
  <p:notesTextViewPr>
    <p:cViewPr>
      <p:scale>
        <a:sx n="1" d="1"/>
        <a:sy n="1" d="1"/>
      </p:scale>
      <p:origin x="0" y="0"/>
    </p:cViewPr>
  </p:notesTextViewPr>
  <p:sorterViewPr>
    <p:cViewPr>
      <p:scale>
        <a:sx n="100" d="100"/>
        <a:sy n="100" d="100"/>
      </p:scale>
      <p:origin x="0" y="-429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ryosh\Documents\PBL_stock\Book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ryo\Documents\PBL_stock\Book1.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rgbClr val="92D050"/>
              </a:solidFill>
              <a:ln w="19050">
                <a:solidFill>
                  <a:schemeClr val="lt1"/>
                </a:solidFill>
              </a:ln>
              <a:effectLst/>
            </c:spPr>
            <c:extLst>
              <c:ext xmlns:c16="http://schemas.microsoft.com/office/drawing/2014/chart" uri="{C3380CC4-5D6E-409C-BE32-E72D297353CC}">
                <c16:uniqueId val="{00000001-6271-4AAC-87FD-4862D021D21D}"/>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6271-4AAC-87FD-4862D021D21D}"/>
              </c:ext>
            </c:extLst>
          </c:dPt>
          <c:dPt>
            <c:idx val="2"/>
            <c:bubble3D val="0"/>
            <c:spPr>
              <a:solidFill>
                <a:srgbClr val="FF3399"/>
              </a:solidFill>
              <a:ln w="19050">
                <a:solidFill>
                  <a:schemeClr val="lt1"/>
                </a:solidFill>
              </a:ln>
              <a:effectLst/>
            </c:spPr>
            <c:extLst>
              <c:ext xmlns:c16="http://schemas.microsoft.com/office/drawing/2014/chart" uri="{C3380CC4-5D6E-409C-BE32-E72D297353CC}">
                <c16:uniqueId val="{00000005-6271-4AAC-87FD-4862D021D21D}"/>
              </c:ext>
            </c:extLst>
          </c:dPt>
          <c:cat>
            <c:strRef>
              <c:f>Sheet1!$D$8:$D$10</c:f>
              <c:strCache>
                <c:ptCount val="3"/>
                <c:pt idx="0">
                  <c:v>投資信託</c:v>
                </c:pt>
                <c:pt idx="1">
                  <c:v>国内株式</c:v>
                </c:pt>
                <c:pt idx="2">
                  <c:v>米国株式</c:v>
                </c:pt>
              </c:strCache>
            </c:strRef>
          </c:cat>
          <c:val>
            <c:numRef>
              <c:f>Sheet1!$E$8:$E$10</c:f>
              <c:numCache>
                <c:formatCode>General</c:formatCode>
                <c:ptCount val="3"/>
                <c:pt idx="0">
                  <c:v>25.6</c:v>
                </c:pt>
                <c:pt idx="1">
                  <c:v>33.799999999999997</c:v>
                </c:pt>
                <c:pt idx="2">
                  <c:v>40.5</c:v>
                </c:pt>
              </c:numCache>
            </c:numRef>
          </c:val>
          <c:extLst>
            <c:ext xmlns:c16="http://schemas.microsoft.com/office/drawing/2014/chart" uri="{C3380CC4-5D6E-409C-BE32-E72D297353CC}">
              <c16:uniqueId val="{00000006-6271-4AAC-87FD-4862D021D21D}"/>
            </c:ext>
          </c:extLst>
        </c:ser>
        <c:dLbls>
          <c:showLegendKey val="0"/>
          <c:showVal val="0"/>
          <c:showCatName val="0"/>
          <c:showSerName val="0"/>
          <c:showPercent val="0"/>
          <c:showBubbleSize val="0"/>
          <c:showLeaderLines val="1"/>
        </c:dLbls>
        <c:firstSliceAng val="157"/>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1-22B7-4043-A27C-0A1DE922E837}"/>
              </c:ext>
            </c:extLst>
          </c:dPt>
          <c:dPt>
            <c:idx val="1"/>
            <c:bubble3D val="0"/>
            <c:spPr>
              <a:solidFill>
                <a:srgbClr val="002060"/>
              </a:solidFill>
              <a:ln w="19050">
                <a:solidFill>
                  <a:schemeClr val="lt1"/>
                </a:solidFill>
              </a:ln>
              <a:effectLst/>
            </c:spPr>
            <c:extLst>
              <c:ext xmlns:c16="http://schemas.microsoft.com/office/drawing/2014/chart" uri="{C3380CC4-5D6E-409C-BE32-E72D297353CC}">
                <c16:uniqueId val="{00000003-22B7-4043-A27C-0A1DE922E837}"/>
              </c:ext>
            </c:extLst>
          </c:dPt>
          <c:dPt>
            <c:idx val="2"/>
            <c:bubble3D val="0"/>
            <c:spPr>
              <a:solidFill>
                <a:srgbClr val="00B0F0"/>
              </a:solidFill>
              <a:ln w="19050">
                <a:solidFill>
                  <a:schemeClr val="lt1"/>
                </a:solidFill>
              </a:ln>
              <a:effectLst/>
            </c:spPr>
            <c:extLst>
              <c:ext xmlns:c16="http://schemas.microsoft.com/office/drawing/2014/chart" uri="{C3380CC4-5D6E-409C-BE32-E72D297353CC}">
                <c16:uniqueId val="{00000005-22B7-4043-A27C-0A1DE922E837}"/>
              </c:ext>
            </c:extLst>
          </c:dPt>
          <c:dPt>
            <c:idx val="3"/>
            <c:bubble3D val="0"/>
            <c:spPr>
              <a:solidFill>
                <a:srgbClr val="FF3300"/>
              </a:solidFill>
              <a:ln w="19050">
                <a:solidFill>
                  <a:schemeClr val="lt1"/>
                </a:solidFill>
              </a:ln>
              <a:effectLst/>
            </c:spPr>
            <c:extLst>
              <c:ext xmlns:c16="http://schemas.microsoft.com/office/drawing/2014/chart" uri="{C3380CC4-5D6E-409C-BE32-E72D297353CC}">
                <c16:uniqueId val="{00000007-22B7-4043-A27C-0A1DE922E837}"/>
              </c:ext>
            </c:extLst>
          </c:dPt>
          <c:dPt>
            <c:idx val="4"/>
            <c:bubble3D val="0"/>
            <c:spPr>
              <a:solidFill>
                <a:schemeClr val="tx1">
                  <a:lumMod val="75000"/>
                  <a:lumOff val="25000"/>
                </a:schemeClr>
              </a:solidFill>
              <a:ln w="19050">
                <a:solidFill>
                  <a:schemeClr val="lt1"/>
                </a:solidFill>
              </a:ln>
              <a:effectLst/>
            </c:spPr>
            <c:extLst>
              <c:ext xmlns:c16="http://schemas.microsoft.com/office/drawing/2014/chart" uri="{C3380CC4-5D6E-409C-BE32-E72D297353CC}">
                <c16:uniqueId val="{00000009-22B7-4043-A27C-0A1DE922E837}"/>
              </c:ext>
            </c:extLst>
          </c:dPt>
          <c:cat>
            <c:strRef>
              <c:f>Sheet1!$D$11:$D$15</c:f>
              <c:strCache>
                <c:ptCount val="5"/>
                <c:pt idx="0">
                  <c:v>NVDA エヌビディア</c:v>
                </c:pt>
                <c:pt idx="1">
                  <c:v>ARM アーム ホールディングス</c:v>
                </c:pt>
                <c:pt idx="2">
                  <c:v>GOOGL アルファベット A</c:v>
                </c:pt>
                <c:pt idx="3">
                  <c:v>TSM 台湾セミコンダクター ADR</c:v>
                </c:pt>
                <c:pt idx="4">
                  <c:v>AMZN アマゾンドットコム</c:v>
                </c:pt>
              </c:strCache>
            </c:strRef>
          </c:cat>
          <c:val>
            <c:numRef>
              <c:f>Sheet1!$E$11:$E$15</c:f>
              <c:numCache>
                <c:formatCode>General</c:formatCode>
                <c:ptCount val="5"/>
                <c:pt idx="0">
                  <c:v>62.617396868499455</c:v>
                </c:pt>
                <c:pt idx="1">
                  <c:v>22.294339034129091</c:v>
                </c:pt>
                <c:pt idx="2">
                  <c:v>7.8326502622580101</c:v>
                </c:pt>
                <c:pt idx="3">
                  <c:v>7.2556138351134463</c:v>
                </c:pt>
                <c:pt idx="4">
                  <c:v>4.2215856575715387</c:v>
                </c:pt>
              </c:numCache>
            </c:numRef>
          </c:val>
          <c:extLst>
            <c:ext xmlns:c16="http://schemas.microsoft.com/office/drawing/2014/chart" uri="{C3380CC4-5D6E-409C-BE32-E72D297353CC}">
              <c16:uniqueId val="{0000000A-22B7-4043-A27C-0A1DE922E837}"/>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3A5DD8-0C95-518B-6F6E-C21847DE083B}"/>
              </a:ext>
            </a:extLst>
          </p:cNvPr>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9C827FB-CC9A-B922-8E2B-94FFCB3FDB50}"/>
              </a:ext>
            </a:extLst>
          </p:cNvPr>
          <p:cNvSpPr>
            <a:spLocks noGrp="1"/>
          </p:cNvSpPr>
          <p:nvPr>
            <p:ph type="dt" sz="quarter" idx="1"/>
          </p:nvPr>
        </p:nvSpPr>
        <p:spPr>
          <a:xfrm>
            <a:off x="3900488" y="0"/>
            <a:ext cx="2984500" cy="501650"/>
          </a:xfrm>
          <a:prstGeom prst="rect">
            <a:avLst/>
          </a:prstGeom>
        </p:spPr>
        <p:txBody>
          <a:bodyPr vert="horz" lIns="91440" tIns="45720" rIns="91440" bIns="45720" rtlCol="0"/>
          <a:lstStyle>
            <a:lvl1pPr algn="r">
              <a:defRPr sz="1200"/>
            </a:lvl1pPr>
          </a:lstStyle>
          <a:p>
            <a:fld id="{11A638EE-4D6E-4D1F-ADB7-73EDB370CA74}" type="datetimeFigureOut">
              <a:rPr lang="en-GB" smtClean="0"/>
              <a:t>25/01/2025</a:t>
            </a:fld>
            <a:endParaRPr lang="en-GB"/>
          </a:p>
        </p:txBody>
      </p:sp>
      <p:sp>
        <p:nvSpPr>
          <p:cNvPr id="4" name="Footer Placeholder 3">
            <a:extLst>
              <a:ext uri="{FF2B5EF4-FFF2-40B4-BE49-F238E27FC236}">
                <a16:creationId xmlns:a16="http://schemas.microsoft.com/office/drawing/2014/main" id="{028808B4-24C7-E0B4-B285-AF6991BB232E}"/>
              </a:ext>
            </a:extLst>
          </p:cNvPr>
          <p:cNvSpPr>
            <a:spLocks noGrp="1"/>
          </p:cNvSpPr>
          <p:nvPr>
            <p:ph type="ftr" sz="quarter" idx="2"/>
          </p:nvPr>
        </p:nvSpPr>
        <p:spPr>
          <a:xfrm>
            <a:off x="0" y="9515475"/>
            <a:ext cx="2984500" cy="5016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2068B251-2EC0-8138-3F59-D2BC7F8DA9A1}"/>
              </a:ext>
            </a:extLst>
          </p:cNvPr>
          <p:cNvSpPr>
            <a:spLocks noGrp="1"/>
          </p:cNvSpPr>
          <p:nvPr>
            <p:ph type="sldNum" sz="quarter" idx="3"/>
          </p:nvPr>
        </p:nvSpPr>
        <p:spPr>
          <a:xfrm>
            <a:off x="3900488" y="9515475"/>
            <a:ext cx="2984500" cy="501650"/>
          </a:xfrm>
          <a:prstGeom prst="rect">
            <a:avLst/>
          </a:prstGeom>
        </p:spPr>
        <p:txBody>
          <a:bodyPr vert="horz" lIns="91440" tIns="45720" rIns="91440" bIns="45720" rtlCol="0" anchor="b"/>
          <a:lstStyle>
            <a:lvl1pPr algn="r">
              <a:defRPr sz="1200"/>
            </a:lvl1pPr>
          </a:lstStyle>
          <a:p>
            <a:fld id="{1F3C3FFD-C69A-45F9-ADD6-4D7EFCC44E54}" type="slidenum">
              <a:rPr lang="en-GB" smtClean="0"/>
              <a:t>‹#›</a:t>
            </a:fld>
            <a:endParaRPr lang="en-GB"/>
          </a:p>
        </p:txBody>
      </p:sp>
    </p:spTree>
    <p:extLst>
      <p:ext uri="{BB962C8B-B14F-4D97-AF65-F5344CB8AC3E}">
        <p14:creationId xmlns:p14="http://schemas.microsoft.com/office/powerpoint/2010/main" val="13350338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84183" cy="502596"/>
          </a:xfrm>
          <a:prstGeom prst="rect">
            <a:avLst/>
          </a:prstGeom>
        </p:spPr>
        <p:txBody>
          <a:bodyPr vert="horz" lIns="96588" tIns="48294" rIns="96588" bIns="48294" rtlCol="0"/>
          <a:lstStyle>
            <a:lvl1pPr algn="l">
              <a:defRPr sz="1300"/>
            </a:lvl1pPr>
          </a:lstStyle>
          <a:p>
            <a:endParaRPr kumimoji="1" lang="ja-JP" altLang="en-US"/>
          </a:p>
        </p:txBody>
      </p:sp>
      <p:sp>
        <p:nvSpPr>
          <p:cNvPr id="3" name="日付プレースホルダー 2"/>
          <p:cNvSpPr>
            <a:spLocks noGrp="1"/>
          </p:cNvSpPr>
          <p:nvPr>
            <p:ph type="dt" idx="1"/>
          </p:nvPr>
        </p:nvSpPr>
        <p:spPr>
          <a:xfrm>
            <a:off x="3900799" y="0"/>
            <a:ext cx="2984183" cy="502596"/>
          </a:xfrm>
          <a:prstGeom prst="rect">
            <a:avLst/>
          </a:prstGeom>
        </p:spPr>
        <p:txBody>
          <a:bodyPr vert="horz" lIns="96588" tIns="48294" rIns="96588" bIns="48294" rtlCol="0"/>
          <a:lstStyle>
            <a:lvl1pPr algn="r">
              <a:defRPr sz="1300"/>
            </a:lvl1pPr>
          </a:lstStyle>
          <a:p>
            <a:fld id="{71B089C8-FDE2-4061-9DCE-7FCF02DE2E7A}" type="datetimeFigureOut">
              <a:rPr kumimoji="1" lang="ja-JP" altLang="en-US" smtClean="0"/>
              <a:t>2025/1/25</a:t>
            </a:fld>
            <a:endParaRPr kumimoji="1" lang="ja-JP" altLang="en-US"/>
          </a:p>
        </p:txBody>
      </p:sp>
      <p:sp>
        <p:nvSpPr>
          <p:cNvPr id="4" name="スライド イメージ プレースホルダー 3"/>
          <p:cNvSpPr>
            <a:spLocks noGrp="1" noRot="1" noChangeAspect="1"/>
          </p:cNvSpPr>
          <p:nvPr>
            <p:ph type="sldImg" idx="2"/>
          </p:nvPr>
        </p:nvSpPr>
        <p:spPr>
          <a:xfrm>
            <a:off x="439738" y="1252538"/>
            <a:ext cx="6007100" cy="3379787"/>
          </a:xfrm>
          <a:prstGeom prst="rect">
            <a:avLst/>
          </a:prstGeom>
          <a:noFill/>
          <a:ln w="12700">
            <a:solidFill>
              <a:prstClr val="black"/>
            </a:solidFill>
          </a:ln>
        </p:spPr>
        <p:txBody>
          <a:bodyPr vert="horz" lIns="96588" tIns="48294" rIns="96588" bIns="48294" rtlCol="0" anchor="ctr"/>
          <a:lstStyle/>
          <a:p>
            <a:endParaRPr lang="ja-JP" altLang="en-US"/>
          </a:p>
        </p:txBody>
      </p:sp>
      <p:sp>
        <p:nvSpPr>
          <p:cNvPr id="5" name="ノート プレースホルダー 4"/>
          <p:cNvSpPr>
            <a:spLocks noGrp="1"/>
          </p:cNvSpPr>
          <p:nvPr>
            <p:ph type="body" sz="quarter" idx="3"/>
          </p:nvPr>
        </p:nvSpPr>
        <p:spPr>
          <a:xfrm>
            <a:off x="688658" y="4820741"/>
            <a:ext cx="5509260" cy="3944243"/>
          </a:xfrm>
          <a:prstGeom prst="rect">
            <a:avLst/>
          </a:prstGeom>
        </p:spPr>
        <p:txBody>
          <a:bodyPr vert="horz" lIns="96588" tIns="48294" rIns="96588" bIns="48294"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514531"/>
            <a:ext cx="2984183" cy="502595"/>
          </a:xfrm>
          <a:prstGeom prst="rect">
            <a:avLst/>
          </a:prstGeom>
        </p:spPr>
        <p:txBody>
          <a:bodyPr vert="horz" lIns="96588" tIns="48294" rIns="96588" bIns="48294"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3900799" y="9514531"/>
            <a:ext cx="2984183" cy="502595"/>
          </a:xfrm>
          <a:prstGeom prst="rect">
            <a:avLst/>
          </a:prstGeom>
        </p:spPr>
        <p:txBody>
          <a:bodyPr vert="horz" lIns="96588" tIns="48294" rIns="96588" bIns="48294" rtlCol="0" anchor="b"/>
          <a:lstStyle>
            <a:lvl1pPr algn="r">
              <a:defRPr sz="1300"/>
            </a:lvl1pPr>
          </a:lstStyle>
          <a:p>
            <a:fld id="{7CD860E0-C8EB-4478-A6A5-544033815766}" type="slidenum">
              <a:rPr kumimoji="1" lang="ja-JP" altLang="en-US" smtClean="0"/>
              <a:t>‹#›</a:t>
            </a:fld>
            <a:endParaRPr kumimoji="1" lang="ja-JP" altLang="en-US"/>
          </a:p>
        </p:txBody>
      </p:sp>
    </p:spTree>
    <p:extLst>
      <p:ext uri="{BB962C8B-B14F-4D97-AF65-F5344CB8AC3E}">
        <p14:creationId xmlns:p14="http://schemas.microsoft.com/office/powerpoint/2010/main" val="243346589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0D370-79E9-DE6A-6112-581C4E6F0D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DE633C1-49C1-458C-4CCC-F8AA195D34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108E32-82C5-FABE-CB65-83DDAC864EC0}"/>
              </a:ext>
            </a:extLst>
          </p:cNvPr>
          <p:cNvSpPr>
            <a:spLocks noGrp="1"/>
          </p:cNvSpPr>
          <p:nvPr>
            <p:ph type="body" idx="1"/>
          </p:nvPr>
        </p:nvSpPr>
        <p:spPr/>
        <p:txBody>
          <a:bodyPr/>
          <a:lstStyle/>
          <a:p>
            <a:r>
              <a:rPr kumimoji="1" lang="ja-JP" altLang="en-US" dirty="0"/>
              <a:t>本報告はその授業内で行われた発表内容です。</a:t>
            </a:r>
          </a:p>
        </p:txBody>
      </p:sp>
      <p:sp>
        <p:nvSpPr>
          <p:cNvPr id="4" name="スライド番号プレースホルダー 3">
            <a:extLst>
              <a:ext uri="{FF2B5EF4-FFF2-40B4-BE49-F238E27FC236}">
                <a16:creationId xmlns:a16="http://schemas.microsoft.com/office/drawing/2014/main" id="{E3268119-02D7-1E79-575C-F0DBE44FC8BF}"/>
              </a:ext>
            </a:extLst>
          </p:cNvPr>
          <p:cNvSpPr>
            <a:spLocks noGrp="1"/>
          </p:cNvSpPr>
          <p:nvPr>
            <p:ph type="sldNum" sz="quarter" idx="5"/>
          </p:nvPr>
        </p:nvSpPr>
        <p:spPr/>
        <p:txBody>
          <a:bodyPr/>
          <a:lstStyle/>
          <a:p>
            <a:fld id="{7CD860E0-C8EB-4478-A6A5-544033815766}" type="slidenum">
              <a:rPr kumimoji="1" lang="ja-JP" altLang="en-US" smtClean="0"/>
              <a:t>2</a:t>
            </a:fld>
            <a:endParaRPr kumimoji="1" lang="ja-JP" altLang="en-US"/>
          </a:p>
        </p:txBody>
      </p:sp>
    </p:spTree>
    <p:extLst>
      <p:ext uri="{BB962C8B-B14F-4D97-AF65-F5344CB8AC3E}">
        <p14:creationId xmlns:p14="http://schemas.microsoft.com/office/powerpoint/2010/main" val="2665726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その年の一月一日の時点で</a:t>
            </a:r>
            <a:r>
              <a:rPr kumimoji="1" lang="en-US" altLang="ja-JP" dirty="0"/>
              <a:t>18</a:t>
            </a:r>
            <a:r>
              <a:rPr kumimoji="1" lang="ja-JP" altLang="en-US" dirty="0"/>
              <a:t>歳になっていけないといけないので今年に入るまで</a:t>
            </a:r>
            <a:r>
              <a:rPr kumimoji="1" lang="en-US" altLang="ja-JP" dirty="0"/>
              <a:t>NISA</a:t>
            </a:r>
            <a:r>
              <a:rPr kumimoji="1" lang="ja-JP" altLang="en-US" dirty="0"/>
              <a:t>口座を持てなかった</a:t>
            </a:r>
            <a:endParaRPr kumimoji="1" lang="en-US" altLang="ja-JP" dirty="0"/>
          </a:p>
          <a:p>
            <a:r>
              <a:rPr kumimoji="1" lang="ja-JP" altLang="en-US" dirty="0"/>
              <a:t>せっかく株をやるのなら</a:t>
            </a:r>
          </a:p>
        </p:txBody>
      </p:sp>
      <p:sp>
        <p:nvSpPr>
          <p:cNvPr id="4" name="スライド番号プレースホルダー 3"/>
          <p:cNvSpPr>
            <a:spLocks noGrp="1"/>
          </p:cNvSpPr>
          <p:nvPr>
            <p:ph type="sldNum" sz="quarter" idx="5"/>
          </p:nvPr>
        </p:nvSpPr>
        <p:spPr/>
        <p:txBody>
          <a:bodyPr/>
          <a:lstStyle/>
          <a:p>
            <a:fld id="{7CD860E0-C8EB-4478-A6A5-544033815766}" type="slidenum">
              <a:rPr kumimoji="1" lang="ja-JP" altLang="en-US" smtClean="0"/>
              <a:t>3</a:t>
            </a:fld>
            <a:endParaRPr kumimoji="1" lang="ja-JP" altLang="en-US"/>
          </a:p>
        </p:txBody>
      </p:sp>
    </p:spTree>
    <p:extLst>
      <p:ext uri="{BB962C8B-B14F-4D97-AF65-F5344CB8AC3E}">
        <p14:creationId xmlns:p14="http://schemas.microsoft.com/office/powerpoint/2010/main" val="77808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74579-E03C-C35A-899A-87209E909C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186A1B6-5E49-B458-5B8A-48B11A10DE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10CBE5-600C-BE55-CCB2-9517625C9A7C}"/>
              </a:ext>
            </a:extLst>
          </p:cNvPr>
          <p:cNvSpPr>
            <a:spLocks noGrp="1"/>
          </p:cNvSpPr>
          <p:nvPr>
            <p:ph type="body" idx="1"/>
          </p:nvPr>
        </p:nvSpPr>
        <p:spPr/>
        <p:txBody>
          <a:bodyPr/>
          <a:lstStyle/>
          <a:p>
            <a:r>
              <a:rPr kumimoji="1" lang="ja-JP" altLang="en-US" dirty="0"/>
              <a:t>社会的な</a:t>
            </a:r>
            <a:r>
              <a:rPr kumimoji="1" lang="ja-JP" altLang="en-US"/>
              <a:t>事象、特</a:t>
            </a:r>
            <a:r>
              <a:rPr kumimoji="1" lang="ja-JP" altLang="en-US" dirty="0"/>
              <a:t>に株価はニュースや映像で伝えられ、それに反応して株の売買が行われ、株価や経済的指標が上下します。</a:t>
            </a:r>
          </a:p>
        </p:txBody>
      </p:sp>
      <p:sp>
        <p:nvSpPr>
          <p:cNvPr id="4" name="スライド番号プレースホルダー 3">
            <a:extLst>
              <a:ext uri="{FF2B5EF4-FFF2-40B4-BE49-F238E27FC236}">
                <a16:creationId xmlns:a16="http://schemas.microsoft.com/office/drawing/2014/main" id="{B749CDBC-0E2E-ED3D-61FD-714CA4DDADA4}"/>
              </a:ext>
            </a:extLst>
          </p:cNvPr>
          <p:cNvSpPr>
            <a:spLocks noGrp="1"/>
          </p:cNvSpPr>
          <p:nvPr>
            <p:ph type="sldNum" sz="quarter" idx="5"/>
          </p:nvPr>
        </p:nvSpPr>
        <p:spPr/>
        <p:txBody>
          <a:bodyPr/>
          <a:lstStyle/>
          <a:p>
            <a:fld id="{7CD860E0-C8EB-4478-A6A5-544033815766}" type="slidenum">
              <a:rPr kumimoji="1" lang="ja-JP" altLang="en-US" smtClean="0"/>
              <a:t>4</a:t>
            </a:fld>
            <a:endParaRPr kumimoji="1" lang="ja-JP" altLang="en-US"/>
          </a:p>
        </p:txBody>
      </p:sp>
    </p:spTree>
    <p:extLst>
      <p:ext uri="{BB962C8B-B14F-4D97-AF65-F5344CB8AC3E}">
        <p14:creationId xmlns:p14="http://schemas.microsoft.com/office/powerpoint/2010/main" val="4142936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そこで、</a:t>
            </a:r>
            <a:endParaRPr lang="en-GB" altLang="ja-JP" dirty="0"/>
          </a:p>
          <a:p>
            <a:r>
              <a:rPr lang="ja-JP" altLang="en-US" dirty="0"/>
              <a:t>と、考えます</a:t>
            </a:r>
            <a:endParaRPr lang="en-GB" dirty="0"/>
          </a:p>
        </p:txBody>
      </p:sp>
      <p:sp>
        <p:nvSpPr>
          <p:cNvPr id="4" name="Slide Number Placeholder 3"/>
          <p:cNvSpPr>
            <a:spLocks noGrp="1"/>
          </p:cNvSpPr>
          <p:nvPr>
            <p:ph type="sldNum" sz="quarter" idx="5"/>
          </p:nvPr>
        </p:nvSpPr>
        <p:spPr/>
        <p:txBody>
          <a:bodyPr/>
          <a:lstStyle/>
          <a:p>
            <a:fld id="{7CD860E0-C8EB-4478-A6A5-544033815766}" type="slidenum">
              <a:rPr kumimoji="1" lang="ja-JP" altLang="en-US" smtClean="0"/>
              <a:t>5</a:t>
            </a:fld>
            <a:endParaRPr kumimoji="1" lang="ja-JP" altLang="en-US"/>
          </a:p>
        </p:txBody>
      </p:sp>
    </p:spTree>
    <p:extLst>
      <p:ext uri="{BB962C8B-B14F-4D97-AF65-F5344CB8AC3E}">
        <p14:creationId xmlns:p14="http://schemas.microsoft.com/office/powerpoint/2010/main" val="977479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簡単にこのニュースは失望何点、楽観何点、懸念何点、興奮何点、安定何点の様に点数をつけてあげてその値を見て予測しようということです</a:t>
            </a:r>
            <a:endParaRPr kumimoji="1" lang="en-US" altLang="ja-JP" dirty="0"/>
          </a:p>
          <a:p>
            <a:endParaRPr kumimoji="1" lang="en-US" altLang="ja-JP" dirty="0"/>
          </a:p>
          <a:p>
            <a:r>
              <a:rPr kumimoji="1" lang="ja-JP" altLang="en-US" dirty="0"/>
              <a:t>しかし、あまたある</a:t>
            </a:r>
            <a:endParaRPr kumimoji="1" lang="en-GB"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CD860E0-C8EB-4478-A6A5-544033815766}" type="slidenum">
              <a:rPr kumimoji="1" lang="ja-JP" altLang="en-US" smtClean="0"/>
              <a:t>6</a:t>
            </a:fld>
            <a:endParaRPr kumimoji="1" lang="ja-JP" altLang="en-US"/>
          </a:p>
        </p:txBody>
      </p:sp>
    </p:spTree>
    <p:extLst>
      <p:ext uri="{BB962C8B-B14F-4D97-AF65-F5344CB8AC3E}">
        <p14:creationId xmlns:p14="http://schemas.microsoft.com/office/powerpoint/2010/main" val="1359606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err="1"/>
              <a:t>Softmax</a:t>
            </a:r>
            <a:r>
              <a:rPr kumimoji="1" lang="ja-JP" altLang="en-US" dirty="0"/>
              <a:t>関数が返す値は厳密には確率とは言えない</a:t>
            </a:r>
          </a:p>
        </p:txBody>
      </p:sp>
      <p:sp>
        <p:nvSpPr>
          <p:cNvPr id="4" name="スライド番号プレースホルダー 3"/>
          <p:cNvSpPr>
            <a:spLocks noGrp="1"/>
          </p:cNvSpPr>
          <p:nvPr>
            <p:ph type="sldNum" sz="quarter" idx="5"/>
          </p:nvPr>
        </p:nvSpPr>
        <p:spPr/>
        <p:txBody>
          <a:bodyPr/>
          <a:lstStyle/>
          <a:p>
            <a:fld id="{7CD860E0-C8EB-4478-A6A5-544033815766}" type="slidenum">
              <a:rPr kumimoji="1" lang="ja-JP" altLang="en-US" smtClean="0"/>
              <a:t>7</a:t>
            </a:fld>
            <a:endParaRPr kumimoji="1" lang="ja-JP" altLang="en-US"/>
          </a:p>
        </p:txBody>
      </p:sp>
    </p:spTree>
    <p:extLst>
      <p:ext uri="{BB962C8B-B14F-4D97-AF65-F5344CB8AC3E}">
        <p14:creationId xmlns:p14="http://schemas.microsoft.com/office/powerpoint/2010/main" val="1763648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システム全体の概要図</a:t>
            </a:r>
            <a:endParaRPr lang="en-GB" dirty="0"/>
          </a:p>
        </p:txBody>
      </p:sp>
      <p:sp>
        <p:nvSpPr>
          <p:cNvPr id="4" name="Slide Number Placeholder 3"/>
          <p:cNvSpPr>
            <a:spLocks noGrp="1"/>
          </p:cNvSpPr>
          <p:nvPr>
            <p:ph type="sldNum" sz="quarter" idx="5"/>
          </p:nvPr>
        </p:nvSpPr>
        <p:spPr/>
        <p:txBody>
          <a:bodyPr/>
          <a:lstStyle/>
          <a:p>
            <a:fld id="{7CD860E0-C8EB-4478-A6A5-544033815766}" type="slidenum">
              <a:rPr kumimoji="1" lang="ja-JP" altLang="en-US" smtClean="0"/>
              <a:t>8</a:t>
            </a:fld>
            <a:endParaRPr kumimoji="1" lang="ja-JP" altLang="en-US"/>
          </a:p>
        </p:txBody>
      </p:sp>
    </p:spTree>
    <p:extLst>
      <p:ext uri="{BB962C8B-B14F-4D97-AF65-F5344CB8AC3E}">
        <p14:creationId xmlns:p14="http://schemas.microsoft.com/office/powerpoint/2010/main" val="13263429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S&amp;P500</a:t>
            </a:r>
            <a:r>
              <a:rPr kumimoji="1" lang="ja-JP" altLang="en-US" dirty="0"/>
              <a:t>はアメリカの上場企業のなかから選出された代表的な</a:t>
            </a:r>
            <a:r>
              <a:rPr kumimoji="1" lang="en-US" altLang="ja-JP" dirty="0"/>
              <a:t>500</a:t>
            </a:r>
            <a:r>
              <a:rPr kumimoji="1" lang="ja-JP" altLang="en-US" dirty="0"/>
              <a:t>社</a:t>
            </a:r>
            <a:endParaRPr kumimoji="1" lang="en-US" altLang="ja-JP" dirty="0"/>
          </a:p>
          <a:p>
            <a:r>
              <a:rPr kumimoji="1" lang="ja-JP" altLang="en-US" dirty="0"/>
              <a:t>基本的に上がり続けることを前提にしているのでより上がる株を見つけることを目標にする</a:t>
            </a:r>
          </a:p>
        </p:txBody>
      </p:sp>
      <p:sp>
        <p:nvSpPr>
          <p:cNvPr id="4" name="スライド番号プレースホルダー 3"/>
          <p:cNvSpPr>
            <a:spLocks noGrp="1"/>
          </p:cNvSpPr>
          <p:nvPr>
            <p:ph type="sldNum" sz="quarter" idx="5"/>
          </p:nvPr>
        </p:nvSpPr>
        <p:spPr/>
        <p:txBody>
          <a:bodyPr/>
          <a:lstStyle/>
          <a:p>
            <a:fld id="{7CD860E0-C8EB-4478-A6A5-544033815766}" type="slidenum">
              <a:rPr kumimoji="1" lang="ja-JP" altLang="en-US" smtClean="0"/>
              <a:t>9</a:t>
            </a:fld>
            <a:endParaRPr kumimoji="1" lang="ja-JP" altLang="en-US"/>
          </a:p>
        </p:txBody>
      </p:sp>
    </p:spTree>
    <p:extLst>
      <p:ext uri="{BB962C8B-B14F-4D97-AF65-F5344CB8AC3E}">
        <p14:creationId xmlns:p14="http://schemas.microsoft.com/office/powerpoint/2010/main" val="1363873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17CFF-B509-7425-D417-6D560EDAD0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8782259-AF8A-DD24-828E-C819F1870A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77309F5-6FFB-DB59-8AE7-DE2C0B579E5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118B962-4D4C-A69B-5581-5466F7D36096}"/>
              </a:ext>
            </a:extLst>
          </p:cNvPr>
          <p:cNvSpPr>
            <a:spLocks noGrp="1"/>
          </p:cNvSpPr>
          <p:nvPr>
            <p:ph type="sldNum" sz="quarter" idx="5"/>
          </p:nvPr>
        </p:nvSpPr>
        <p:spPr/>
        <p:txBody>
          <a:bodyPr/>
          <a:lstStyle/>
          <a:p>
            <a:fld id="{7CD860E0-C8EB-4478-A6A5-544033815766}" type="slidenum">
              <a:rPr kumimoji="1" lang="ja-JP" altLang="en-US" smtClean="0"/>
              <a:t>10</a:t>
            </a:fld>
            <a:endParaRPr kumimoji="1" lang="ja-JP" altLang="en-US"/>
          </a:p>
        </p:txBody>
      </p:sp>
    </p:spTree>
    <p:extLst>
      <p:ext uri="{BB962C8B-B14F-4D97-AF65-F5344CB8AC3E}">
        <p14:creationId xmlns:p14="http://schemas.microsoft.com/office/powerpoint/2010/main" val="33941296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EBE23-B1A3-32BE-9869-F773163273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776651-3CBB-81C6-95A6-39CC9E8D73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9AFDA13-3EED-F81C-A485-8A6A93DF90B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DB2A458-5CDD-C8DB-4BD1-643CCAD8ACC7}"/>
              </a:ext>
            </a:extLst>
          </p:cNvPr>
          <p:cNvSpPr>
            <a:spLocks noGrp="1"/>
          </p:cNvSpPr>
          <p:nvPr>
            <p:ph type="sldNum" sz="quarter" idx="5"/>
          </p:nvPr>
        </p:nvSpPr>
        <p:spPr/>
        <p:txBody>
          <a:bodyPr/>
          <a:lstStyle/>
          <a:p>
            <a:fld id="{7CD860E0-C8EB-4478-A6A5-544033815766}" type="slidenum">
              <a:rPr kumimoji="1" lang="ja-JP" altLang="en-US" smtClean="0"/>
              <a:t>11</a:t>
            </a:fld>
            <a:endParaRPr kumimoji="1" lang="ja-JP" altLang="en-US"/>
          </a:p>
        </p:txBody>
      </p:sp>
    </p:spTree>
    <p:extLst>
      <p:ext uri="{BB962C8B-B14F-4D97-AF65-F5344CB8AC3E}">
        <p14:creationId xmlns:p14="http://schemas.microsoft.com/office/powerpoint/2010/main" val="2473902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名前に左右されてない</a:t>
            </a:r>
            <a:endParaRPr lang="en-GB" altLang="ja-JP" dirty="0"/>
          </a:p>
          <a:p>
            <a:r>
              <a:rPr lang="ja-JP" altLang="en-US" dirty="0"/>
              <a:t>有意に差がある</a:t>
            </a:r>
            <a:endParaRPr lang="en-GB" altLang="ja-JP" dirty="0"/>
          </a:p>
          <a:p>
            <a:r>
              <a:rPr lang="ja-JP" altLang="en-US" dirty="0"/>
              <a:t>ファインチューニングした</a:t>
            </a:r>
            <a:endParaRPr lang="en-GB" altLang="ja-JP" dirty="0"/>
          </a:p>
          <a:p>
            <a:r>
              <a:rPr lang="ja-JP" altLang="en-US" dirty="0"/>
              <a:t>感覚と</a:t>
            </a:r>
            <a:endParaRPr lang="en-GB" altLang="ja-JP" dirty="0"/>
          </a:p>
          <a:p>
            <a:endParaRPr lang="en-GB" dirty="0"/>
          </a:p>
        </p:txBody>
      </p:sp>
      <p:sp>
        <p:nvSpPr>
          <p:cNvPr id="4" name="Slide Number Placeholder 3"/>
          <p:cNvSpPr>
            <a:spLocks noGrp="1"/>
          </p:cNvSpPr>
          <p:nvPr>
            <p:ph type="sldNum" sz="quarter" idx="5"/>
          </p:nvPr>
        </p:nvSpPr>
        <p:spPr/>
        <p:txBody>
          <a:bodyPr/>
          <a:lstStyle/>
          <a:p>
            <a:fld id="{7CD860E0-C8EB-4478-A6A5-544033815766}" type="slidenum">
              <a:rPr kumimoji="1" lang="ja-JP" altLang="en-US" smtClean="0"/>
              <a:t>12</a:t>
            </a:fld>
            <a:endParaRPr kumimoji="1" lang="ja-JP" altLang="en-US"/>
          </a:p>
        </p:txBody>
      </p:sp>
    </p:spTree>
    <p:extLst>
      <p:ext uri="{BB962C8B-B14F-4D97-AF65-F5344CB8AC3E}">
        <p14:creationId xmlns:p14="http://schemas.microsoft.com/office/powerpoint/2010/main" val="3724255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defTabSz="965881">
              <a:defRPr/>
            </a:pPr>
            <a:r>
              <a:rPr lang="ja-JP" altLang="en-US" sz="1300" dirty="0">
                <a:latin typeface="BIZ UDPゴシック" panose="020B0400000000000000" pitchFamily="50" charset="-128"/>
                <a:ea typeface="BIZ UDPゴシック" panose="020B0400000000000000" pitchFamily="50" charset="-128"/>
              </a:rPr>
              <a:t>また、簡易アンサンブル学習として全ての株に対して学習</a:t>
            </a:r>
            <a:endParaRPr lang="en-US" altLang="ja-JP" sz="1300" dirty="0">
              <a:latin typeface="BIZ UDPゴシック" panose="020B0400000000000000" pitchFamily="50" charset="-128"/>
              <a:ea typeface="BIZ UDPゴシック" panose="020B0400000000000000" pitchFamily="50" charset="-128"/>
            </a:endParaRPr>
          </a:p>
          <a:p>
            <a:pPr defTabSz="965881">
              <a:defRPr/>
            </a:pPr>
            <a:endParaRPr lang="en-US" altLang="ja-JP" sz="1300" dirty="0">
              <a:latin typeface="BIZ UDPゴシック" panose="020B0400000000000000" pitchFamily="50" charset="-128"/>
              <a:ea typeface="BIZ UDPゴシック" panose="020B0400000000000000" pitchFamily="50" charset="-128"/>
            </a:endParaRPr>
          </a:p>
          <a:p>
            <a:r>
              <a:rPr lang="en-GB" altLang="ja-JP" b="0" dirty="0">
                <a:solidFill>
                  <a:srgbClr val="ABB2BF"/>
                </a:solidFill>
                <a:effectLst/>
                <a:highlight>
                  <a:srgbClr val="282C34"/>
                </a:highlight>
                <a:latin typeface="Consolas" panose="020B0609020204030204" pitchFamily="49" charset="0"/>
              </a:rPr>
              <a:t>    {</a:t>
            </a:r>
          </a:p>
          <a:p>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C56068"/>
                </a:solidFill>
                <a:effectLst/>
                <a:highlight>
                  <a:srgbClr val="282C34"/>
                </a:highlight>
                <a:latin typeface="Consolas" panose="020B0609020204030204" pitchFamily="49" charset="0"/>
              </a:rPr>
              <a:t>"symbol"</a:t>
            </a:r>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D9F5DD"/>
                </a:solidFill>
                <a:effectLst/>
                <a:highlight>
                  <a:srgbClr val="282C34"/>
                </a:highlight>
                <a:latin typeface="Consolas" panose="020B0609020204030204" pitchFamily="49" charset="0"/>
              </a:rPr>
              <a:t>"</a:t>
            </a:r>
            <a:r>
              <a:rPr lang="en-GB" altLang="ja-JP" b="0" dirty="0">
                <a:solidFill>
                  <a:srgbClr val="C789D6"/>
                </a:solidFill>
                <a:effectLst/>
                <a:highlight>
                  <a:srgbClr val="282C34"/>
                </a:highlight>
                <a:latin typeface="Consolas" panose="020B0609020204030204" pitchFamily="49" charset="0"/>
              </a:rPr>
              <a:t>A</a:t>
            </a:r>
            <a:r>
              <a:rPr lang="en-GB" altLang="ja-JP" b="0" dirty="0">
                <a:solidFill>
                  <a:srgbClr val="D9F5DD"/>
                </a:solidFill>
                <a:effectLst/>
                <a:highlight>
                  <a:srgbClr val="282C34"/>
                </a:highlight>
                <a:latin typeface="Consolas" panose="020B0609020204030204" pitchFamily="49" charset="0"/>
              </a:rPr>
              <a:t>"</a:t>
            </a:r>
            <a:r>
              <a:rPr lang="en-GB" altLang="ja-JP" b="0" dirty="0">
                <a:solidFill>
                  <a:srgbClr val="ABB2BF"/>
                </a:solidFill>
                <a:effectLst/>
                <a:highlight>
                  <a:srgbClr val="282C34"/>
                </a:highlight>
                <a:latin typeface="Consolas" panose="020B0609020204030204" pitchFamily="49" charset="0"/>
              </a:rPr>
              <a:t>,</a:t>
            </a:r>
          </a:p>
          <a:p>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C56068"/>
                </a:solidFill>
                <a:effectLst/>
                <a:highlight>
                  <a:srgbClr val="282C34"/>
                </a:highlight>
                <a:latin typeface="Consolas" panose="020B0609020204030204" pitchFamily="49" charset="0"/>
              </a:rPr>
              <a:t>"</a:t>
            </a:r>
            <a:r>
              <a:rPr lang="en-GB" altLang="ja-JP" b="0" dirty="0" err="1">
                <a:solidFill>
                  <a:srgbClr val="C56068"/>
                </a:solidFill>
                <a:effectLst/>
                <a:highlight>
                  <a:srgbClr val="282C34"/>
                </a:highlight>
                <a:latin typeface="Consolas" panose="020B0609020204030204" pitchFamily="49" charset="0"/>
              </a:rPr>
              <a:t>company_name</a:t>
            </a:r>
            <a:r>
              <a:rPr lang="en-GB" altLang="ja-JP" b="0" dirty="0">
                <a:solidFill>
                  <a:srgbClr val="C56068"/>
                </a:solidFill>
                <a:effectLst/>
                <a:highlight>
                  <a:srgbClr val="282C34"/>
                </a:highlight>
                <a:latin typeface="Consolas" panose="020B0609020204030204" pitchFamily="49" charset="0"/>
              </a:rPr>
              <a:t>"</a:t>
            </a:r>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D9F5DD"/>
                </a:solidFill>
                <a:effectLst/>
                <a:highlight>
                  <a:srgbClr val="282C34"/>
                </a:highlight>
                <a:latin typeface="Consolas" panose="020B0609020204030204" pitchFamily="49" charset="0"/>
              </a:rPr>
              <a:t>"</a:t>
            </a:r>
            <a:r>
              <a:rPr lang="ja-JP" altLang="en-US" b="0" dirty="0">
                <a:solidFill>
                  <a:srgbClr val="C789D6"/>
                </a:solidFill>
                <a:effectLst/>
                <a:highlight>
                  <a:srgbClr val="282C34"/>
                </a:highlight>
                <a:latin typeface="Consolas" panose="020B0609020204030204" pitchFamily="49" charset="0"/>
              </a:rPr>
              <a:t>アジレント・テクノロジー </a:t>
            </a:r>
            <a:r>
              <a:rPr lang="en-GB" altLang="ja-JP" b="0" dirty="0">
                <a:solidFill>
                  <a:srgbClr val="C789D6"/>
                </a:solidFill>
                <a:effectLst/>
                <a:highlight>
                  <a:srgbClr val="282C34"/>
                </a:highlight>
                <a:latin typeface="Consolas" panose="020B0609020204030204" pitchFamily="49" charset="0"/>
              </a:rPr>
              <a:t>Agilent Technologies, Inc.</a:t>
            </a:r>
            <a:r>
              <a:rPr lang="en-GB" altLang="ja-JP" b="0" dirty="0">
                <a:solidFill>
                  <a:srgbClr val="D9F5DD"/>
                </a:solidFill>
                <a:effectLst/>
                <a:highlight>
                  <a:srgbClr val="282C34"/>
                </a:highlight>
                <a:latin typeface="Consolas" panose="020B0609020204030204" pitchFamily="49" charset="0"/>
              </a:rPr>
              <a:t>"</a:t>
            </a:r>
            <a:r>
              <a:rPr lang="en-GB" altLang="ja-JP" b="0" dirty="0">
                <a:solidFill>
                  <a:srgbClr val="ABB2BF"/>
                </a:solidFill>
                <a:effectLst/>
                <a:highlight>
                  <a:srgbClr val="282C34"/>
                </a:highlight>
                <a:latin typeface="Consolas" panose="020B0609020204030204" pitchFamily="49" charset="0"/>
              </a:rPr>
              <a:t>,</a:t>
            </a:r>
          </a:p>
          <a:p>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C56068"/>
                </a:solidFill>
                <a:effectLst/>
                <a:highlight>
                  <a:srgbClr val="282C34"/>
                </a:highlight>
                <a:latin typeface="Consolas" panose="020B0609020204030204" pitchFamily="49" charset="0"/>
              </a:rPr>
              <a:t>"description"</a:t>
            </a:r>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D9F5DD"/>
                </a:solidFill>
                <a:effectLst/>
                <a:highlight>
                  <a:srgbClr val="282C34"/>
                </a:highlight>
                <a:latin typeface="Consolas" panose="020B0609020204030204" pitchFamily="49" charset="0"/>
              </a:rPr>
              <a:t>"</a:t>
            </a:r>
            <a:r>
              <a:rPr lang="ja-JP" altLang="en-US" b="0" dirty="0">
                <a:solidFill>
                  <a:srgbClr val="C789D6"/>
                </a:solidFill>
                <a:effectLst/>
                <a:highlight>
                  <a:srgbClr val="282C34"/>
                </a:highlight>
                <a:latin typeface="Consolas" panose="020B0609020204030204" pitchFamily="49" charset="0"/>
              </a:rPr>
              <a:t>化学分析 電子計測機器</a:t>
            </a:r>
            <a:r>
              <a:rPr lang="en-US" altLang="ja-JP" b="0" dirty="0">
                <a:solidFill>
                  <a:srgbClr val="D9F5DD"/>
                </a:solidFill>
                <a:effectLst/>
                <a:highlight>
                  <a:srgbClr val="282C34"/>
                </a:highlight>
                <a:latin typeface="Consolas" panose="020B0609020204030204" pitchFamily="49" charset="0"/>
              </a:rPr>
              <a:t>"</a:t>
            </a:r>
            <a:endParaRPr lang="ja-JP" altLang="en-US" b="0" dirty="0">
              <a:solidFill>
                <a:srgbClr val="ABB2BF"/>
              </a:solidFill>
              <a:effectLst/>
              <a:highlight>
                <a:srgbClr val="282C34"/>
              </a:highlight>
              <a:latin typeface="Consolas" panose="020B0609020204030204" pitchFamily="49" charset="0"/>
            </a:endParaRPr>
          </a:p>
          <a:p>
            <a:r>
              <a:rPr lang="ja-JP" altLang="en-US" b="0" dirty="0">
                <a:solidFill>
                  <a:srgbClr val="ABB2BF"/>
                </a:solidFill>
                <a:effectLst/>
                <a:highlight>
                  <a:srgbClr val="282C34"/>
                </a:highlight>
                <a:latin typeface="Consolas" panose="020B0609020204030204" pitchFamily="49" charset="0"/>
              </a:rPr>
              <a:t>    </a:t>
            </a:r>
            <a:r>
              <a:rPr lang="en-US" altLang="ja-JP" b="0" dirty="0">
                <a:solidFill>
                  <a:srgbClr val="ABB2BF"/>
                </a:solidFill>
                <a:effectLst/>
                <a:highlight>
                  <a:srgbClr val="282C34"/>
                </a:highlight>
                <a:latin typeface="Consolas" panose="020B0609020204030204" pitchFamily="49" charset="0"/>
              </a:rPr>
              <a:t>},</a:t>
            </a:r>
          </a:p>
          <a:p>
            <a:r>
              <a:rPr lang="en-US" altLang="ja-JP" b="0" dirty="0">
                <a:solidFill>
                  <a:srgbClr val="ABB2BF"/>
                </a:solidFill>
                <a:effectLst/>
                <a:highlight>
                  <a:srgbClr val="282C34"/>
                </a:highlight>
                <a:latin typeface="Consolas" panose="020B0609020204030204" pitchFamily="49" charset="0"/>
              </a:rPr>
              <a:t>    {</a:t>
            </a:r>
          </a:p>
          <a:p>
            <a:r>
              <a:rPr lang="en-US" altLang="ja-JP" b="0" dirty="0">
                <a:solidFill>
                  <a:srgbClr val="ABB2BF"/>
                </a:solidFill>
                <a:effectLst/>
                <a:highlight>
                  <a:srgbClr val="282C34"/>
                </a:highlight>
                <a:latin typeface="Consolas" panose="020B0609020204030204" pitchFamily="49" charset="0"/>
              </a:rPr>
              <a:t>      </a:t>
            </a:r>
            <a:r>
              <a:rPr lang="en-US" altLang="ja-JP" b="0" dirty="0">
                <a:solidFill>
                  <a:srgbClr val="C56068"/>
                </a:solidFill>
                <a:effectLst/>
                <a:highlight>
                  <a:srgbClr val="282C34"/>
                </a:highlight>
                <a:latin typeface="Consolas" panose="020B0609020204030204" pitchFamily="49" charset="0"/>
              </a:rPr>
              <a:t>"</a:t>
            </a:r>
            <a:r>
              <a:rPr lang="en-GB" altLang="ja-JP" b="0" dirty="0">
                <a:solidFill>
                  <a:srgbClr val="C56068"/>
                </a:solidFill>
                <a:effectLst/>
                <a:highlight>
                  <a:srgbClr val="282C34"/>
                </a:highlight>
                <a:latin typeface="Consolas" panose="020B0609020204030204" pitchFamily="49" charset="0"/>
              </a:rPr>
              <a:t>symbol"</a:t>
            </a:r>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D9F5DD"/>
                </a:solidFill>
                <a:effectLst/>
                <a:highlight>
                  <a:srgbClr val="282C34"/>
                </a:highlight>
                <a:latin typeface="Consolas" panose="020B0609020204030204" pitchFamily="49" charset="0"/>
              </a:rPr>
              <a:t>"</a:t>
            </a:r>
            <a:r>
              <a:rPr lang="en-GB" altLang="ja-JP" b="0" dirty="0">
                <a:solidFill>
                  <a:srgbClr val="C789D6"/>
                </a:solidFill>
                <a:effectLst/>
                <a:highlight>
                  <a:srgbClr val="282C34"/>
                </a:highlight>
                <a:latin typeface="Consolas" panose="020B0609020204030204" pitchFamily="49" charset="0"/>
              </a:rPr>
              <a:t>AAL</a:t>
            </a:r>
            <a:r>
              <a:rPr lang="en-GB" altLang="ja-JP" b="0" dirty="0">
                <a:solidFill>
                  <a:srgbClr val="D9F5DD"/>
                </a:solidFill>
                <a:effectLst/>
                <a:highlight>
                  <a:srgbClr val="282C34"/>
                </a:highlight>
                <a:latin typeface="Consolas" panose="020B0609020204030204" pitchFamily="49" charset="0"/>
              </a:rPr>
              <a:t>"</a:t>
            </a:r>
            <a:r>
              <a:rPr lang="en-GB" altLang="ja-JP" b="0" dirty="0">
                <a:solidFill>
                  <a:srgbClr val="ABB2BF"/>
                </a:solidFill>
                <a:effectLst/>
                <a:highlight>
                  <a:srgbClr val="282C34"/>
                </a:highlight>
                <a:latin typeface="Consolas" panose="020B0609020204030204" pitchFamily="49" charset="0"/>
              </a:rPr>
              <a:t>,</a:t>
            </a:r>
          </a:p>
          <a:p>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C56068"/>
                </a:solidFill>
                <a:effectLst/>
                <a:highlight>
                  <a:srgbClr val="282C34"/>
                </a:highlight>
                <a:latin typeface="Consolas" panose="020B0609020204030204" pitchFamily="49" charset="0"/>
              </a:rPr>
              <a:t>"</a:t>
            </a:r>
            <a:r>
              <a:rPr lang="en-GB" altLang="ja-JP" b="0" dirty="0" err="1">
                <a:solidFill>
                  <a:srgbClr val="C56068"/>
                </a:solidFill>
                <a:effectLst/>
                <a:highlight>
                  <a:srgbClr val="282C34"/>
                </a:highlight>
                <a:latin typeface="Consolas" panose="020B0609020204030204" pitchFamily="49" charset="0"/>
              </a:rPr>
              <a:t>company_name</a:t>
            </a:r>
            <a:r>
              <a:rPr lang="en-GB" altLang="ja-JP" b="0" dirty="0">
                <a:solidFill>
                  <a:srgbClr val="C56068"/>
                </a:solidFill>
                <a:effectLst/>
                <a:highlight>
                  <a:srgbClr val="282C34"/>
                </a:highlight>
                <a:latin typeface="Consolas" panose="020B0609020204030204" pitchFamily="49" charset="0"/>
              </a:rPr>
              <a:t>"</a:t>
            </a:r>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D9F5DD"/>
                </a:solidFill>
                <a:effectLst/>
                <a:highlight>
                  <a:srgbClr val="282C34"/>
                </a:highlight>
                <a:latin typeface="Consolas" panose="020B0609020204030204" pitchFamily="49" charset="0"/>
              </a:rPr>
              <a:t>"</a:t>
            </a:r>
            <a:r>
              <a:rPr lang="ja-JP" altLang="en-US" b="0" dirty="0">
                <a:solidFill>
                  <a:srgbClr val="C789D6"/>
                </a:solidFill>
                <a:effectLst/>
                <a:highlight>
                  <a:srgbClr val="282C34"/>
                </a:highlight>
                <a:latin typeface="Consolas" panose="020B0609020204030204" pitchFamily="49" charset="0"/>
              </a:rPr>
              <a:t>アメリカン・エアラインズ・グループ </a:t>
            </a:r>
            <a:r>
              <a:rPr lang="en-GB" altLang="ja-JP" b="0" dirty="0">
                <a:solidFill>
                  <a:srgbClr val="C789D6"/>
                </a:solidFill>
                <a:effectLst/>
                <a:highlight>
                  <a:srgbClr val="282C34"/>
                </a:highlight>
                <a:latin typeface="Consolas" panose="020B0609020204030204" pitchFamily="49" charset="0"/>
              </a:rPr>
              <a:t>American Airlines Group Inc.</a:t>
            </a:r>
            <a:r>
              <a:rPr lang="en-GB" altLang="ja-JP" b="0" dirty="0">
                <a:solidFill>
                  <a:srgbClr val="D9F5DD"/>
                </a:solidFill>
                <a:effectLst/>
                <a:highlight>
                  <a:srgbClr val="282C34"/>
                </a:highlight>
                <a:latin typeface="Consolas" panose="020B0609020204030204" pitchFamily="49" charset="0"/>
              </a:rPr>
              <a:t>"</a:t>
            </a:r>
            <a:r>
              <a:rPr lang="en-GB" altLang="ja-JP" b="0" dirty="0">
                <a:solidFill>
                  <a:srgbClr val="ABB2BF"/>
                </a:solidFill>
                <a:effectLst/>
                <a:highlight>
                  <a:srgbClr val="282C34"/>
                </a:highlight>
                <a:latin typeface="Consolas" panose="020B0609020204030204" pitchFamily="49" charset="0"/>
              </a:rPr>
              <a:t>,</a:t>
            </a:r>
          </a:p>
          <a:p>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C56068"/>
                </a:solidFill>
                <a:effectLst/>
                <a:highlight>
                  <a:srgbClr val="282C34"/>
                </a:highlight>
                <a:latin typeface="Consolas" panose="020B0609020204030204" pitchFamily="49" charset="0"/>
              </a:rPr>
              <a:t>"description"</a:t>
            </a:r>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D9F5DD"/>
                </a:solidFill>
                <a:effectLst/>
                <a:highlight>
                  <a:srgbClr val="282C34"/>
                </a:highlight>
                <a:latin typeface="Consolas" panose="020B0609020204030204" pitchFamily="49" charset="0"/>
              </a:rPr>
              <a:t>"</a:t>
            </a:r>
            <a:r>
              <a:rPr lang="ja-JP" altLang="en-US" b="0" dirty="0">
                <a:solidFill>
                  <a:srgbClr val="C789D6"/>
                </a:solidFill>
                <a:effectLst/>
                <a:highlight>
                  <a:srgbClr val="282C34"/>
                </a:highlight>
                <a:latin typeface="Consolas" panose="020B0609020204030204" pitchFamily="49" charset="0"/>
              </a:rPr>
              <a:t>航空会社</a:t>
            </a:r>
            <a:r>
              <a:rPr lang="en-US" altLang="ja-JP" b="0" dirty="0">
                <a:solidFill>
                  <a:srgbClr val="D9F5DD"/>
                </a:solidFill>
                <a:effectLst/>
                <a:highlight>
                  <a:srgbClr val="282C34"/>
                </a:highlight>
                <a:latin typeface="Consolas" panose="020B0609020204030204" pitchFamily="49" charset="0"/>
              </a:rPr>
              <a:t>"</a:t>
            </a:r>
            <a:endParaRPr lang="ja-JP" altLang="en-US" b="0" dirty="0">
              <a:solidFill>
                <a:srgbClr val="ABB2BF"/>
              </a:solidFill>
              <a:effectLst/>
              <a:highlight>
                <a:srgbClr val="282C34"/>
              </a:highlight>
              <a:latin typeface="Consolas" panose="020B0609020204030204" pitchFamily="49" charset="0"/>
            </a:endParaRPr>
          </a:p>
          <a:p>
            <a:r>
              <a:rPr lang="ja-JP" altLang="en-US" b="0" dirty="0">
                <a:solidFill>
                  <a:srgbClr val="ABB2BF"/>
                </a:solidFill>
                <a:effectLst/>
                <a:highlight>
                  <a:srgbClr val="282C34"/>
                </a:highlight>
                <a:latin typeface="Consolas" panose="020B0609020204030204" pitchFamily="49" charset="0"/>
              </a:rPr>
              <a:t>    </a:t>
            </a:r>
            <a:r>
              <a:rPr lang="en-US" altLang="ja-JP" b="0" dirty="0">
                <a:solidFill>
                  <a:srgbClr val="ABB2BF"/>
                </a:solidFill>
                <a:effectLst/>
                <a:highlight>
                  <a:srgbClr val="282C34"/>
                </a:highlight>
                <a:latin typeface="Consolas" panose="020B0609020204030204" pitchFamily="49" charset="0"/>
              </a:rPr>
              <a:t>},</a:t>
            </a:r>
          </a:p>
          <a:p>
            <a:pPr defTabSz="965881">
              <a:defRPr/>
            </a:pPr>
            <a:endParaRPr lang="en-US" altLang="ja-JP" sz="1300" dirty="0">
              <a:latin typeface="BIZ UDPゴシック" panose="020B0400000000000000" pitchFamily="50" charset="-128"/>
              <a:ea typeface="BIZ UDPゴシック" panose="020B0400000000000000" pitchFamily="50" charset="-128"/>
            </a:endParaRPr>
          </a:p>
          <a:p>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C56068"/>
                </a:solidFill>
                <a:effectLst/>
                <a:highlight>
                  <a:srgbClr val="282C34"/>
                </a:highlight>
                <a:latin typeface="Consolas" panose="020B0609020204030204" pitchFamily="49" charset="0"/>
              </a:rPr>
              <a:t>"symbol"</a:t>
            </a:r>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D9F5DD"/>
                </a:solidFill>
                <a:effectLst/>
                <a:highlight>
                  <a:srgbClr val="282C34"/>
                </a:highlight>
                <a:latin typeface="Consolas" panose="020B0609020204030204" pitchFamily="49" charset="0"/>
              </a:rPr>
              <a:t>"</a:t>
            </a:r>
            <a:r>
              <a:rPr lang="en-GB" altLang="ja-JP" b="0" dirty="0">
                <a:solidFill>
                  <a:srgbClr val="C789D6"/>
                </a:solidFill>
                <a:effectLst/>
                <a:highlight>
                  <a:srgbClr val="282C34"/>
                </a:highlight>
                <a:latin typeface="Consolas" panose="020B0609020204030204" pitchFamily="49" charset="0"/>
              </a:rPr>
              <a:t>ZBRA</a:t>
            </a:r>
            <a:r>
              <a:rPr lang="en-GB" altLang="ja-JP" b="0" dirty="0">
                <a:solidFill>
                  <a:srgbClr val="D9F5DD"/>
                </a:solidFill>
                <a:effectLst/>
                <a:highlight>
                  <a:srgbClr val="282C34"/>
                </a:highlight>
                <a:latin typeface="Consolas" panose="020B0609020204030204" pitchFamily="49" charset="0"/>
              </a:rPr>
              <a:t>"</a:t>
            </a:r>
            <a:r>
              <a:rPr lang="en-GB" altLang="ja-JP" b="0" dirty="0">
                <a:solidFill>
                  <a:srgbClr val="ABB2BF"/>
                </a:solidFill>
                <a:effectLst/>
                <a:highlight>
                  <a:srgbClr val="282C34"/>
                </a:highlight>
                <a:latin typeface="Consolas" panose="020B0609020204030204" pitchFamily="49" charset="0"/>
              </a:rPr>
              <a:t>,</a:t>
            </a:r>
          </a:p>
          <a:p>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C56068"/>
                </a:solidFill>
                <a:effectLst/>
                <a:highlight>
                  <a:srgbClr val="282C34"/>
                </a:highlight>
                <a:latin typeface="Consolas" panose="020B0609020204030204" pitchFamily="49" charset="0"/>
              </a:rPr>
              <a:t>"</a:t>
            </a:r>
            <a:r>
              <a:rPr lang="en-GB" altLang="ja-JP" b="0" dirty="0" err="1">
                <a:solidFill>
                  <a:srgbClr val="C56068"/>
                </a:solidFill>
                <a:effectLst/>
                <a:highlight>
                  <a:srgbClr val="282C34"/>
                </a:highlight>
                <a:latin typeface="Consolas" panose="020B0609020204030204" pitchFamily="49" charset="0"/>
              </a:rPr>
              <a:t>company_name</a:t>
            </a:r>
            <a:r>
              <a:rPr lang="en-GB" altLang="ja-JP" b="0" dirty="0">
                <a:solidFill>
                  <a:srgbClr val="C56068"/>
                </a:solidFill>
                <a:effectLst/>
                <a:highlight>
                  <a:srgbClr val="282C34"/>
                </a:highlight>
                <a:latin typeface="Consolas" panose="020B0609020204030204" pitchFamily="49" charset="0"/>
              </a:rPr>
              <a:t>"</a:t>
            </a:r>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D9F5DD"/>
                </a:solidFill>
                <a:effectLst/>
                <a:highlight>
                  <a:srgbClr val="282C34"/>
                </a:highlight>
                <a:latin typeface="Consolas" panose="020B0609020204030204" pitchFamily="49" charset="0"/>
              </a:rPr>
              <a:t>"</a:t>
            </a:r>
            <a:r>
              <a:rPr lang="ja-JP" altLang="en-US" b="0" dirty="0">
                <a:solidFill>
                  <a:srgbClr val="C789D6"/>
                </a:solidFill>
                <a:effectLst/>
                <a:highlight>
                  <a:srgbClr val="282C34"/>
                </a:highlight>
                <a:latin typeface="Consolas" panose="020B0609020204030204" pitchFamily="49" charset="0"/>
              </a:rPr>
              <a:t>ゼブラ・テクノロジーズ </a:t>
            </a:r>
            <a:r>
              <a:rPr lang="en-GB" altLang="ja-JP" b="0" dirty="0">
                <a:solidFill>
                  <a:srgbClr val="C789D6"/>
                </a:solidFill>
                <a:effectLst/>
                <a:highlight>
                  <a:srgbClr val="282C34"/>
                </a:highlight>
                <a:latin typeface="Consolas" panose="020B0609020204030204" pitchFamily="49" charset="0"/>
              </a:rPr>
              <a:t>Zebra Technologies Corporation</a:t>
            </a:r>
            <a:r>
              <a:rPr lang="en-GB" altLang="ja-JP" b="0" dirty="0">
                <a:solidFill>
                  <a:srgbClr val="D9F5DD"/>
                </a:solidFill>
                <a:effectLst/>
                <a:highlight>
                  <a:srgbClr val="282C34"/>
                </a:highlight>
                <a:latin typeface="Consolas" panose="020B0609020204030204" pitchFamily="49" charset="0"/>
              </a:rPr>
              <a:t>"</a:t>
            </a:r>
            <a:r>
              <a:rPr lang="en-GB" altLang="ja-JP" b="0" dirty="0">
                <a:solidFill>
                  <a:srgbClr val="ABB2BF"/>
                </a:solidFill>
                <a:effectLst/>
                <a:highlight>
                  <a:srgbClr val="282C34"/>
                </a:highlight>
                <a:latin typeface="Consolas" panose="020B0609020204030204" pitchFamily="49" charset="0"/>
              </a:rPr>
              <a:t>,</a:t>
            </a:r>
          </a:p>
          <a:p>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C56068"/>
                </a:solidFill>
                <a:effectLst/>
                <a:highlight>
                  <a:srgbClr val="282C34"/>
                </a:highlight>
                <a:latin typeface="Consolas" panose="020B0609020204030204" pitchFamily="49" charset="0"/>
              </a:rPr>
              <a:t>"description"</a:t>
            </a:r>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D9F5DD"/>
                </a:solidFill>
                <a:effectLst/>
                <a:highlight>
                  <a:srgbClr val="282C34"/>
                </a:highlight>
                <a:latin typeface="Consolas" panose="020B0609020204030204" pitchFamily="49" charset="0"/>
              </a:rPr>
              <a:t>"</a:t>
            </a:r>
            <a:r>
              <a:rPr lang="ja-JP" altLang="en-US" b="0" dirty="0">
                <a:solidFill>
                  <a:srgbClr val="C789D6"/>
                </a:solidFill>
                <a:effectLst/>
                <a:highlight>
                  <a:srgbClr val="282C34"/>
                </a:highlight>
                <a:latin typeface="Consolas" panose="020B0609020204030204" pitchFamily="49" charset="0"/>
              </a:rPr>
              <a:t>自動識別 </a:t>
            </a:r>
            <a:r>
              <a:rPr lang="en-GB" altLang="ja-JP" b="0" dirty="0">
                <a:solidFill>
                  <a:srgbClr val="C789D6"/>
                </a:solidFill>
                <a:effectLst/>
                <a:highlight>
                  <a:srgbClr val="282C34"/>
                </a:highlight>
                <a:latin typeface="Consolas" panose="020B0609020204030204" pitchFamily="49" charset="0"/>
              </a:rPr>
              <a:t>AIDC</a:t>
            </a:r>
            <a:r>
              <a:rPr lang="ja-JP" altLang="en-US" b="0" dirty="0">
                <a:solidFill>
                  <a:srgbClr val="C789D6"/>
                </a:solidFill>
                <a:effectLst/>
                <a:highlight>
                  <a:srgbClr val="282C34"/>
                </a:highlight>
                <a:latin typeface="Consolas" panose="020B0609020204030204" pitchFamily="49" charset="0"/>
              </a:rPr>
              <a:t>製品</a:t>
            </a:r>
            <a:r>
              <a:rPr lang="en-US" altLang="ja-JP" b="0" dirty="0">
                <a:solidFill>
                  <a:srgbClr val="D9F5DD"/>
                </a:solidFill>
                <a:effectLst/>
                <a:highlight>
                  <a:srgbClr val="282C34"/>
                </a:highlight>
                <a:latin typeface="Consolas" panose="020B0609020204030204" pitchFamily="49" charset="0"/>
              </a:rPr>
              <a:t>"</a:t>
            </a:r>
            <a:endParaRPr lang="ja-JP" altLang="en-US" b="0" dirty="0">
              <a:solidFill>
                <a:srgbClr val="ABB2BF"/>
              </a:solidFill>
              <a:effectLst/>
              <a:highlight>
                <a:srgbClr val="282C34"/>
              </a:highlight>
              <a:latin typeface="Consolas" panose="020B0609020204030204" pitchFamily="49" charset="0"/>
            </a:endParaRPr>
          </a:p>
          <a:p>
            <a:r>
              <a:rPr lang="ja-JP" altLang="en-US" b="0" dirty="0">
                <a:solidFill>
                  <a:srgbClr val="ABB2BF"/>
                </a:solidFill>
                <a:effectLst/>
                <a:highlight>
                  <a:srgbClr val="282C34"/>
                </a:highlight>
                <a:latin typeface="Consolas" panose="020B0609020204030204" pitchFamily="49" charset="0"/>
              </a:rPr>
              <a:t>    </a:t>
            </a:r>
            <a:r>
              <a:rPr lang="en-US" altLang="ja-JP" b="0" dirty="0">
                <a:solidFill>
                  <a:srgbClr val="ABB2BF"/>
                </a:solidFill>
                <a:effectLst/>
                <a:highlight>
                  <a:srgbClr val="282C34"/>
                </a:highlight>
                <a:latin typeface="Consolas" panose="020B0609020204030204" pitchFamily="49" charset="0"/>
              </a:rPr>
              <a:t>},</a:t>
            </a:r>
          </a:p>
          <a:p>
            <a:r>
              <a:rPr lang="en-US" altLang="ja-JP" b="0" dirty="0">
                <a:solidFill>
                  <a:srgbClr val="ABB2BF"/>
                </a:solidFill>
                <a:effectLst/>
                <a:highlight>
                  <a:srgbClr val="282C34"/>
                </a:highlight>
                <a:latin typeface="Consolas" panose="020B0609020204030204" pitchFamily="49" charset="0"/>
              </a:rPr>
              <a:t>    {</a:t>
            </a:r>
          </a:p>
          <a:p>
            <a:r>
              <a:rPr lang="en-US" altLang="ja-JP" b="0" dirty="0">
                <a:solidFill>
                  <a:srgbClr val="ABB2BF"/>
                </a:solidFill>
                <a:effectLst/>
                <a:highlight>
                  <a:srgbClr val="282C34"/>
                </a:highlight>
                <a:latin typeface="Consolas" panose="020B0609020204030204" pitchFamily="49" charset="0"/>
              </a:rPr>
              <a:t>      </a:t>
            </a:r>
            <a:r>
              <a:rPr lang="en-US" altLang="ja-JP" b="0" dirty="0">
                <a:solidFill>
                  <a:srgbClr val="C56068"/>
                </a:solidFill>
                <a:effectLst/>
                <a:highlight>
                  <a:srgbClr val="282C34"/>
                </a:highlight>
                <a:latin typeface="Consolas" panose="020B0609020204030204" pitchFamily="49" charset="0"/>
              </a:rPr>
              <a:t>"</a:t>
            </a:r>
            <a:r>
              <a:rPr lang="en-GB" altLang="ja-JP" b="0" dirty="0">
                <a:solidFill>
                  <a:srgbClr val="C56068"/>
                </a:solidFill>
                <a:effectLst/>
                <a:highlight>
                  <a:srgbClr val="282C34"/>
                </a:highlight>
                <a:latin typeface="Consolas" panose="020B0609020204030204" pitchFamily="49" charset="0"/>
              </a:rPr>
              <a:t>symbol"</a:t>
            </a:r>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D9F5DD"/>
                </a:solidFill>
                <a:effectLst/>
                <a:highlight>
                  <a:srgbClr val="282C34"/>
                </a:highlight>
                <a:latin typeface="Consolas" panose="020B0609020204030204" pitchFamily="49" charset="0"/>
              </a:rPr>
              <a:t>"</a:t>
            </a:r>
            <a:r>
              <a:rPr lang="en-GB" altLang="ja-JP" b="0" dirty="0">
                <a:solidFill>
                  <a:srgbClr val="C789D6"/>
                </a:solidFill>
                <a:effectLst/>
                <a:highlight>
                  <a:srgbClr val="282C34"/>
                </a:highlight>
                <a:latin typeface="Consolas" panose="020B0609020204030204" pitchFamily="49" charset="0"/>
              </a:rPr>
              <a:t>ZTS</a:t>
            </a:r>
            <a:r>
              <a:rPr lang="en-GB" altLang="ja-JP" b="0" dirty="0">
                <a:solidFill>
                  <a:srgbClr val="D9F5DD"/>
                </a:solidFill>
                <a:effectLst/>
                <a:highlight>
                  <a:srgbClr val="282C34"/>
                </a:highlight>
                <a:latin typeface="Consolas" panose="020B0609020204030204" pitchFamily="49" charset="0"/>
              </a:rPr>
              <a:t>"</a:t>
            </a:r>
            <a:r>
              <a:rPr lang="en-GB" altLang="ja-JP" b="0" dirty="0">
                <a:solidFill>
                  <a:srgbClr val="ABB2BF"/>
                </a:solidFill>
                <a:effectLst/>
                <a:highlight>
                  <a:srgbClr val="282C34"/>
                </a:highlight>
                <a:latin typeface="Consolas" panose="020B0609020204030204" pitchFamily="49" charset="0"/>
              </a:rPr>
              <a:t>,</a:t>
            </a:r>
          </a:p>
          <a:p>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C56068"/>
                </a:solidFill>
                <a:effectLst/>
                <a:highlight>
                  <a:srgbClr val="282C34"/>
                </a:highlight>
                <a:latin typeface="Consolas" panose="020B0609020204030204" pitchFamily="49" charset="0"/>
              </a:rPr>
              <a:t>"</a:t>
            </a:r>
            <a:r>
              <a:rPr lang="en-GB" altLang="ja-JP" b="0" dirty="0" err="1">
                <a:solidFill>
                  <a:srgbClr val="C56068"/>
                </a:solidFill>
                <a:effectLst/>
                <a:highlight>
                  <a:srgbClr val="282C34"/>
                </a:highlight>
                <a:latin typeface="Consolas" panose="020B0609020204030204" pitchFamily="49" charset="0"/>
              </a:rPr>
              <a:t>company_name</a:t>
            </a:r>
            <a:r>
              <a:rPr lang="en-GB" altLang="ja-JP" b="0" dirty="0">
                <a:solidFill>
                  <a:srgbClr val="C56068"/>
                </a:solidFill>
                <a:effectLst/>
                <a:highlight>
                  <a:srgbClr val="282C34"/>
                </a:highlight>
                <a:latin typeface="Consolas" panose="020B0609020204030204" pitchFamily="49" charset="0"/>
              </a:rPr>
              <a:t>"</a:t>
            </a:r>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D9F5DD"/>
                </a:solidFill>
                <a:effectLst/>
                <a:highlight>
                  <a:srgbClr val="282C34"/>
                </a:highlight>
                <a:latin typeface="Consolas" panose="020B0609020204030204" pitchFamily="49" charset="0"/>
              </a:rPr>
              <a:t>"</a:t>
            </a:r>
            <a:r>
              <a:rPr lang="ja-JP" altLang="en-US" b="0" dirty="0">
                <a:solidFill>
                  <a:srgbClr val="C789D6"/>
                </a:solidFill>
                <a:effectLst/>
                <a:highlight>
                  <a:srgbClr val="282C34"/>
                </a:highlight>
                <a:latin typeface="Consolas" panose="020B0609020204030204" pitchFamily="49" charset="0"/>
              </a:rPr>
              <a:t>ゾエティス </a:t>
            </a:r>
            <a:r>
              <a:rPr lang="en-GB" altLang="ja-JP" b="0" dirty="0">
                <a:solidFill>
                  <a:srgbClr val="C789D6"/>
                </a:solidFill>
                <a:effectLst/>
                <a:highlight>
                  <a:srgbClr val="282C34"/>
                </a:highlight>
                <a:latin typeface="Consolas" panose="020B0609020204030204" pitchFamily="49" charset="0"/>
              </a:rPr>
              <a:t>Zoetis Inc.</a:t>
            </a:r>
            <a:r>
              <a:rPr lang="en-GB" altLang="ja-JP" b="0" dirty="0">
                <a:solidFill>
                  <a:srgbClr val="D9F5DD"/>
                </a:solidFill>
                <a:effectLst/>
                <a:highlight>
                  <a:srgbClr val="282C34"/>
                </a:highlight>
                <a:latin typeface="Consolas" panose="020B0609020204030204" pitchFamily="49" charset="0"/>
              </a:rPr>
              <a:t>"</a:t>
            </a:r>
            <a:r>
              <a:rPr lang="en-GB" altLang="ja-JP" b="0" dirty="0">
                <a:solidFill>
                  <a:srgbClr val="ABB2BF"/>
                </a:solidFill>
                <a:effectLst/>
                <a:highlight>
                  <a:srgbClr val="282C34"/>
                </a:highlight>
                <a:latin typeface="Consolas" panose="020B0609020204030204" pitchFamily="49" charset="0"/>
              </a:rPr>
              <a:t>,</a:t>
            </a:r>
          </a:p>
          <a:p>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C56068"/>
                </a:solidFill>
                <a:effectLst/>
                <a:highlight>
                  <a:srgbClr val="282C34"/>
                </a:highlight>
                <a:latin typeface="Consolas" panose="020B0609020204030204" pitchFamily="49" charset="0"/>
              </a:rPr>
              <a:t>"description"</a:t>
            </a:r>
            <a:r>
              <a:rPr lang="en-GB" altLang="ja-JP" b="0" dirty="0">
                <a:solidFill>
                  <a:srgbClr val="ABB2BF"/>
                </a:solidFill>
                <a:effectLst/>
                <a:highlight>
                  <a:srgbClr val="282C34"/>
                </a:highlight>
                <a:latin typeface="Consolas" panose="020B0609020204030204" pitchFamily="49" charset="0"/>
              </a:rPr>
              <a:t>: </a:t>
            </a:r>
            <a:r>
              <a:rPr lang="en-GB" altLang="ja-JP" b="0" dirty="0">
                <a:solidFill>
                  <a:srgbClr val="D9F5DD"/>
                </a:solidFill>
                <a:effectLst/>
                <a:highlight>
                  <a:srgbClr val="282C34"/>
                </a:highlight>
                <a:latin typeface="Consolas" panose="020B0609020204030204" pitchFamily="49" charset="0"/>
              </a:rPr>
              <a:t>"</a:t>
            </a:r>
            <a:r>
              <a:rPr lang="ja-JP" altLang="en-US" b="0" dirty="0">
                <a:solidFill>
                  <a:srgbClr val="C789D6"/>
                </a:solidFill>
                <a:effectLst/>
                <a:highlight>
                  <a:srgbClr val="282C34"/>
                </a:highlight>
                <a:latin typeface="Consolas" panose="020B0609020204030204" pitchFamily="49" charset="0"/>
              </a:rPr>
              <a:t>ペット・家畜用 医薬品・ワクチン</a:t>
            </a:r>
            <a:r>
              <a:rPr lang="en-US" altLang="ja-JP" b="0" dirty="0">
                <a:solidFill>
                  <a:srgbClr val="D9F5DD"/>
                </a:solidFill>
                <a:effectLst/>
                <a:highlight>
                  <a:srgbClr val="282C34"/>
                </a:highlight>
                <a:latin typeface="Consolas" panose="020B0609020204030204" pitchFamily="49" charset="0"/>
              </a:rPr>
              <a:t>"</a:t>
            </a:r>
            <a:endParaRPr lang="ja-JP" altLang="en-US" b="0" dirty="0">
              <a:solidFill>
                <a:srgbClr val="ABB2BF"/>
              </a:solidFill>
              <a:effectLst/>
              <a:highlight>
                <a:srgbClr val="282C34"/>
              </a:highlight>
              <a:latin typeface="Consolas" panose="020B0609020204030204" pitchFamily="49" charset="0"/>
            </a:endParaRPr>
          </a:p>
          <a:p>
            <a:r>
              <a:rPr lang="ja-JP" altLang="en-US" b="0" dirty="0">
                <a:solidFill>
                  <a:srgbClr val="ABB2BF"/>
                </a:solidFill>
                <a:effectLst/>
                <a:highlight>
                  <a:srgbClr val="282C34"/>
                </a:highlight>
                <a:latin typeface="Consolas" panose="020B0609020204030204" pitchFamily="49" charset="0"/>
              </a:rPr>
              <a:t>    </a:t>
            </a:r>
            <a:r>
              <a:rPr lang="en-US" altLang="ja-JP" b="0" dirty="0">
                <a:solidFill>
                  <a:srgbClr val="ABB2BF"/>
                </a:solidFill>
                <a:effectLst/>
                <a:highlight>
                  <a:srgbClr val="282C34"/>
                </a:highlight>
                <a:latin typeface="Consolas" panose="020B0609020204030204" pitchFamily="49" charset="0"/>
              </a:rPr>
              <a:t>}</a:t>
            </a:r>
          </a:p>
          <a:p>
            <a:pPr defTabSz="965881">
              <a:defRPr/>
            </a:pPr>
            <a:endParaRPr lang="ja-JP" altLang="en-US" sz="1300" dirty="0">
              <a:latin typeface="BIZ UDPゴシック" panose="020B0400000000000000" pitchFamily="50" charset="-128"/>
              <a:ea typeface="BIZ UDPゴシック" panose="020B0400000000000000" pitchFamily="50" charset="-128"/>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7CD860E0-C8EB-4478-A6A5-544033815766}" type="slidenum">
              <a:rPr kumimoji="1" lang="ja-JP" altLang="en-US" smtClean="0"/>
              <a:t>13</a:t>
            </a:fld>
            <a:endParaRPr kumimoji="1" lang="ja-JP" altLang="en-US"/>
          </a:p>
        </p:txBody>
      </p:sp>
    </p:spTree>
    <p:extLst>
      <p:ext uri="{BB962C8B-B14F-4D97-AF65-F5344CB8AC3E}">
        <p14:creationId xmlns:p14="http://schemas.microsoft.com/office/powerpoint/2010/main" val="927491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比較的小さく済んでいる</a:t>
            </a:r>
            <a:endParaRPr lang="en-GB" altLang="ja-JP" dirty="0"/>
          </a:p>
          <a:p>
            <a:r>
              <a:rPr lang="ja-JP" altLang="en-US" dirty="0"/>
              <a:t>縦軸がモデル数で</a:t>
            </a:r>
            <a:endParaRPr lang="en-GB" altLang="ja-JP" dirty="0"/>
          </a:p>
          <a:p>
            <a:r>
              <a:rPr lang="ja-JP" altLang="en-US" dirty="0"/>
              <a:t>横軸が</a:t>
            </a:r>
            <a:r>
              <a:rPr lang="en-GB" altLang="ja-JP" dirty="0" err="1"/>
              <a:t>mae</a:t>
            </a:r>
            <a:endParaRPr lang="en-GB" dirty="0"/>
          </a:p>
        </p:txBody>
      </p:sp>
      <p:sp>
        <p:nvSpPr>
          <p:cNvPr id="4" name="Slide Number Placeholder 3"/>
          <p:cNvSpPr>
            <a:spLocks noGrp="1"/>
          </p:cNvSpPr>
          <p:nvPr>
            <p:ph type="sldNum" sz="quarter" idx="5"/>
          </p:nvPr>
        </p:nvSpPr>
        <p:spPr/>
        <p:txBody>
          <a:bodyPr/>
          <a:lstStyle/>
          <a:p>
            <a:fld id="{7CD860E0-C8EB-4478-A6A5-544033815766}" type="slidenum">
              <a:rPr kumimoji="1" lang="ja-JP" altLang="en-US" smtClean="0"/>
              <a:t>14</a:t>
            </a:fld>
            <a:endParaRPr kumimoji="1" lang="ja-JP" altLang="en-US"/>
          </a:p>
        </p:txBody>
      </p:sp>
    </p:spTree>
    <p:extLst>
      <p:ext uri="{BB962C8B-B14F-4D97-AF65-F5344CB8AC3E}">
        <p14:creationId xmlns:p14="http://schemas.microsoft.com/office/powerpoint/2010/main" val="1818349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左が家の</a:t>
            </a:r>
            <a:r>
              <a:rPr kumimoji="1" lang="en-US" altLang="ja-JP" dirty="0"/>
              <a:t>PC</a:t>
            </a:r>
            <a:r>
              <a:rPr kumimoji="1" lang="ja-JP" altLang="en-US" dirty="0"/>
              <a:t>と学校の</a:t>
            </a:r>
            <a:r>
              <a:rPr kumimoji="1" lang="en-US" altLang="ja-JP" dirty="0"/>
              <a:t>HPC</a:t>
            </a:r>
            <a:r>
              <a:rPr kumimoji="1" lang="ja-JP" altLang="en-US" dirty="0"/>
              <a:t>を使って学習して株価が上がる比率が高いであろう株</a:t>
            </a:r>
            <a:r>
              <a:rPr kumimoji="1" lang="en-US" altLang="ja-JP" dirty="0"/>
              <a:t>top3</a:t>
            </a:r>
            <a:r>
              <a:rPr kumimoji="1" lang="ja-JP" altLang="en-US" dirty="0"/>
              <a:t>をグラフに示したものと実際の株価です</a:t>
            </a:r>
            <a:br>
              <a:rPr kumimoji="1" lang="en-US" altLang="ja-JP" dirty="0"/>
            </a:br>
            <a:r>
              <a:rPr kumimoji="1" lang="en-US" altLang="ja-JP" dirty="0" err="1"/>
              <a:t>wrb</a:t>
            </a:r>
            <a:r>
              <a:rPr kumimoji="1" lang="en-US" altLang="ja-JP" dirty="0"/>
              <a:t> :</a:t>
            </a:r>
            <a:r>
              <a:rPr lang="zh-TW" altLang="en-US" sz="1300" dirty="0"/>
              <a:t>商業用損害保険持株会社</a:t>
            </a:r>
            <a:endParaRPr lang="en-US" altLang="zh-TW" sz="1300" dirty="0"/>
          </a:p>
          <a:p>
            <a:r>
              <a:rPr kumimoji="1" lang="en-US" altLang="ja-JP" dirty="0" err="1"/>
              <a:t>Nwsa</a:t>
            </a:r>
            <a:r>
              <a:rPr kumimoji="1" lang="en-US" altLang="ja-JP" dirty="0"/>
              <a:t> :</a:t>
            </a:r>
            <a:r>
              <a:rPr lang="ja-JP" altLang="en-US" sz="1300" dirty="0"/>
              <a:t>アメリカ・ニューヨークに拠点を置く出版・メディア企業</a:t>
            </a:r>
            <a:endParaRPr lang="en-US" altLang="ja-JP" sz="1300" dirty="0"/>
          </a:p>
          <a:p>
            <a:r>
              <a:rPr lang="en-US" altLang="ja-JP" sz="1300" dirty="0" err="1"/>
              <a:t>Dva</a:t>
            </a:r>
            <a:r>
              <a:rPr lang="en-US" altLang="ja-JP" sz="1300" dirty="0"/>
              <a:t> :</a:t>
            </a:r>
            <a:r>
              <a:rPr lang="ja-JP" altLang="en-US" sz="1300" dirty="0"/>
              <a:t>末期腎疾患や慢性腎不全の患者向けに透析サービスを提供。</a:t>
            </a:r>
            <a:endParaRPr lang="en-US" altLang="ja-JP" sz="1300" dirty="0"/>
          </a:p>
          <a:p>
            <a:r>
              <a:rPr lang="en-US" altLang="ja-JP" sz="1300" dirty="0" err="1"/>
              <a:t>Aph</a:t>
            </a:r>
            <a:r>
              <a:rPr lang="en-US" altLang="ja-JP" sz="1300" dirty="0"/>
              <a:t> :</a:t>
            </a:r>
            <a:r>
              <a:rPr lang="ja-JP" altLang="en-US" sz="1300" dirty="0"/>
              <a:t>電気配線や光ファイバー、同軸ケーブルなど向けのコネクタ（接続部品）をはじめ、アンテナやセンサー、ケーブルを含む周辺品の設計・製造・販売を手がける。</a:t>
            </a:r>
            <a:endParaRPr lang="en-US" altLang="ja-JP" sz="1300" dirty="0"/>
          </a:p>
          <a:p>
            <a:r>
              <a:rPr kumimoji="1" lang="en-US" altLang="ja-JP" dirty="0"/>
              <a:t>Hum :</a:t>
            </a:r>
            <a:r>
              <a:rPr lang="zh-CN" altLang="en-US" sz="1300" dirty="0"/>
              <a:t>営利健康保険会社</a:t>
            </a:r>
            <a:endParaRPr lang="en-US" altLang="zh-CN" sz="1300" dirty="0"/>
          </a:p>
          <a:p>
            <a:r>
              <a:rPr lang="en-US" altLang="ja-JP" sz="1300" dirty="0" err="1"/>
              <a:t>Gl</a:t>
            </a:r>
            <a:r>
              <a:rPr lang="en-US" altLang="ja-JP" sz="1300" dirty="0"/>
              <a:t> :</a:t>
            </a:r>
            <a:r>
              <a:rPr lang="ja-JP" altLang="en-US" sz="1300" dirty="0"/>
              <a:t>金融サービス持株会社</a:t>
            </a:r>
            <a:endParaRPr lang="en-US" altLang="ja-JP" sz="1300" dirty="0"/>
          </a:p>
          <a:p>
            <a:r>
              <a:rPr lang="en-US" altLang="ja-JP" sz="1300" dirty="0" err="1"/>
              <a:t>Dva</a:t>
            </a:r>
            <a:r>
              <a:rPr lang="en-US" altLang="ja-JP" sz="1300" dirty="0"/>
              <a:t> : </a:t>
            </a:r>
            <a:endParaRPr kumimoji="1" lang="ja-JP" altLang="en-US" dirty="0"/>
          </a:p>
        </p:txBody>
      </p:sp>
      <p:sp>
        <p:nvSpPr>
          <p:cNvPr id="4" name="スライド番号プレースホルダー 3"/>
          <p:cNvSpPr>
            <a:spLocks noGrp="1"/>
          </p:cNvSpPr>
          <p:nvPr>
            <p:ph type="sldNum" sz="quarter" idx="5"/>
          </p:nvPr>
        </p:nvSpPr>
        <p:spPr/>
        <p:txBody>
          <a:bodyPr/>
          <a:lstStyle/>
          <a:p>
            <a:fld id="{7CD860E0-C8EB-4478-A6A5-544033815766}" type="slidenum">
              <a:rPr kumimoji="1" lang="ja-JP" altLang="en-US" smtClean="0"/>
              <a:t>18</a:t>
            </a:fld>
            <a:endParaRPr kumimoji="1" lang="ja-JP" altLang="en-US"/>
          </a:p>
        </p:txBody>
      </p:sp>
    </p:spTree>
    <p:extLst>
      <p:ext uri="{BB962C8B-B14F-4D97-AF65-F5344CB8AC3E}">
        <p14:creationId xmlns:p14="http://schemas.microsoft.com/office/powerpoint/2010/main" val="2290067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簡易的なアンサンブル学習</a:t>
            </a:r>
            <a:endParaRPr lang="en-GB" dirty="0"/>
          </a:p>
        </p:txBody>
      </p:sp>
      <p:sp>
        <p:nvSpPr>
          <p:cNvPr id="4" name="Slide Number Placeholder 3"/>
          <p:cNvSpPr>
            <a:spLocks noGrp="1"/>
          </p:cNvSpPr>
          <p:nvPr>
            <p:ph type="sldNum" sz="quarter" idx="5"/>
          </p:nvPr>
        </p:nvSpPr>
        <p:spPr/>
        <p:txBody>
          <a:bodyPr/>
          <a:lstStyle/>
          <a:p>
            <a:fld id="{7CD860E0-C8EB-4478-A6A5-544033815766}" type="slidenum">
              <a:rPr kumimoji="1" lang="ja-JP" altLang="en-US" smtClean="0"/>
              <a:t>19</a:t>
            </a:fld>
            <a:endParaRPr kumimoji="1" lang="ja-JP" altLang="en-US"/>
          </a:p>
        </p:txBody>
      </p:sp>
    </p:spTree>
    <p:extLst>
      <p:ext uri="{BB962C8B-B14F-4D97-AF65-F5344CB8AC3E}">
        <p14:creationId xmlns:p14="http://schemas.microsoft.com/office/powerpoint/2010/main" val="3210458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情報系を志す人なら必ず知っているほぼほぼ潰れることはないであろう株を買っている状況</a:t>
            </a:r>
            <a:endParaRPr kumimoji="1" lang="en-US" altLang="ja-JP" dirty="0"/>
          </a:p>
          <a:p>
            <a:r>
              <a:rPr kumimoji="1" lang="ja-JP" altLang="en-US" dirty="0"/>
              <a:t>自分もあまり詳しくないが、造船系など自分の中の可能性から出てこない株を調べる指標になればいいと思った</a:t>
            </a:r>
          </a:p>
        </p:txBody>
      </p:sp>
      <p:sp>
        <p:nvSpPr>
          <p:cNvPr id="4" name="スライド番号プレースホルダー 3"/>
          <p:cNvSpPr>
            <a:spLocks noGrp="1"/>
          </p:cNvSpPr>
          <p:nvPr>
            <p:ph type="sldNum" sz="quarter" idx="5"/>
          </p:nvPr>
        </p:nvSpPr>
        <p:spPr/>
        <p:txBody>
          <a:bodyPr/>
          <a:lstStyle/>
          <a:p>
            <a:fld id="{7CD860E0-C8EB-4478-A6A5-544033815766}" type="slidenum">
              <a:rPr kumimoji="1" lang="ja-JP" altLang="en-US" smtClean="0"/>
              <a:t>20</a:t>
            </a:fld>
            <a:endParaRPr kumimoji="1" lang="ja-JP" altLang="en-US"/>
          </a:p>
        </p:txBody>
      </p:sp>
    </p:spTree>
    <p:extLst>
      <p:ext uri="{BB962C8B-B14F-4D97-AF65-F5344CB8AC3E}">
        <p14:creationId xmlns:p14="http://schemas.microsoft.com/office/powerpoint/2010/main" val="14571940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自分もすごい詳しいわけではないが</a:t>
            </a:r>
            <a:endParaRPr kumimoji="1" lang="en-GB" altLang="ja-JP" dirty="0"/>
          </a:p>
          <a:p>
            <a:r>
              <a:rPr kumimoji="1" lang="ja-JP" altLang="en-US" dirty="0"/>
              <a:t>純粋な株式投資のみで生活している人たち</a:t>
            </a:r>
            <a:endParaRPr kumimoji="1" lang="en-GB" altLang="ja-JP" dirty="0"/>
          </a:p>
          <a:p>
            <a:r>
              <a:rPr kumimoji="1" lang="ja-JP" altLang="en-US" dirty="0"/>
              <a:t>はこのようなグラフとにらめっこしているだけではない</a:t>
            </a:r>
            <a:endParaRPr kumimoji="1" lang="en-US" altLang="ja-JP" dirty="0"/>
          </a:p>
        </p:txBody>
      </p:sp>
      <p:sp>
        <p:nvSpPr>
          <p:cNvPr id="4" name="スライド番号プレースホルダー 3"/>
          <p:cNvSpPr>
            <a:spLocks noGrp="1"/>
          </p:cNvSpPr>
          <p:nvPr>
            <p:ph type="sldNum" sz="quarter" idx="5"/>
          </p:nvPr>
        </p:nvSpPr>
        <p:spPr/>
        <p:txBody>
          <a:bodyPr/>
          <a:lstStyle/>
          <a:p>
            <a:fld id="{7CD860E0-C8EB-4478-A6A5-544033815766}" type="slidenum">
              <a:rPr kumimoji="1" lang="ja-JP" altLang="en-US" smtClean="0"/>
              <a:t>21</a:t>
            </a:fld>
            <a:endParaRPr kumimoji="1" lang="ja-JP" altLang="en-US"/>
          </a:p>
        </p:txBody>
      </p:sp>
    </p:spTree>
    <p:extLst>
      <p:ext uri="{BB962C8B-B14F-4D97-AF65-F5344CB8AC3E}">
        <p14:creationId xmlns:p14="http://schemas.microsoft.com/office/powerpoint/2010/main" val="31821883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E5C8D-118D-4617-9D58-2CDA4F6C822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566F30-C078-2BCB-196C-D6F0A3E7A8F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F37C03-B655-A069-F2CA-D0F85770366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20422EE-7D73-53B7-EF17-C857D2401C9E}"/>
              </a:ext>
            </a:extLst>
          </p:cNvPr>
          <p:cNvSpPr>
            <a:spLocks noGrp="1"/>
          </p:cNvSpPr>
          <p:nvPr>
            <p:ph type="sldNum" sz="quarter" idx="5"/>
          </p:nvPr>
        </p:nvSpPr>
        <p:spPr/>
        <p:txBody>
          <a:bodyPr/>
          <a:lstStyle/>
          <a:p>
            <a:fld id="{7CD860E0-C8EB-4478-A6A5-544033815766}" type="slidenum">
              <a:rPr kumimoji="1" lang="ja-JP" altLang="en-US" smtClean="0"/>
              <a:t>22</a:t>
            </a:fld>
            <a:endParaRPr kumimoji="1" lang="ja-JP" altLang="en-US"/>
          </a:p>
        </p:txBody>
      </p:sp>
    </p:spTree>
    <p:extLst>
      <p:ext uri="{BB962C8B-B14F-4D97-AF65-F5344CB8AC3E}">
        <p14:creationId xmlns:p14="http://schemas.microsoft.com/office/powerpoint/2010/main" val="38570929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一つの例としては恐怖指数というもの</a:t>
            </a:r>
            <a:endParaRPr kumimoji="1" lang="en-US" altLang="ja-JP" dirty="0"/>
          </a:p>
          <a:p>
            <a:r>
              <a:rPr kumimoji="1" lang="en-US" altLang="ja-JP" dirty="0"/>
              <a:t>Volatility : </a:t>
            </a:r>
            <a:r>
              <a:rPr lang="ja-JP" altLang="en-US" sz="1300" dirty="0"/>
              <a:t>一般的に価格変動の度合いを示す言葉</a:t>
            </a:r>
            <a:endParaRPr lang="en-US" altLang="ja-JP" sz="1300" dirty="0"/>
          </a:p>
          <a:p>
            <a:r>
              <a:rPr lang="ja-JP" altLang="en-US" sz="1300" dirty="0"/>
              <a:t>投資家が市場の先行きとしてどれくらいのボラティリティを見込んでいるか、つまり市場の不安定度を示す指数です。 </a:t>
            </a:r>
            <a:r>
              <a:rPr lang="en-US" altLang="ja-JP" sz="1300" dirty="0"/>
              <a:t>10〜20</a:t>
            </a:r>
            <a:r>
              <a:rPr lang="ja-JP" altLang="en-US" sz="1300" dirty="0"/>
              <a:t>が平常で、</a:t>
            </a:r>
            <a:r>
              <a:rPr lang="en-US" altLang="ja-JP" sz="1300" dirty="0"/>
              <a:t>20</a:t>
            </a:r>
            <a:r>
              <a:rPr lang="ja-JP" altLang="en-US" sz="1300" dirty="0"/>
              <a:t>を超えると不安定、</a:t>
            </a:r>
            <a:r>
              <a:rPr lang="en-US" altLang="ja-JP" sz="1300" dirty="0"/>
              <a:t>30</a:t>
            </a:r>
            <a:r>
              <a:rPr lang="ja-JP" altLang="en-US" sz="1300" dirty="0"/>
              <a:t>を超えると危険だと判断されます。</a:t>
            </a:r>
            <a:endParaRPr kumimoji="1" lang="ja-JP" altLang="en-US" b="1" dirty="0"/>
          </a:p>
          <a:p>
            <a:br>
              <a:rPr kumimoji="1" lang="en-US" altLang="ja-JP" dirty="0"/>
            </a:br>
            <a:r>
              <a:rPr kumimoji="1" lang="ja-JP" altLang="en-US" dirty="0"/>
              <a:t>半導体指数は半導体の設計・製造・流通・販売を行う企業でで構成される</a:t>
            </a:r>
            <a:r>
              <a:rPr kumimoji="1" lang="en-US" altLang="ja-JP" dirty="0"/>
              <a:t>1993</a:t>
            </a:r>
            <a:r>
              <a:rPr kumimoji="1" lang="ja-JP" altLang="en-US" dirty="0"/>
              <a:t>年</a:t>
            </a:r>
            <a:r>
              <a:rPr kumimoji="1" lang="en-US" altLang="ja-JP" dirty="0"/>
              <a:t>12</a:t>
            </a:r>
            <a:r>
              <a:rPr kumimoji="1" lang="ja-JP" altLang="en-US" dirty="0"/>
              <a:t>月</a:t>
            </a:r>
            <a:r>
              <a:rPr kumimoji="1" lang="en-US" altLang="ja-JP" dirty="0"/>
              <a:t>1</a:t>
            </a:r>
            <a:r>
              <a:rPr kumimoji="1" lang="ja-JP" altLang="en-US" dirty="0"/>
              <a:t>日を基準</a:t>
            </a:r>
            <a:r>
              <a:rPr kumimoji="1" lang="en-US" altLang="ja-JP" dirty="0"/>
              <a:t>100</a:t>
            </a:r>
            <a:r>
              <a:rPr kumimoji="1" lang="ja-JP" altLang="en-US" dirty="0"/>
              <a:t>として算出される指標</a:t>
            </a:r>
            <a:endParaRPr kumimoji="1" lang="en-US" altLang="ja-JP" dirty="0"/>
          </a:p>
          <a:p>
            <a:r>
              <a:rPr kumimoji="1" lang="en-US" altLang="ja-JP" dirty="0"/>
              <a:t>IT</a:t>
            </a:r>
            <a:r>
              <a:rPr kumimoji="1" lang="ja-JP" altLang="en-US" dirty="0"/>
              <a:t>産業の先行きを景況感を示す代表的指標として知られている</a:t>
            </a:r>
          </a:p>
        </p:txBody>
      </p:sp>
      <p:sp>
        <p:nvSpPr>
          <p:cNvPr id="4" name="スライド番号プレースホルダー 3"/>
          <p:cNvSpPr>
            <a:spLocks noGrp="1"/>
          </p:cNvSpPr>
          <p:nvPr>
            <p:ph type="sldNum" sz="quarter" idx="5"/>
          </p:nvPr>
        </p:nvSpPr>
        <p:spPr/>
        <p:txBody>
          <a:bodyPr/>
          <a:lstStyle/>
          <a:p>
            <a:fld id="{7CD860E0-C8EB-4478-A6A5-544033815766}" type="slidenum">
              <a:rPr kumimoji="1" lang="ja-JP" altLang="en-US" smtClean="0"/>
              <a:t>23</a:t>
            </a:fld>
            <a:endParaRPr kumimoji="1" lang="ja-JP" altLang="en-US"/>
          </a:p>
        </p:txBody>
      </p:sp>
    </p:spTree>
    <p:extLst>
      <p:ext uri="{BB962C8B-B14F-4D97-AF65-F5344CB8AC3E}">
        <p14:creationId xmlns:p14="http://schemas.microsoft.com/office/powerpoint/2010/main" val="343285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二つ目がニュース。</a:t>
            </a:r>
            <a:r>
              <a:rPr kumimoji="1" lang="en-US" altLang="ja-JP" dirty="0"/>
              <a:t>(</a:t>
            </a:r>
            <a:r>
              <a:rPr kumimoji="1" lang="ja-JP" altLang="en-US" dirty="0"/>
              <a:t>ニュースの見出しを読み上げる</a:t>
            </a:r>
            <a:r>
              <a:rPr kumimoji="1" lang="en-US" altLang="ja-JP" dirty="0"/>
              <a:t>)</a:t>
            </a:r>
            <a:br>
              <a:rPr kumimoji="1" lang="en-US" altLang="ja-JP" dirty="0"/>
            </a:br>
            <a:r>
              <a:rPr kumimoji="1" lang="ja-JP" altLang="en-US" dirty="0"/>
              <a:t>今期のインテルの決算は大赤字</a:t>
            </a:r>
            <a:endParaRPr kumimoji="1" lang="en-US" altLang="ja-JP" dirty="0"/>
          </a:p>
          <a:p>
            <a:r>
              <a:rPr kumimoji="1" lang="ja-JP" altLang="en-US" dirty="0"/>
              <a:t>今回はニュースに着目した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7CD860E0-C8EB-4478-A6A5-544033815766}" type="slidenum">
              <a:rPr kumimoji="1" lang="ja-JP" altLang="en-US" smtClean="0"/>
              <a:t>24</a:t>
            </a:fld>
            <a:endParaRPr kumimoji="1" lang="ja-JP" altLang="en-US"/>
          </a:p>
        </p:txBody>
      </p:sp>
    </p:spTree>
    <p:extLst>
      <p:ext uri="{BB962C8B-B14F-4D97-AF65-F5344CB8AC3E}">
        <p14:creationId xmlns:p14="http://schemas.microsoft.com/office/powerpoint/2010/main" val="28510008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本来ならここの</a:t>
            </a:r>
            <a:r>
              <a:rPr kumimoji="1" lang="en-US" altLang="ja-JP" dirty="0"/>
              <a:t>max</a:t>
            </a:r>
            <a:r>
              <a:rPr kumimoji="1" lang="ja-JP" altLang="en-US" dirty="0"/>
              <a:t>をとってこの文章は楽観的な文章ですとなるのですが、</a:t>
            </a:r>
          </a:p>
        </p:txBody>
      </p:sp>
      <p:sp>
        <p:nvSpPr>
          <p:cNvPr id="4" name="スライド番号プレースホルダー 3"/>
          <p:cNvSpPr>
            <a:spLocks noGrp="1"/>
          </p:cNvSpPr>
          <p:nvPr>
            <p:ph type="sldNum" sz="quarter" idx="5"/>
          </p:nvPr>
        </p:nvSpPr>
        <p:spPr/>
        <p:txBody>
          <a:bodyPr/>
          <a:lstStyle/>
          <a:p>
            <a:fld id="{7CD860E0-C8EB-4478-A6A5-544033815766}" type="slidenum">
              <a:rPr kumimoji="1" lang="ja-JP" altLang="en-US" smtClean="0"/>
              <a:t>29</a:t>
            </a:fld>
            <a:endParaRPr kumimoji="1" lang="ja-JP" altLang="en-US"/>
          </a:p>
        </p:txBody>
      </p:sp>
    </p:spTree>
    <p:extLst>
      <p:ext uri="{BB962C8B-B14F-4D97-AF65-F5344CB8AC3E}">
        <p14:creationId xmlns:p14="http://schemas.microsoft.com/office/powerpoint/2010/main" val="32965365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CD860E0-C8EB-4478-A6A5-544033815766}" type="slidenum">
              <a:rPr kumimoji="1" lang="ja-JP" altLang="en-US" smtClean="0"/>
              <a:t>31</a:t>
            </a:fld>
            <a:endParaRPr kumimoji="1" lang="ja-JP" altLang="en-US"/>
          </a:p>
        </p:txBody>
      </p:sp>
    </p:spTree>
    <p:extLst>
      <p:ext uri="{BB962C8B-B14F-4D97-AF65-F5344CB8AC3E}">
        <p14:creationId xmlns:p14="http://schemas.microsoft.com/office/powerpoint/2010/main" val="4182858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C25F49-732E-4EDA-BBCC-EDC98F20328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F131622-1B57-4CD8-8B7E-04696D1E56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AD9859D-4CD5-4011-9669-75FC68196EB3}"/>
              </a:ext>
            </a:extLst>
          </p:cNvPr>
          <p:cNvSpPr>
            <a:spLocks noGrp="1"/>
          </p:cNvSpPr>
          <p:nvPr>
            <p:ph type="dt" sz="half" idx="10"/>
          </p:nvPr>
        </p:nvSpPr>
        <p:spPr/>
        <p:txBody>
          <a:bodyPr/>
          <a:lstStyle/>
          <a:p>
            <a:fld id="{8754EFBE-8779-46F2-8286-DA699673FC67}" type="datetime1">
              <a:rPr kumimoji="1" lang="ja-JP" altLang="en-US" smtClean="0"/>
              <a:t>2025/1/25</a:t>
            </a:fld>
            <a:endParaRPr kumimoji="1" lang="ja-JP" altLang="en-US"/>
          </a:p>
        </p:txBody>
      </p:sp>
      <p:sp>
        <p:nvSpPr>
          <p:cNvPr id="5" name="フッター プレースホルダー 4">
            <a:extLst>
              <a:ext uri="{FF2B5EF4-FFF2-40B4-BE49-F238E27FC236}">
                <a16:creationId xmlns:a16="http://schemas.microsoft.com/office/drawing/2014/main" id="{11B78CAB-09D5-46CF-A861-C562BF92771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1209EF-7336-43B1-94E5-D85C07DDD40E}"/>
              </a:ext>
            </a:extLst>
          </p:cNvPr>
          <p:cNvSpPr>
            <a:spLocks noGrp="1"/>
          </p:cNvSpPr>
          <p:nvPr>
            <p:ph type="sldNum" sz="quarter" idx="12"/>
          </p:nvPr>
        </p:nvSpPr>
        <p:spPr/>
        <p:txBody>
          <a:bodyPr/>
          <a:lstStyle/>
          <a:p>
            <a:fld id="{F42732FB-2277-442C-9711-A45410BE01D8}" type="slidenum">
              <a:rPr kumimoji="1" lang="ja-JP" altLang="en-US" smtClean="0"/>
              <a:t>‹#›</a:t>
            </a:fld>
            <a:endParaRPr kumimoji="1" lang="ja-JP" altLang="en-US"/>
          </a:p>
        </p:txBody>
      </p:sp>
    </p:spTree>
    <p:extLst>
      <p:ext uri="{BB962C8B-B14F-4D97-AF65-F5344CB8AC3E}">
        <p14:creationId xmlns:p14="http://schemas.microsoft.com/office/powerpoint/2010/main" val="383749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3F3B43-A7E9-4DC2-8E64-9066980BC5D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ADBE5F2-0275-4224-8D2A-9210519276F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713205B-6745-4E66-9DE4-39F59719DF45}"/>
              </a:ext>
            </a:extLst>
          </p:cNvPr>
          <p:cNvSpPr>
            <a:spLocks noGrp="1"/>
          </p:cNvSpPr>
          <p:nvPr>
            <p:ph type="dt" sz="half" idx="10"/>
          </p:nvPr>
        </p:nvSpPr>
        <p:spPr/>
        <p:txBody>
          <a:bodyPr/>
          <a:lstStyle/>
          <a:p>
            <a:fld id="{4DA5C2B5-8543-4E47-8260-B5BD3237B4E6}" type="datetime1">
              <a:rPr kumimoji="1" lang="ja-JP" altLang="en-US" smtClean="0"/>
              <a:t>2025/1/25</a:t>
            </a:fld>
            <a:endParaRPr kumimoji="1" lang="ja-JP" altLang="en-US"/>
          </a:p>
        </p:txBody>
      </p:sp>
      <p:sp>
        <p:nvSpPr>
          <p:cNvPr id="5" name="フッター プレースホルダー 4">
            <a:extLst>
              <a:ext uri="{FF2B5EF4-FFF2-40B4-BE49-F238E27FC236}">
                <a16:creationId xmlns:a16="http://schemas.microsoft.com/office/drawing/2014/main" id="{3350D84E-F729-4983-B3E3-32F5F48BCEB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619EDA6-AE6B-46B5-B34C-3D6390A4C63C}"/>
              </a:ext>
            </a:extLst>
          </p:cNvPr>
          <p:cNvSpPr>
            <a:spLocks noGrp="1"/>
          </p:cNvSpPr>
          <p:nvPr>
            <p:ph type="sldNum" sz="quarter" idx="12"/>
          </p:nvPr>
        </p:nvSpPr>
        <p:spPr/>
        <p:txBody>
          <a:bodyPr/>
          <a:lstStyle/>
          <a:p>
            <a:fld id="{F42732FB-2277-442C-9711-A45410BE01D8}" type="slidenum">
              <a:rPr kumimoji="1" lang="ja-JP" altLang="en-US" smtClean="0"/>
              <a:t>‹#›</a:t>
            </a:fld>
            <a:endParaRPr kumimoji="1" lang="ja-JP" altLang="en-US"/>
          </a:p>
        </p:txBody>
      </p:sp>
    </p:spTree>
    <p:extLst>
      <p:ext uri="{BB962C8B-B14F-4D97-AF65-F5344CB8AC3E}">
        <p14:creationId xmlns:p14="http://schemas.microsoft.com/office/powerpoint/2010/main" val="3897779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B01C37-A640-4D69-82E8-B8BB6DC8221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E323E1C-8A71-4A33-9056-CB9B5881A1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62C8570-3D11-49BB-99A0-3C1CE056A312}"/>
              </a:ext>
            </a:extLst>
          </p:cNvPr>
          <p:cNvSpPr>
            <a:spLocks noGrp="1"/>
          </p:cNvSpPr>
          <p:nvPr>
            <p:ph type="dt" sz="half" idx="10"/>
          </p:nvPr>
        </p:nvSpPr>
        <p:spPr/>
        <p:txBody>
          <a:bodyPr/>
          <a:lstStyle/>
          <a:p>
            <a:fld id="{E5D71107-10FF-41D5-9CAC-172040F0B31A}" type="datetime1">
              <a:rPr kumimoji="1" lang="ja-JP" altLang="en-US" smtClean="0"/>
              <a:t>2025/1/25</a:t>
            </a:fld>
            <a:endParaRPr kumimoji="1" lang="ja-JP" altLang="en-US"/>
          </a:p>
        </p:txBody>
      </p:sp>
      <p:sp>
        <p:nvSpPr>
          <p:cNvPr id="5" name="フッター プレースホルダー 4">
            <a:extLst>
              <a:ext uri="{FF2B5EF4-FFF2-40B4-BE49-F238E27FC236}">
                <a16:creationId xmlns:a16="http://schemas.microsoft.com/office/drawing/2014/main" id="{6363D4A7-8279-4304-9B56-81FBD0D8894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62776FF-49EF-41DE-A0A1-A67BB9A71573}"/>
              </a:ext>
            </a:extLst>
          </p:cNvPr>
          <p:cNvSpPr>
            <a:spLocks noGrp="1"/>
          </p:cNvSpPr>
          <p:nvPr>
            <p:ph type="sldNum" sz="quarter" idx="12"/>
          </p:nvPr>
        </p:nvSpPr>
        <p:spPr/>
        <p:txBody>
          <a:bodyPr/>
          <a:lstStyle/>
          <a:p>
            <a:fld id="{F42732FB-2277-442C-9711-A45410BE01D8}" type="slidenum">
              <a:rPr kumimoji="1" lang="ja-JP" altLang="en-US" smtClean="0"/>
              <a:t>‹#›</a:t>
            </a:fld>
            <a:endParaRPr kumimoji="1" lang="ja-JP" altLang="en-US"/>
          </a:p>
        </p:txBody>
      </p:sp>
    </p:spTree>
    <p:extLst>
      <p:ext uri="{BB962C8B-B14F-4D97-AF65-F5344CB8AC3E}">
        <p14:creationId xmlns:p14="http://schemas.microsoft.com/office/powerpoint/2010/main" val="865755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C8490C-BDAC-4EC3-8D27-CBFA48EB3A0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3F8DE8-7340-42BA-8F86-B261358769E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D03C26C-A59C-470F-A74C-F6297789BBE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8B6BB21-1BFF-4556-8E45-5067C4CA5533}"/>
              </a:ext>
            </a:extLst>
          </p:cNvPr>
          <p:cNvSpPr>
            <a:spLocks noGrp="1"/>
          </p:cNvSpPr>
          <p:nvPr>
            <p:ph type="dt" sz="half" idx="10"/>
          </p:nvPr>
        </p:nvSpPr>
        <p:spPr/>
        <p:txBody>
          <a:bodyPr/>
          <a:lstStyle/>
          <a:p>
            <a:fld id="{2E883EA6-B282-4445-BA9D-6D0E1D748548}" type="datetime1">
              <a:rPr kumimoji="1" lang="ja-JP" altLang="en-US" smtClean="0"/>
              <a:t>2025/1/25</a:t>
            </a:fld>
            <a:endParaRPr kumimoji="1" lang="ja-JP" altLang="en-US"/>
          </a:p>
        </p:txBody>
      </p:sp>
      <p:sp>
        <p:nvSpPr>
          <p:cNvPr id="6" name="フッター プレースホルダー 5">
            <a:extLst>
              <a:ext uri="{FF2B5EF4-FFF2-40B4-BE49-F238E27FC236}">
                <a16:creationId xmlns:a16="http://schemas.microsoft.com/office/drawing/2014/main" id="{9C40FE98-52EF-4932-847F-C5A1023F41A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244D288-B066-4FA2-BAD3-9621891FC989}"/>
              </a:ext>
            </a:extLst>
          </p:cNvPr>
          <p:cNvSpPr>
            <a:spLocks noGrp="1"/>
          </p:cNvSpPr>
          <p:nvPr>
            <p:ph type="sldNum" sz="quarter" idx="12"/>
          </p:nvPr>
        </p:nvSpPr>
        <p:spPr/>
        <p:txBody>
          <a:bodyPr/>
          <a:lstStyle/>
          <a:p>
            <a:fld id="{F42732FB-2277-442C-9711-A45410BE01D8}" type="slidenum">
              <a:rPr kumimoji="1" lang="ja-JP" altLang="en-US" smtClean="0"/>
              <a:t>‹#›</a:t>
            </a:fld>
            <a:endParaRPr kumimoji="1" lang="ja-JP" altLang="en-US"/>
          </a:p>
        </p:txBody>
      </p:sp>
    </p:spTree>
    <p:extLst>
      <p:ext uri="{BB962C8B-B14F-4D97-AF65-F5344CB8AC3E}">
        <p14:creationId xmlns:p14="http://schemas.microsoft.com/office/powerpoint/2010/main" val="371185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F605A3-3041-42B3-B889-9529B0FEFF4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6467936-013B-4827-A7AE-4FF61D900B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6DC474C-F96E-4241-9CC6-03C50A2957F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595DBF4-485C-4AA9-86EC-260D10F643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52436F5-33C6-4849-B999-A3DC75FD613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FA7C390-A422-4917-A68A-244BE7076DC1}"/>
              </a:ext>
            </a:extLst>
          </p:cNvPr>
          <p:cNvSpPr>
            <a:spLocks noGrp="1"/>
          </p:cNvSpPr>
          <p:nvPr>
            <p:ph type="dt" sz="half" idx="10"/>
          </p:nvPr>
        </p:nvSpPr>
        <p:spPr/>
        <p:txBody>
          <a:bodyPr/>
          <a:lstStyle/>
          <a:p>
            <a:fld id="{CBA4646D-989C-4D69-B7E6-F97BB8036003}" type="datetime1">
              <a:rPr kumimoji="1" lang="ja-JP" altLang="en-US" smtClean="0"/>
              <a:t>2025/1/25</a:t>
            </a:fld>
            <a:endParaRPr kumimoji="1" lang="ja-JP" altLang="en-US"/>
          </a:p>
        </p:txBody>
      </p:sp>
      <p:sp>
        <p:nvSpPr>
          <p:cNvPr id="8" name="フッター プレースホルダー 7">
            <a:extLst>
              <a:ext uri="{FF2B5EF4-FFF2-40B4-BE49-F238E27FC236}">
                <a16:creationId xmlns:a16="http://schemas.microsoft.com/office/drawing/2014/main" id="{1646D16D-BBE7-451A-8C3E-3C5C32ED757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5E665F9-8DE6-44FD-80ED-DBEEDD48309B}"/>
              </a:ext>
            </a:extLst>
          </p:cNvPr>
          <p:cNvSpPr>
            <a:spLocks noGrp="1"/>
          </p:cNvSpPr>
          <p:nvPr>
            <p:ph type="sldNum" sz="quarter" idx="12"/>
          </p:nvPr>
        </p:nvSpPr>
        <p:spPr/>
        <p:txBody>
          <a:bodyPr/>
          <a:lstStyle/>
          <a:p>
            <a:fld id="{F42732FB-2277-442C-9711-A45410BE01D8}" type="slidenum">
              <a:rPr kumimoji="1" lang="ja-JP" altLang="en-US" smtClean="0"/>
              <a:t>‹#›</a:t>
            </a:fld>
            <a:endParaRPr kumimoji="1" lang="ja-JP" altLang="en-US"/>
          </a:p>
        </p:txBody>
      </p:sp>
    </p:spTree>
    <p:extLst>
      <p:ext uri="{BB962C8B-B14F-4D97-AF65-F5344CB8AC3E}">
        <p14:creationId xmlns:p14="http://schemas.microsoft.com/office/powerpoint/2010/main" val="2858706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9F6807-4B5E-4B84-88CA-F7333F4CB89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7F389E6-085F-43C9-A50E-EDACAAC17220}"/>
              </a:ext>
            </a:extLst>
          </p:cNvPr>
          <p:cNvSpPr>
            <a:spLocks noGrp="1"/>
          </p:cNvSpPr>
          <p:nvPr>
            <p:ph type="dt" sz="half" idx="10"/>
          </p:nvPr>
        </p:nvSpPr>
        <p:spPr/>
        <p:txBody>
          <a:bodyPr/>
          <a:lstStyle/>
          <a:p>
            <a:fld id="{75310B4F-820B-4FCA-8A41-AE73210F54B8}" type="datetime1">
              <a:rPr kumimoji="1" lang="ja-JP" altLang="en-US" smtClean="0"/>
              <a:t>2025/1/25</a:t>
            </a:fld>
            <a:endParaRPr kumimoji="1" lang="ja-JP" altLang="en-US"/>
          </a:p>
        </p:txBody>
      </p:sp>
      <p:sp>
        <p:nvSpPr>
          <p:cNvPr id="4" name="フッター プレースホルダー 3">
            <a:extLst>
              <a:ext uri="{FF2B5EF4-FFF2-40B4-BE49-F238E27FC236}">
                <a16:creationId xmlns:a16="http://schemas.microsoft.com/office/drawing/2014/main" id="{D5D421C4-0E02-4E22-8FCF-F9772A04359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DC4AF22-6920-4630-971B-C8164786CF27}"/>
              </a:ext>
            </a:extLst>
          </p:cNvPr>
          <p:cNvSpPr>
            <a:spLocks noGrp="1"/>
          </p:cNvSpPr>
          <p:nvPr>
            <p:ph type="sldNum" sz="quarter" idx="12"/>
          </p:nvPr>
        </p:nvSpPr>
        <p:spPr/>
        <p:txBody>
          <a:bodyPr/>
          <a:lstStyle/>
          <a:p>
            <a:fld id="{F42732FB-2277-442C-9711-A45410BE01D8}" type="slidenum">
              <a:rPr kumimoji="1" lang="ja-JP" altLang="en-US" smtClean="0"/>
              <a:t>‹#›</a:t>
            </a:fld>
            <a:endParaRPr kumimoji="1" lang="ja-JP" altLang="en-US"/>
          </a:p>
        </p:txBody>
      </p:sp>
    </p:spTree>
    <p:extLst>
      <p:ext uri="{BB962C8B-B14F-4D97-AF65-F5344CB8AC3E}">
        <p14:creationId xmlns:p14="http://schemas.microsoft.com/office/powerpoint/2010/main" val="2290376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8EB9863-B847-40C6-AA77-F930D789BCC7}"/>
              </a:ext>
            </a:extLst>
          </p:cNvPr>
          <p:cNvSpPr>
            <a:spLocks noGrp="1"/>
          </p:cNvSpPr>
          <p:nvPr>
            <p:ph type="dt" sz="half" idx="10"/>
          </p:nvPr>
        </p:nvSpPr>
        <p:spPr/>
        <p:txBody>
          <a:bodyPr/>
          <a:lstStyle/>
          <a:p>
            <a:fld id="{12FA3AAB-F1CA-45C9-8FF8-9F8D7209E733}" type="datetime1">
              <a:rPr kumimoji="1" lang="ja-JP" altLang="en-US" smtClean="0"/>
              <a:t>2025/1/25</a:t>
            </a:fld>
            <a:endParaRPr kumimoji="1" lang="ja-JP" altLang="en-US"/>
          </a:p>
        </p:txBody>
      </p:sp>
      <p:sp>
        <p:nvSpPr>
          <p:cNvPr id="3" name="フッター プレースホルダー 2">
            <a:extLst>
              <a:ext uri="{FF2B5EF4-FFF2-40B4-BE49-F238E27FC236}">
                <a16:creationId xmlns:a16="http://schemas.microsoft.com/office/drawing/2014/main" id="{856D4E27-457A-4957-B79F-13AD0506F76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CFF41D4-9062-4B2A-AA08-EE1073586419}"/>
              </a:ext>
            </a:extLst>
          </p:cNvPr>
          <p:cNvSpPr>
            <a:spLocks noGrp="1"/>
          </p:cNvSpPr>
          <p:nvPr>
            <p:ph type="sldNum" sz="quarter" idx="12"/>
          </p:nvPr>
        </p:nvSpPr>
        <p:spPr/>
        <p:txBody>
          <a:bodyPr/>
          <a:lstStyle/>
          <a:p>
            <a:fld id="{F42732FB-2277-442C-9711-A45410BE01D8}" type="slidenum">
              <a:rPr kumimoji="1" lang="ja-JP" altLang="en-US" smtClean="0"/>
              <a:t>‹#›</a:t>
            </a:fld>
            <a:endParaRPr kumimoji="1" lang="ja-JP" altLang="en-US"/>
          </a:p>
        </p:txBody>
      </p:sp>
    </p:spTree>
    <p:extLst>
      <p:ext uri="{BB962C8B-B14F-4D97-AF65-F5344CB8AC3E}">
        <p14:creationId xmlns:p14="http://schemas.microsoft.com/office/powerpoint/2010/main" val="3216774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49781E-15A9-44C9-AAB3-9D6006B837A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76ECA7A-0EAD-4EC5-95D5-8C2708B834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689E1D7-BE5D-4C0C-AF25-516D9533E5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BF795B-EDC7-4344-8BBD-58372E4FB041}"/>
              </a:ext>
            </a:extLst>
          </p:cNvPr>
          <p:cNvSpPr>
            <a:spLocks noGrp="1"/>
          </p:cNvSpPr>
          <p:nvPr>
            <p:ph type="dt" sz="half" idx="10"/>
          </p:nvPr>
        </p:nvSpPr>
        <p:spPr/>
        <p:txBody>
          <a:bodyPr/>
          <a:lstStyle/>
          <a:p>
            <a:fld id="{A951003F-B8C2-4F8B-9441-6F8C3AE8835E}" type="datetime1">
              <a:rPr kumimoji="1" lang="ja-JP" altLang="en-US" smtClean="0"/>
              <a:t>2025/1/25</a:t>
            </a:fld>
            <a:endParaRPr kumimoji="1" lang="ja-JP" altLang="en-US"/>
          </a:p>
        </p:txBody>
      </p:sp>
      <p:sp>
        <p:nvSpPr>
          <p:cNvPr id="6" name="フッター プレースホルダー 5">
            <a:extLst>
              <a:ext uri="{FF2B5EF4-FFF2-40B4-BE49-F238E27FC236}">
                <a16:creationId xmlns:a16="http://schemas.microsoft.com/office/drawing/2014/main" id="{16265332-E088-45C9-928A-F6BE4852D36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36DF880-6FE9-4223-874F-793BFB9F513A}"/>
              </a:ext>
            </a:extLst>
          </p:cNvPr>
          <p:cNvSpPr>
            <a:spLocks noGrp="1"/>
          </p:cNvSpPr>
          <p:nvPr>
            <p:ph type="sldNum" sz="quarter" idx="12"/>
          </p:nvPr>
        </p:nvSpPr>
        <p:spPr/>
        <p:txBody>
          <a:bodyPr/>
          <a:lstStyle/>
          <a:p>
            <a:fld id="{F42732FB-2277-442C-9711-A45410BE01D8}" type="slidenum">
              <a:rPr kumimoji="1" lang="ja-JP" altLang="en-US" smtClean="0"/>
              <a:t>‹#›</a:t>
            </a:fld>
            <a:endParaRPr kumimoji="1" lang="ja-JP" altLang="en-US"/>
          </a:p>
        </p:txBody>
      </p:sp>
    </p:spTree>
    <p:extLst>
      <p:ext uri="{BB962C8B-B14F-4D97-AF65-F5344CB8AC3E}">
        <p14:creationId xmlns:p14="http://schemas.microsoft.com/office/powerpoint/2010/main" val="1861236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DE0FE7-5AFA-4C94-A1ED-DDB02F59592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0BBBEF5-54C4-4E89-A1CD-9A66522351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B3D2F98-E95B-4118-A6BD-6E82315D4B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F34040C-6F5D-45DC-BDCC-9814856757E2}"/>
              </a:ext>
            </a:extLst>
          </p:cNvPr>
          <p:cNvSpPr>
            <a:spLocks noGrp="1"/>
          </p:cNvSpPr>
          <p:nvPr>
            <p:ph type="dt" sz="half" idx="10"/>
          </p:nvPr>
        </p:nvSpPr>
        <p:spPr/>
        <p:txBody>
          <a:bodyPr/>
          <a:lstStyle/>
          <a:p>
            <a:fld id="{4C238155-D089-4F59-A746-D34EE05545CB}" type="datetime1">
              <a:rPr kumimoji="1" lang="ja-JP" altLang="en-US" smtClean="0"/>
              <a:t>2025/1/25</a:t>
            </a:fld>
            <a:endParaRPr kumimoji="1" lang="ja-JP" altLang="en-US"/>
          </a:p>
        </p:txBody>
      </p:sp>
      <p:sp>
        <p:nvSpPr>
          <p:cNvPr id="6" name="フッター プレースホルダー 5">
            <a:extLst>
              <a:ext uri="{FF2B5EF4-FFF2-40B4-BE49-F238E27FC236}">
                <a16:creationId xmlns:a16="http://schemas.microsoft.com/office/drawing/2014/main" id="{CFCC460E-2C93-4C26-A51D-95B33E8B203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FBC5E99-5AE4-4377-9532-267D7911EEDF}"/>
              </a:ext>
            </a:extLst>
          </p:cNvPr>
          <p:cNvSpPr>
            <a:spLocks noGrp="1"/>
          </p:cNvSpPr>
          <p:nvPr>
            <p:ph type="sldNum" sz="quarter" idx="12"/>
          </p:nvPr>
        </p:nvSpPr>
        <p:spPr/>
        <p:txBody>
          <a:bodyPr/>
          <a:lstStyle/>
          <a:p>
            <a:fld id="{F42732FB-2277-442C-9711-A45410BE01D8}" type="slidenum">
              <a:rPr kumimoji="1" lang="ja-JP" altLang="en-US" smtClean="0"/>
              <a:t>‹#›</a:t>
            </a:fld>
            <a:endParaRPr kumimoji="1" lang="ja-JP" altLang="en-US"/>
          </a:p>
        </p:txBody>
      </p:sp>
    </p:spTree>
    <p:extLst>
      <p:ext uri="{BB962C8B-B14F-4D97-AF65-F5344CB8AC3E}">
        <p14:creationId xmlns:p14="http://schemas.microsoft.com/office/powerpoint/2010/main" val="2667539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AF93AC-6241-488F-AF3F-D2C3EB39DD4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B1AD9EB-4180-4EF1-9490-8FD6BCAE00D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5C8810A-EA1B-4011-9C07-E99BCCE380F1}"/>
              </a:ext>
            </a:extLst>
          </p:cNvPr>
          <p:cNvSpPr>
            <a:spLocks noGrp="1"/>
          </p:cNvSpPr>
          <p:nvPr>
            <p:ph type="dt" sz="half" idx="10"/>
          </p:nvPr>
        </p:nvSpPr>
        <p:spPr/>
        <p:txBody>
          <a:bodyPr/>
          <a:lstStyle/>
          <a:p>
            <a:fld id="{48047C67-66D3-45EC-B54C-A47C4E4079C2}" type="datetime1">
              <a:rPr kumimoji="1" lang="ja-JP" altLang="en-US" smtClean="0"/>
              <a:t>2025/1/25</a:t>
            </a:fld>
            <a:endParaRPr kumimoji="1" lang="ja-JP" altLang="en-US"/>
          </a:p>
        </p:txBody>
      </p:sp>
      <p:sp>
        <p:nvSpPr>
          <p:cNvPr id="5" name="フッター プレースホルダー 4">
            <a:extLst>
              <a:ext uri="{FF2B5EF4-FFF2-40B4-BE49-F238E27FC236}">
                <a16:creationId xmlns:a16="http://schemas.microsoft.com/office/drawing/2014/main" id="{BC2B6C0A-88BE-453E-A80F-2E15EE5CBD0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290394B-F967-446F-B294-02F8C937F910}"/>
              </a:ext>
            </a:extLst>
          </p:cNvPr>
          <p:cNvSpPr>
            <a:spLocks noGrp="1"/>
          </p:cNvSpPr>
          <p:nvPr>
            <p:ph type="sldNum" sz="quarter" idx="12"/>
          </p:nvPr>
        </p:nvSpPr>
        <p:spPr/>
        <p:txBody>
          <a:bodyPr/>
          <a:lstStyle/>
          <a:p>
            <a:fld id="{F42732FB-2277-442C-9711-A45410BE01D8}" type="slidenum">
              <a:rPr kumimoji="1" lang="ja-JP" altLang="en-US" smtClean="0"/>
              <a:t>‹#›</a:t>
            </a:fld>
            <a:endParaRPr kumimoji="1" lang="ja-JP" altLang="en-US"/>
          </a:p>
        </p:txBody>
      </p:sp>
    </p:spTree>
    <p:extLst>
      <p:ext uri="{BB962C8B-B14F-4D97-AF65-F5344CB8AC3E}">
        <p14:creationId xmlns:p14="http://schemas.microsoft.com/office/powerpoint/2010/main" val="2648704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A9451B0-3101-488E-9136-E32BF51170B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F97450C-4DEE-46E1-AB53-559E5049C8B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E5AA675-F30A-4A11-8AA0-C3AF3F9D4E2F}"/>
              </a:ext>
            </a:extLst>
          </p:cNvPr>
          <p:cNvSpPr>
            <a:spLocks noGrp="1"/>
          </p:cNvSpPr>
          <p:nvPr>
            <p:ph type="dt" sz="half" idx="10"/>
          </p:nvPr>
        </p:nvSpPr>
        <p:spPr/>
        <p:txBody>
          <a:bodyPr/>
          <a:lstStyle/>
          <a:p>
            <a:fld id="{0F1194B9-03CB-4F38-B580-35F980720A3D}" type="datetime1">
              <a:rPr kumimoji="1" lang="ja-JP" altLang="en-US" smtClean="0"/>
              <a:t>2025/1/25</a:t>
            </a:fld>
            <a:endParaRPr kumimoji="1" lang="ja-JP" altLang="en-US"/>
          </a:p>
        </p:txBody>
      </p:sp>
      <p:sp>
        <p:nvSpPr>
          <p:cNvPr id="5" name="フッター プレースホルダー 4">
            <a:extLst>
              <a:ext uri="{FF2B5EF4-FFF2-40B4-BE49-F238E27FC236}">
                <a16:creationId xmlns:a16="http://schemas.microsoft.com/office/drawing/2014/main" id="{6D250E54-81AF-4EAA-9660-6AF8A05A49D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0F4926-ABFA-4402-8334-AF2404F4BF39}"/>
              </a:ext>
            </a:extLst>
          </p:cNvPr>
          <p:cNvSpPr>
            <a:spLocks noGrp="1"/>
          </p:cNvSpPr>
          <p:nvPr>
            <p:ph type="sldNum" sz="quarter" idx="12"/>
          </p:nvPr>
        </p:nvSpPr>
        <p:spPr/>
        <p:txBody>
          <a:bodyPr/>
          <a:lstStyle/>
          <a:p>
            <a:fld id="{F42732FB-2277-442C-9711-A45410BE01D8}" type="slidenum">
              <a:rPr kumimoji="1" lang="ja-JP" altLang="en-US" smtClean="0"/>
              <a:t>‹#›</a:t>
            </a:fld>
            <a:endParaRPr kumimoji="1" lang="ja-JP" altLang="en-US"/>
          </a:p>
        </p:txBody>
      </p:sp>
    </p:spTree>
    <p:extLst>
      <p:ext uri="{BB962C8B-B14F-4D97-AF65-F5344CB8AC3E}">
        <p14:creationId xmlns:p14="http://schemas.microsoft.com/office/powerpoint/2010/main" val="1868595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D2EF981-E078-4E37-A0F9-5796611A14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E09353D-B623-4324-933A-8B78A15C21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0B9714C-C6FA-4FA3-8461-8580E14B05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274330-D7F4-4FDC-B5B4-59976DEBC4AF}" type="datetime1">
              <a:rPr kumimoji="1" lang="ja-JP" altLang="en-US" smtClean="0"/>
              <a:t>2025/1/25</a:t>
            </a:fld>
            <a:endParaRPr kumimoji="1" lang="ja-JP" altLang="en-US"/>
          </a:p>
        </p:txBody>
      </p:sp>
      <p:sp>
        <p:nvSpPr>
          <p:cNvPr id="5" name="フッター プレースホルダー 4">
            <a:extLst>
              <a:ext uri="{FF2B5EF4-FFF2-40B4-BE49-F238E27FC236}">
                <a16:creationId xmlns:a16="http://schemas.microsoft.com/office/drawing/2014/main" id="{9E59B2B0-92AF-487F-97E8-0D6AE7B9DE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A7B709D-DD19-43CA-808D-3A90E78333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2732FB-2277-442C-9711-A45410BE01D8}" type="slidenum">
              <a:rPr kumimoji="1" lang="ja-JP" altLang="en-US" smtClean="0"/>
              <a:t>‹#›</a:t>
            </a:fld>
            <a:endParaRPr kumimoji="1" lang="ja-JP" altLang="en-US"/>
          </a:p>
        </p:txBody>
      </p:sp>
    </p:spTree>
    <p:extLst>
      <p:ext uri="{BB962C8B-B14F-4D97-AF65-F5344CB8AC3E}">
        <p14:creationId xmlns:p14="http://schemas.microsoft.com/office/powerpoint/2010/main" val="3840435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6.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4A3ACC1-D107-4C7D-A719-89C6EC4DD26A}"/>
              </a:ext>
            </a:extLst>
          </p:cNvPr>
          <p:cNvSpPr txBox="1"/>
          <p:nvPr/>
        </p:nvSpPr>
        <p:spPr>
          <a:xfrm>
            <a:off x="-82779" y="1073258"/>
            <a:ext cx="12357545" cy="1908215"/>
          </a:xfrm>
          <a:prstGeom prst="rect">
            <a:avLst/>
          </a:prstGeom>
          <a:noFill/>
        </p:spPr>
        <p:txBody>
          <a:bodyPr wrap="square" rtlCol="0">
            <a:spAutoFit/>
          </a:bodyPr>
          <a:lstStyle/>
          <a:p>
            <a:pPr algn="ctr"/>
            <a:r>
              <a:rPr lang="ja-JP" altLang="en-US" sz="5900" b="1" dirty="0">
                <a:latin typeface="BIZ UDPゴシック" panose="020B0400000000000000" pitchFamily="50" charset="-128"/>
                <a:ea typeface="BIZ UDPゴシック" panose="020B0400000000000000" pitchFamily="50" charset="-128"/>
              </a:rPr>
              <a:t>感情分析と時系列モデルを統合した</a:t>
            </a:r>
            <a:endParaRPr lang="en-US" altLang="ja-JP" sz="5900" b="1" dirty="0">
              <a:latin typeface="BIZ UDPゴシック" panose="020B0400000000000000" pitchFamily="50" charset="-128"/>
              <a:ea typeface="BIZ UDPゴシック" panose="020B0400000000000000" pitchFamily="50" charset="-128"/>
            </a:endParaRPr>
          </a:p>
          <a:p>
            <a:pPr algn="ctr"/>
            <a:r>
              <a:rPr lang="ja-JP" altLang="en-US" sz="5900" b="1" dirty="0">
                <a:latin typeface="BIZ UDPゴシック" panose="020B0400000000000000" pitchFamily="50" charset="-128"/>
                <a:ea typeface="BIZ UDPゴシック" panose="020B0400000000000000" pitchFamily="50" charset="-128"/>
              </a:rPr>
              <a:t>データ駆動型予測システムの開発</a:t>
            </a:r>
            <a:endParaRPr kumimoji="1" lang="ja-JP" altLang="en-US" sz="59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A1FFD346-4765-44FA-86D0-08185EE76D82}"/>
              </a:ext>
            </a:extLst>
          </p:cNvPr>
          <p:cNvSpPr txBox="1"/>
          <p:nvPr/>
        </p:nvSpPr>
        <p:spPr>
          <a:xfrm>
            <a:off x="1013003" y="4199410"/>
            <a:ext cx="10165977" cy="1938992"/>
          </a:xfrm>
          <a:prstGeom prst="rect">
            <a:avLst/>
          </a:prstGeom>
          <a:noFill/>
        </p:spPr>
        <p:txBody>
          <a:bodyPr wrap="square" rtlCol="0">
            <a:spAutoFit/>
          </a:bodyPr>
          <a:lstStyle/>
          <a:p>
            <a:pPr algn="ctr"/>
            <a:r>
              <a:rPr kumimoji="1" lang="ja-JP" altLang="en-US" sz="4000" dirty="0">
                <a:latin typeface="BIZ UDPゴシック" panose="020B0400000000000000" pitchFamily="50" charset="-128"/>
                <a:ea typeface="BIZ UDPゴシック" panose="020B0400000000000000" pitchFamily="50" charset="-128"/>
              </a:rPr>
              <a:t>東京都立産業技術高等専門学校</a:t>
            </a:r>
            <a:endParaRPr kumimoji="1" lang="en-US" altLang="ja-JP" sz="4000" dirty="0">
              <a:latin typeface="BIZ UDPゴシック" panose="020B0400000000000000" pitchFamily="50" charset="-128"/>
              <a:ea typeface="BIZ UDPゴシック" panose="020B0400000000000000" pitchFamily="50" charset="-128"/>
            </a:endParaRPr>
          </a:p>
          <a:p>
            <a:pPr algn="ctr"/>
            <a:r>
              <a:rPr kumimoji="1" lang="ja-JP" altLang="en-US" sz="4000" dirty="0">
                <a:latin typeface="BIZ UDPゴシック" panose="020B0400000000000000" pitchFamily="50" charset="-128"/>
                <a:ea typeface="BIZ UDPゴシック" panose="020B0400000000000000" pitchFamily="50" charset="-128"/>
              </a:rPr>
              <a:t>○下沢 亮太郎 ・ 蓑手 智紀 ・ 石垣 雄太朗</a:t>
            </a:r>
            <a:endParaRPr kumimoji="1" lang="en-GB" altLang="ja-JP" sz="4000" dirty="0">
              <a:latin typeface="BIZ UDPゴシック" panose="020B0400000000000000" pitchFamily="50" charset="-128"/>
              <a:ea typeface="BIZ UDPゴシック" panose="020B0400000000000000" pitchFamily="50" charset="-128"/>
            </a:endParaRPr>
          </a:p>
          <a:p>
            <a:pPr algn="ctr"/>
            <a:r>
              <a:rPr kumimoji="1" lang="ja-JP" altLang="en-US" sz="4000" dirty="0">
                <a:latin typeface="BIZ UDPゴシック" panose="020B0400000000000000" pitchFamily="50" charset="-128"/>
                <a:ea typeface="BIZ UDPゴシック" panose="020B0400000000000000" pitchFamily="50" charset="-128"/>
              </a:rPr>
              <a:t>高田 拓 ・ 笠原 美左和</a:t>
            </a:r>
          </a:p>
        </p:txBody>
      </p:sp>
      <p:sp>
        <p:nvSpPr>
          <p:cNvPr id="2" name="テキスト ボックス 1">
            <a:extLst>
              <a:ext uri="{FF2B5EF4-FFF2-40B4-BE49-F238E27FC236}">
                <a16:creationId xmlns:a16="http://schemas.microsoft.com/office/drawing/2014/main" id="{01CC3232-9B16-91B2-073B-CDA88D8C83FE}"/>
              </a:ext>
            </a:extLst>
          </p:cNvPr>
          <p:cNvSpPr txBox="1"/>
          <p:nvPr/>
        </p:nvSpPr>
        <p:spPr>
          <a:xfrm>
            <a:off x="1013004" y="3076310"/>
            <a:ext cx="10165977" cy="769441"/>
          </a:xfrm>
          <a:prstGeom prst="rect">
            <a:avLst/>
          </a:prstGeom>
          <a:noFill/>
        </p:spPr>
        <p:txBody>
          <a:bodyPr wrap="square" rtlCol="0">
            <a:spAutoFit/>
          </a:bodyPr>
          <a:lstStyle/>
          <a:p>
            <a:pPr algn="ctr"/>
            <a:r>
              <a:rPr kumimoji="1" lang="en-GB" altLang="ja-JP" sz="4400" b="1" dirty="0">
                <a:latin typeface="BIZ UDPゴシック" panose="020B0400000000000000" pitchFamily="50" charset="-128"/>
                <a:ea typeface="BIZ UDPゴシック" panose="020B0400000000000000" pitchFamily="50" charset="-128"/>
              </a:rPr>
              <a:t>— PBL </a:t>
            </a:r>
            <a:r>
              <a:rPr kumimoji="1" lang="ja-JP" altLang="en-US" sz="4400" b="1" dirty="0">
                <a:latin typeface="BIZ UDPゴシック" panose="020B0400000000000000" pitchFamily="50" charset="-128"/>
                <a:ea typeface="BIZ UDPゴシック" panose="020B0400000000000000" pitchFamily="50" charset="-128"/>
              </a:rPr>
              <a:t>科目実践紹介 </a:t>
            </a:r>
            <a:r>
              <a:rPr kumimoji="1" lang="en-US" altLang="ja-JP" sz="4400" b="1" dirty="0">
                <a:latin typeface="BIZ UDPゴシック" panose="020B0400000000000000" pitchFamily="50" charset="-128"/>
                <a:ea typeface="BIZ UDPゴシック" panose="020B0400000000000000" pitchFamily="50" charset="-128"/>
              </a:rPr>
              <a:t>—</a:t>
            </a:r>
            <a:endParaRPr kumimoji="1" lang="ja-JP" altLang="en-US" sz="4400" b="1" dirty="0">
              <a:latin typeface="BIZ UDPゴシック" panose="020B0400000000000000" pitchFamily="50" charset="-128"/>
              <a:ea typeface="BIZ UDPゴシック" panose="020B0400000000000000" pitchFamily="50" charset="-128"/>
            </a:endParaRPr>
          </a:p>
        </p:txBody>
      </p:sp>
      <p:sp>
        <p:nvSpPr>
          <p:cNvPr id="5" name="Slide Number Placeholder 4">
            <a:extLst>
              <a:ext uri="{FF2B5EF4-FFF2-40B4-BE49-F238E27FC236}">
                <a16:creationId xmlns:a16="http://schemas.microsoft.com/office/drawing/2014/main" id="{F30E2F46-5B63-83E6-D438-1DB8042BC75A}"/>
              </a:ext>
            </a:extLst>
          </p:cNvPr>
          <p:cNvSpPr>
            <a:spLocks noGrp="1"/>
          </p:cNvSpPr>
          <p:nvPr>
            <p:ph type="sldNum" sz="quarter" idx="12"/>
          </p:nvPr>
        </p:nvSpPr>
        <p:spPr/>
        <p:txBody>
          <a:bodyPr/>
          <a:lstStyle/>
          <a:p>
            <a:fld id="{F42732FB-2277-442C-9711-A45410BE01D8}" type="slidenum">
              <a:rPr kumimoji="1" lang="ja-JP" altLang="en-US" smtClean="0"/>
              <a:t>1</a:t>
            </a:fld>
            <a:endParaRPr kumimoji="1" lang="ja-JP" altLang="en-US"/>
          </a:p>
        </p:txBody>
      </p:sp>
    </p:spTree>
    <p:extLst>
      <p:ext uri="{BB962C8B-B14F-4D97-AF65-F5344CB8AC3E}">
        <p14:creationId xmlns:p14="http://schemas.microsoft.com/office/powerpoint/2010/main" val="1458054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4B77D-3A5D-E7E5-26D8-17055A7DFC99}"/>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BE2BB159-5F93-9C85-E418-195C64FAC05A}"/>
              </a:ext>
            </a:extLst>
          </p:cNvPr>
          <p:cNvSpPr txBox="1"/>
          <p:nvPr/>
        </p:nvSpPr>
        <p:spPr>
          <a:xfrm>
            <a:off x="90534" y="2052906"/>
            <a:ext cx="12010931" cy="3016210"/>
          </a:xfrm>
          <a:prstGeom prst="rect">
            <a:avLst/>
          </a:prstGeom>
          <a:noFill/>
        </p:spPr>
        <p:txBody>
          <a:bodyPr wrap="square" rtlCol="0">
            <a:spAutoFit/>
          </a:bodyPr>
          <a:lstStyle/>
          <a:p>
            <a:pPr algn="ctr"/>
            <a:r>
              <a:rPr lang="ja-JP" altLang="en-US" sz="3800" dirty="0">
                <a:latin typeface="BIZ UDPゴシック" panose="020B0400000000000000" pitchFamily="50" charset="-128"/>
                <a:ea typeface="BIZ UDPゴシック" panose="020B0400000000000000" pitchFamily="50" charset="-128"/>
              </a:rPr>
              <a:t>都立産技高専荒川キャンパスでは、</a:t>
            </a:r>
            <a:endParaRPr lang="en-GB" altLang="ja-JP" sz="3800" dirty="0">
              <a:latin typeface="BIZ UDPゴシック" panose="020B0400000000000000" pitchFamily="50" charset="-128"/>
              <a:ea typeface="BIZ UDPゴシック" panose="020B0400000000000000" pitchFamily="50" charset="-128"/>
            </a:endParaRPr>
          </a:p>
          <a:p>
            <a:pPr algn="ctr"/>
            <a:r>
              <a:rPr lang="ja-JP" altLang="en-US" sz="3800" dirty="0">
                <a:latin typeface="BIZ UDPゴシック" panose="020B0400000000000000" pitchFamily="50" charset="-128"/>
                <a:ea typeface="BIZ UDPゴシック" panose="020B0400000000000000" pitchFamily="50" charset="-128"/>
              </a:rPr>
              <a:t>選抜された</a:t>
            </a:r>
            <a:r>
              <a:rPr lang="en-GB" altLang="ja-JP" sz="3800" dirty="0">
                <a:latin typeface="BIZ UDPゴシック" panose="020B0400000000000000" pitchFamily="50" charset="-128"/>
                <a:ea typeface="BIZ UDPゴシック" panose="020B0400000000000000" pitchFamily="50" charset="-128"/>
              </a:rPr>
              <a:t>3</a:t>
            </a:r>
            <a:r>
              <a:rPr lang="ja-JP" altLang="en-US" sz="3800" dirty="0">
                <a:latin typeface="BIZ UDPゴシック" panose="020B0400000000000000" pitchFamily="50" charset="-128"/>
                <a:ea typeface="BIZ UDPゴシック" panose="020B0400000000000000" pitchFamily="50" charset="-128"/>
              </a:rPr>
              <a:t>～</a:t>
            </a:r>
            <a:r>
              <a:rPr lang="en-GB" altLang="ja-JP" sz="3800" dirty="0">
                <a:latin typeface="BIZ UDPゴシック" panose="020B0400000000000000" pitchFamily="50" charset="-128"/>
                <a:ea typeface="BIZ UDPゴシック" panose="020B0400000000000000" pitchFamily="50" charset="-128"/>
              </a:rPr>
              <a:t>5</a:t>
            </a:r>
            <a:r>
              <a:rPr lang="ja-JP" altLang="en-US" sz="3800" dirty="0">
                <a:latin typeface="BIZ UDPゴシック" panose="020B0400000000000000" pitchFamily="50" charset="-128"/>
                <a:ea typeface="BIZ UDPゴシック" panose="020B0400000000000000" pitchFamily="50" charset="-128"/>
              </a:rPr>
              <a:t>年生が</a:t>
            </a:r>
            <a:r>
              <a:rPr lang="en-US" altLang="ja-JP" sz="3800" dirty="0">
                <a:latin typeface="BIZ UDPゴシック" panose="020B0400000000000000" pitchFamily="50" charset="-128"/>
                <a:ea typeface="BIZ UDPゴシック" panose="020B0400000000000000" pitchFamily="50" charset="-128"/>
              </a:rPr>
              <a:t>IoT/AI</a:t>
            </a:r>
            <a:r>
              <a:rPr lang="ja-JP" altLang="en-US" sz="3800" dirty="0">
                <a:latin typeface="BIZ UDPゴシック" panose="020B0400000000000000" pitchFamily="50" charset="-128"/>
                <a:ea typeface="BIZ UDPゴシック" panose="020B0400000000000000" pitchFamily="50" charset="-128"/>
              </a:rPr>
              <a:t>技術を学ぶ</a:t>
            </a:r>
            <a:endParaRPr lang="en-GB" altLang="ja-JP" sz="3800" dirty="0">
              <a:latin typeface="BIZ UDPゴシック" panose="020B0400000000000000" pitchFamily="50" charset="-128"/>
              <a:ea typeface="BIZ UDPゴシック" panose="020B0400000000000000" pitchFamily="50" charset="-128"/>
            </a:endParaRPr>
          </a:p>
          <a:p>
            <a:pPr algn="ctr"/>
            <a:r>
              <a:rPr lang="ja-JP" altLang="en-US" sz="3800" dirty="0">
                <a:latin typeface="BIZ UDPゴシック" panose="020B0400000000000000" pitchFamily="50" charset="-128"/>
                <a:ea typeface="BIZ UDPゴシック" panose="020B0400000000000000" pitchFamily="50" charset="-128"/>
              </a:rPr>
              <a:t>未来工学教育プログラムを受講しています。</a:t>
            </a:r>
            <a:endParaRPr lang="en-GB" altLang="ja-JP" sz="3800" dirty="0">
              <a:latin typeface="BIZ UDPゴシック" panose="020B0400000000000000" pitchFamily="50" charset="-128"/>
              <a:ea typeface="BIZ UDPゴシック" panose="020B0400000000000000" pitchFamily="50" charset="-128"/>
            </a:endParaRPr>
          </a:p>
          <a:p>
            <a:pPr algn="ctr"/>
            <a:r>
              <a:rPr lang="ja-JP" altLang="en-US" sz="3800" dirty="0">
                <a:latin typeface="BIZ UDPゴシック" panose="020B0400000000000000" pitchFamily="50" charset="-128"/>
                <a:ea typeface="BIZ UDPゴシック" panose="020B0400000000000000" pitchFamily="50" charset="-128"/>
              </a:rPr>
              <a:t>本年度の前期週</a:t>
            </a:r>
            <a:r>
              <a:rPr lang="en-GB" altLang="ja-JP" sz="3800" dirty="0">
                <a:latin typeface="BIZ UDPゴシック" panose="020B0400000000000000" pitchFamily="50" charset="-128"/>
                <a:ea typeface="BIZ UDPゴシック" panose="020B0400000000000000" pitchFamily="50" charset="-128"/>
              </a:rPr>
              <a:t>1</a:t>
            </a:r>
            <a:r>
              <a:rPr lang="ja-JP" altLang="en-US" sz="3800" dirty="0">
                <a:latin typeface="BIZ UDPゴシック" panose="020B0400000000000000" pitchFamily="50" charset="-128"/>
                <a:ea typeface="BIZ UDPゴシック" panose="020B0400000000000000" pitchFamily="50" charset="-128"/>
              </a:rPr>
              <a:t>コマに</a:t>
            </a:r>
            <a:r>
              <a:rPr lang="en-US" altLang="ja-JP" sz="3800" dirty="0">
                <a:latin typeface="BIZ UDPゴシック" panose="020B0400000000000000" pitchFamily="50" charset="-128"/>
                <a:ea typeface="BIZ UDPゴシック" panose="020B0400000000000000" pitchFamily="50" charset="-128"/>
              </a:rPr>
              <a:t>5</a:t>
            </a:r>
            <a:r>
              <a:rPr lang="ja-JP" altLang="en-US" sz="3800" dirty="0">
                <a:latin typeface="BIZ UDPゴシック" panose="020B0400000000000000" pitchFamily="50" charset="-128"/>
                <a:ea typeface="BIZ UDPゴシック" panose="020B0400000000000000" pitchFamily="50" charset="-128"/>
              </a:rPr>
              <a:t>年生を対象に学んだ知識を</a:t>
            </a:r>
            <a:endParaRPr lang="en-GB" altLang="ja-JP" sz="3800" dirty="0">
              <a:latin typeface="BIZ UDPゴシック" panose="020B0400000000000000" pitchFamily="50" charset="-128"/>
              <a:ea typeface="BIZ UDPゴシック" panose="020B0400000000000000" pitchFamily="50" charset="-128"/>
            </a:endParaRPr>
          </a:p>
          <a:p>
            <a:pPr algn="ctr"/>
            <a:r>
              <a:rPr lang="ja-JP" altLang="en-US" sz="3800" dirty="0">
                <a:latin typeface="BIZ UDPゴシック" panose="020B0400000000000000" pitchFamily="50" charset="-128"/>
                <a:ea typeface="BIZ UDPゴシック" panose="020B0400000000000000" pitchFamily="50" charset="-128"/>
              </a:rPr>
              <a:t>活用し、アイデアを形にする</a:t>
            </a:r>
            <a:r>
              <a:rPr lang="en-US" altLang="ja-JP" sz="3800" dirty="0">
                <a:latin typeface="BIZ UDPゴシック" panose="020B0400000000000000" pitchFamily="50" charset="-128"/>
                <a:ea typeface="BIZ UDPゴシック" panose="020B0400000000000000" pitchFamily="50" charset="-128"/>
              </a:rPr>
              <a:t>PBL</a:t>
            </a:r>
            <a:r>
              <a:rPr lang="ja-JP" altLang="en-US" sz="3800" dirty="0">
                <a:latin typeface="BIZ UDPゴシック" panose="020B0400000000000000" pitchFamily="50" charset="-128"/>
                <a:ea typeface="BIZ UDPゴシック" panose="020B0400000000000000" pitchFamily="50" charset="-128"/>
              </a:rPr>
              <a:t>科目が行われました。</a:t>
            </a:r>
          </a:p>
        </p:txBody>
      </p:sp>
      <p:sp>
        <p:nvSpPr>
          <p:cNvPr id="3" name="Slide Number Placeholder 2">
            <a:extLst>
              <a:ext uri="{FF2B5EF4-FFF2-40B4-BE49-F238E27FC236}">
                <a16:creationId xmlns:a16="http://schemas.microsoft.com/office/drawing/2014/main" id="{7ACB673E-81C0-DB7B-B5DF-F7E3C30B8CC4}"/>
              </a:ext>
            </a:extLst>
          </p:cNvPr>
          <p:cNvSpPr>
            <a:spLocks noGrp="1"/>
          </p:cNvSpPr>
          <p:nvPr>
            <p:ph type="sldNum" sz="quarter" idx="12"/>
          </p:nvPr>
        </p:nvSpPr>
        <p:spPr/>
        <p:txBody>
          <a:bodyPr/>
          <a:lstStyle/>
          <a:p>
            <a:fld id="{F42732FB-2277-442C-9711-A45410BE01D8}" type="slidenum">
              <a:rPr kumimoji="1" lang="ja-JP" altLang="en-US" smtClean="0"/>
              <a:t>2</a:t>
            </a:fld>
            <a:endParaRPr kumimoji="1" lang="ja-JP" altLang="en-US"/>
          </a:p>
        </p:txBody>
      </p:sp>
      <p:sp>
        <p:nvSpPr>
          <p:cNvPr id="6" name="テキスト ボックス 1">
            <a:extLst>
              <a:ext uri="{FF2B5EF4-FFF2-40B4-BE49-F238E27FC236}">
                <a16:creationId xmlns:a16="http://schemas.microsoft.com/office/drawing/2014/main" id="{D8C37D9B-E1A0-CA5B-3D9F-84AC871ABF74}"/>
              </a:ext>
            </a:extLst>
          </p:cNvPr>
          <p:cNvSpPr txBox="1"/>
          <p:nvPr/>
        </p:nvSpPr>
        <p:spPr>
          <a:xfrm>
            <a:off x="247327" y="188445"/>
            <a:ext cx="3376406" cy="1200329"/>
          </a:xfrm>
          <a:prstGeom prst="rect">
            <a:avLst/>
          </a:prstGeom>
          <a:noFill/>
        </p:spPr>
        <p:txBody>
          <a:bodyPr wrap="square" rtlCol="0">
            <a:spAutoFit/>
          </a:bodyPr>
          <a:lstStyle/>
          <a:p>
            <a:r>
              <a:rPr kumimoji="1" lang="ja-JP" altLang="en-US" sz="7200" b="1" dirty="0">
                <a:latin typeface="BIZ UDPゴシック" panose="020B0400000000000000" pitchFamily="50" charset="-128"/>
                <a:ea typeface="BIZ UDPゴシック" panose="020B0400000000000000" pitchFamily="50" charset="-128"/>
              </a:rPr>
              <a:t>初めに</a:t>
            </a:r>
          </a:p>
        </p:txBody>
      </p:sp>
    </p:spTree>
    <p:extLst>
      <p:ext uri="{BB962C8B-B14F-4D97-AF65-F5344CB8AC3E}">
        <p14:creationId xmlns:p14="http://schemas.microsoft.com/office/powerpoint/2010/main" val="2588788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8328FAAC-671D-4848-AFAA-E9386F467836}"/>
              </a:ext>
            </a:extLst>
          </p:cNvPr>
          <p:cNvSpPr txBox="1"/>
          <p:nvPr/>
        </p:nvSpPr>
        <p:spPr>
          <a:xfrm>
            <a:off x="494112" y="2798058"/>
            <a:ext cx="11203775" cy="1261884"/>
          </a:xfrm>
          <a:prstGeom prst="rect">
            <a:avLst/>
          </a:prstGeom>
          <a:noFill/>
        </p:spPr>
        <p:txBody>
          <a:bodyPr wrap="square" rtlCol="0">
            <a:spAutoFit/>
          </a:bodyPr>
          <a:lstStyle/>
          <a:p>
            <a:pPr algn="ctr"/>
            <a:r>
              <a:rPr kumimoji="1" lang="ja-JP" altLang="en-US" sz="3800" dirty="0">
                <a:latin typeface="BIZ UDPゴシック" panose="020B0400000000000000" pitchFamily="50" charset="-128"/>
                <a:ea typeface="BIZ UDPゴシック" panose="020B0400000000000000" pitchFamily="50" charset="-128"/>
              </a:rPr>
              <a:t>せっかく</a:t>
            </a:r>
            <a:r>
              <a:rPr kumimoji="1" lang="en-US" altLang="ja-JP" sz="3800" dirty="0">
                <a:latin typeface="BIZ UDPゴシック" panose="020B0400000000000000" pitchFamily="50" charset="-128"/>
                <a:ea typeface="BIZ UDPゴシック" panose="020B0400000000000000" pitchFamily="50" charset="-128"/>
              </a:rPr>
              <a:t>NISA</a:t>
            </a:r>
            <a:r>
              <a:rPr lang="ja-JP" altLang="en-US" sz="3800" dirty="0">
                <a:latin typeface="BIZ UDPゴシック" panose="020B0400000000000000" pitchFamily="50" charset="-128"/>
                <a:ea typeface="BIZ UDPゴシック" panose="020B0400000000000000" pitchFamily="50" charset="-128"/>
              </a:rPr>
              <a:t>口座を持てる年齢になったのだから</a:t>
            </a:r>
            <a:endParaRPr lang="en-GB" altLang="ja-JP" sz="3800" dirty="0">
              <a:latin typeface="BIZ UDPゴシック" panose="020B0400000000000000" pitchFamily="50" charset="-128"/>
              <a:ea typeface="BIZ UDPゴシック" panose="020B0400000000000000" pitchFamily="50" charset="-128"/>
            </a:endParaRPr>
          </a:p>
          <a:p>
            <a:pPr algn="ctr"/>
            <a:r>
              <a:rPr lang="ja-JP" altLang="en-US" sz="3800" dirty="0">
                <a:latin typeface="BIZ UDPゴシック" panose="020B0400000000000000" pitchFamily="50" charset="-128"/>
                <a:ea typeface="BIZ UDPゴシック" panose="020B0400000000000000" pitchFamily="50" charset="-128"/>
              </a:rPr>
              <a:t>自分で行った</a:t>
            </a:r>
            <a:r>
              <a:rPr kumimoji="1" lang="ja-JP" altLang="en-US" sz="3800" dirty="0">
                <a:latin typeface="BIZ UDPゴシック" panose="020B0400000000000000" pitchFamily="50" charset="-128"/>
                <a:ea typeface="BIZ UDPゴシック" panose="020B0400000000000000" pitchFamily="50" charset="-128"/>
              </a:rPr>
              <a:t>株価の時系列予測を</a:t>
            </a:r>
            <a:r>
              <a:rPr lang="ja-JP" altLang="en-US" sz="3800" dirty="0">
                <a:latin typeface="BIZ UDPゴシック" panose="020B0400000000000000" pitchFamily="50" charset="-128"/>
                <a:ea typeface="BIZ UDPゴシック" panose="020B0400000000000000" pitchFamily="50" charset="-128"/>
              </a:rPr>
              <a:t>元に投資をしたい</a:t>
            </a:r>
            <a:endParaRPr kumimoji="1" lang="en-US" altLang="ja-JP" sz="2800" dirty="0">
              <a:solidFill>
                <a:schemeClr val="bg2">
                  <a:lumMod val="50000"/>
                </a:schemeClr>
              </a:solidFill>
              <a:latin typeface="BIZ UDPゴシック" panose="020B0400000000000000" pitchFamily="50" charset="-128"/>
              <a:ea typeface="BIZ UDPゴシック" panose="020B0400000000000000" pitchFamily="50" charset="-128"/>
            </a:endParaRPr>
          </a:p>
        </p:txBody>
      </p:sp>
      <p:sp>
        <p:nvSpPr>
          <p:cNvPr id="2" name="テキスト ボックス 1">
            <a:extLst>
              <a:ext uri="{FF2B5EF4-FFF2-40B4-BE49-F238E27FC236}">
                <a16:creationId xmlns:a16="http://schemas.microsoft.com/office/drawing/2014/main" id="{DD4FD780-05BE-F0E4-3EFC-0E5F4A94CAA7}"/>
              </a:ext>
            </a:extLst>
          </p:cNvPr>
          <p:cNvSpPr txBox="1"/>
          <p:nvPr/>
        </p:nvSpPr>
        <p:spPr>
          <a:xfrm>
            <a:off x="298127" y="48985"/>
            <a:ext cx="2528888" cy="1200329"/>
          </a:xfrm>
          <a:prstGeom prst="rect">
            <a:avLst/>
          </a:prstGeom>
          <a:noFill/>
        </p:spPr>
        <p:txBody>
          <a:bodyPr wrap="square" rtlCol="0">
            <a:spAutoFit/>
          </a:bodyPr>
          <a:lstStyle/>
          <a:p>
            <a:r>
              <a:rPr kumimoji="1" lang="ja-JP" altLang="en-US" sz="7200" b="1" dirty="0">
                <a:latin typeface="BIZ UDPゴシック" panose="020B0400000000000000" pitchFamily="50" charset="-128"/>
                <a:ea typeface="BIZ UDPゴシック" panose="020B0400000000000000" pitchFamily="50" charset="-128"/>
              </a:rPr>
              <a:t>目的</a:t>
            </a:r>
          </a:p>
        </p:txBody>
      </p:sp>
      <p:sp>
        <p:nvSpPr>
          <p:cNvPr id="3" name="Slide Number Placeholder 2">
            <a:extLst>
              <a:ext uri="{FF2B5EF4-FFF2-40B4-BE49-F238E27FC236}">
                <a16:creationId xmlns:a16="http://schemas.microsoft.com/office/drawing/2014/main" id="{2260F801-5B5B-D149-962A-60C4CEA2C665}"/>
              </a:ext>
            </a:extLst>
          </p:cNvPr>
          <p:cNvSpPr>
            <a:spLocks noGrp="1"/>
          </p:cNvSpPr>
          <p:nvPr>
            <p:ph type="sldNum" sz="quarter" idx="12"/>
          </p:nvPr>
        </p:nvSpPr>
        <p:spPr/>
        <p:txBody>
          <a:bodyPr/>
          <a:lstStyle/>
          <a:p>
            <a:fld id="{F42732FB-2277-442C-9711-A45410BE01D8}" type="slidenum">
              <a:rPr kumimoji="1" lang="ja-JP" altLang="en-US" smtClean="0"/>
              <a:t>3</a:t>
            </a:fld>
            <a:endParaRPr kumimoji="1" lang="ja-JP" altLang="en-US"/>
          </a:p>
        </p:txBody>
      </p:sp>
    </p:spTree>
    <p:extLst>
      <p:ext uri="{BB962C8B-B14F-4D97-AF65-F5344CB8AC3E}">
        <p14:creationId xmlns:p14="http://schemas.microsoft.com/office/powerpoint/2010/main" val="3128121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CCA6B-C45A-8619-57D1-7FB90DD212BB}"/>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96CBC6C7-9BD4-CCBD-9383-229ECFD77B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3296930" y="-232064"/>
            <a:ext cx="8101320" cy="5721557"/>
          </a:xfrm>
          <a:prstGeom prst="rect">
            <a:avLst/>
          </a:prstGeom>
        </p:spPr>
      </p:pic>
      <p:sp>
        <p:nvSpPr>
          <p:cNvPr id="2" name="テキスト ボックス 1">
            <a:extLst>
              <a:ext uri="{FF2B5EF4-FFF2-40B4-BE49-F238E27FC236}">
                <a16:creationId xmlns:a16="http://schemas.microsoft.com/office/drawing/2014/main" id="{55D34C40-F9D6-61AB-BA1E-821960FD5DFF}"/>
              </a:ext>
            </a:extLst>
          </p:cNvPr>
          <p:cNvSpPr txBox="1"/>
          <p:nvPr/>
        </p:nvSpPr>
        <p:spPr>
          <a:xfrm>
            <a:off x="298127" y="48985"/>
            <a:ext cx="2528888" cy="1200329"/>
          </a:xfrm>
          <a:prstGeom prst="rect">
            <a:avLst/>
          </a:prstGeom>
          <a:noFill/>
        </p:spPr>
        <p:txBody>
          <a:bodyPr wrap="square" rtlCol="0">
            <a:spAutoFit/>
          </a:bodyPr>
          <a:lstStyle/>
          <a:p>
            <a:r>
              <a:rPr kumimoji="1" lang="ja-JP" altLang="en-US" sz="7200" b="1" dirty="0">
                <a:latin typeface="BIZ UDPゴシック" panose="020B0400000000000000" pitchFamily="50" charset="-128"/>
                <a:ea typeface="BIZ UDPゴシック" panose="020B0400000000000000" pitchFamily="50" charset="-128"/>
              </a:rPr>
              <a:t>概要</a:t>
            </a:r>
          </a:p>
        </p:txBody>
      </p:sp>
      <p:sp>
        <p:nvSpPr>
          <p:cNvPr id="3" name="Slide Number Placeholder 2">
            <a:extLst>
              <a:ext uri="{FF2B5EF4-FFF2-40B4-BE49-F238E27FC236}">
                <a16:creationId xmlns:a16="http://schemas.microsoft.com/office/drawing/2014/main" id="{39EEB9AD-80B6-F311-C9DD-19FAF0641976}"/>
              </a:ext>
            </a:extLst>
          </p:cNvPr>
          <p:cNvSpPr>
            <a:spLocks noGrp="1"/>
          </p:cNvSpPr>
          <p:nvPr>
            <p:ph type="sldNum" sz="quarter" idx="12"/>
          </p:nvPr>
        </p:nvSpPr>
        <p:spPr/>
        <p:txBody>
          <a:bodyPr/>
          <a:lstStyle/>
          <a:p>
            <a:fld id="{F42732FB-2277-442C-9711-A45410BE01D8}" type="slidenum">
              <a:rPr kumimoji="1" lang="ja-JP" altLang="en-US" smtClean="0"/>
              <a:t>4</a:t>
            </a:fld>
            <a:endParaRPr kumimoji="1" lang="ja-JP" altLang="en-US"/>
          </a:p>
        </p:txBody>
      </p:sp>
      <p:pic>
        <p:nvPicPr>
          <p:cNvPr id="15" name="Graphic 14">
            <a:extLst>
              <a:ext uri="{FF2B5EF4-FFF2-40B4-BE49-F238E27FC236}">
                <a16:creationId xmlns:a16="http://schemas.microsoft.com/office/drawing/2014/main" id="{4A005F88-595A-6F31-C327-E14010181D3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44197" y="4716898"/>
            <a:ext cx="2680252" cy="2680252"/>
          </a:xfrm>
          <a:prstGeom prst="rect">
            <a:avLst/>
          </a:prstGeom>
        </p:spPr>
      </p:pic>
      <p:pic>
        <p:nvPicPr>
          <p:cNvPr id="17" name="Picture 16" descr="Display with stock market charts">
            <a:extLst>
              <a:ext uri="{FF2B5EF4-FFF2-40B4-BE49-F238E27FC236}">
                <a16:creationId xmlns:a16="http://schemas.microsoft.com/office/drawing/2014/main" id="{33CA48EA-EAA3-DBB8-1DB9-9DB687AE4AF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96219" y="1131176"/>
            <a:ext cx="2404710" cy="1605097"/>
          </a:xfrm>
          <a:prstGeom prst="rect">
            <a:avLst/>
          </a:prstGeom>
        </p:spPr>
      </p:pic>
      <p:pic>
        <p:nvPicPr>
          <p:cNvPr id="21" name="Picture 20" descr="Close up photo of colorful graph data">
            <a:extLst>
              <a:ext uri="{FF2B5EF4-FFF2-40B4-BE49-F238E27FC236}">
                <a16:creationId xmlns:a16="http://schemas.microsoft.com/office/drawing/2014/main" id="{7981D05B-89D1-B469-AE37-ECF99CEC13C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61596" y="2628714"/>
            <a:ext cx="2530144" cy="1687417"/>
          </a:xfrm>
          <a:prstGeom prst="rect">
            <a:avLst/>
          </a:prstGeom>
        </p:spPr>
      </p:pic>
      <p:sp>
        <p:nvSpPr>
          <p:cNvPr id="8" name="TextBox 7">
            <a:extLst>
              <a:ext uri="{FF2B5EF4-FFF2-40B4-BE49-F238E27FC236}">
                <a16:creationId xmlns:a16="http://schemas.microsoft.com/office/drawing/2014/main" id="{038ECA7C-1958-82BC-73B2-88EB7BCD7821}"/>
              </a:ext>
            </a:extLst>
          </p:cNvPr>
          <p:cNvSpPr txBox="1"/>
          <p:nvPr/>
        </p:nvSpPr>
        <p:spPr>
          <a:xfrm>
            <a:off x="5472438" y="6391068"/>
            <a:ext cx="3385812" cy="461665"/>
          </a:xfrm>
          <a:prstGeom prst="rect">
            <a:avLst/>
          </a:prstGeom>
          <a:noFill/>
        </p:spPr>
        <p:txBody>
          <a:bodyPr wrap="square" rtlCol="0">
            <a:spAutoFit/>
          </a:bodyPr>
          <a:lstStyle/>
          <a:p>
            <a:pPr algn="ctr"/>
            <a:r>
              <a:rPr lang="en-GB" altLang="ja-JP" sz="2400" dirty="0">
                <a:latin typeface="BIZ UDPGothic" panose="020B0400000000000000" pitchFamily="34" charset="-128"/>
                <a:ea typeface="BIZ UDPGothic" panose="020B0400000000000000" pitchFamily="34" charset="-128"/>
              </a:rPr>
              <a:t>(</a:t>
            </a:r>
            <a:r>
              <a:rPr lang="en-US" altLang="ja-JP" sz="2400" dirty="0">
                <a:latin typeface="BIZ UDPGothic" panose="020B0400000000000000" pitchFamily="34" charset="-128"/>
                <a:ea typeface="BIZ UDPGothic" panose="020B0400000000000000" pitchFamily="34" charset="-128"/>
              </a:rPr>
              <a:t>※</a:t>
            </a:r>
            <a:r>
              <a:rPr lang="ja-JP" altLang="en-US" sz="2400" dirty="0">
                <a:latin typeface="BIZ UDPGothic" panose="020B0400000000000000" pitchFamily="34" charset="-128"/>
                <a:ea typeface="BIZ UDPGothic" panose="020B0400000000000000" pitchFamily="34" charset="-128"/>
              </a:rPr>
              <a:t>一般的な投資家例</a:t>
            </a:r>
            <a:r>
              <a:rPr lang="en-GB" altLang="ja-JP" sz="2400" dirty="0">
                <a:latin typeface="BIZ UDPGothic" panose="020B0400000000000000" pitchFamily="34" charset="-128"/>
                <a:ea typeface="BIZ UDPGothic" panose="020B0400000000000000" pitchFamily="34" charset="-128"/>
              </a:rPr>
              <a:t>)</a:t>
            </a:r>
            <a:endParaRPr lang="en-GB" sz="2400" dirty="0">
              <a:latin typeface="BIZ UDPGothic" panose="020B0400000000000000" pitchFamily="34" charset="-128"/>
              <a:ea typeface="BIZ UDPGothic" panose="020B0400000000000000" pitchFamily="34" charset="-128"/>
            </a:endParaRPr>
          </a:p>
        </p:txBody>
      </p:sp>
    </p:spTree>
    <p:extLst>
      <p:ext uri="{BB962C8B-B14F-4D97-AF65-F5344CB8AC3E}">
        <p14:creationId xmlns:p14="http://schemas.microsoft.com/office/powerpoint/2010/main" val="756996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グラフィックス 16">
            <a:extLst>
              <a:ext uri="{FF2B5EF4-FFF2-40B4-BE49-F238E27FC236}">
                <a16:creationId xmlns:a16="http://schemas.microsoft.com/office/drawing/2014/main" id="{1B90D19C-B806-9998-C54F-FDE7E22FDF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277439" y="484912"/>
            <a:ext cx="4570869" cy="5532065"/>
          </a:xfrm>
          <a:prstGeom prst="rect">
            <a:avLst/>
          </a:prstGeom>
        </p:spPr>
      </p:pic>
      <p:sp>
        <p:nvSpPr>
          <p:cNvPr id="2" name="テキスト ボックス 1">
            <a:extLst>
              <a:ext uri="{FF2B5EF4-FFF2-40B4-BE49-F238E27FC236}">
                <a16:creationId xmlns:a16="http://schemas.microsoft.com/office/drawing/2014/main" id="{ECFDC8EC-BC3D-E588-8F3A-8956FCB59A62}"/>
              </a:ext>
            </a:extLst>
          </p:cNvPr>
          <p:cNvSpPr txBox="1"/>
          <p:nvPr/>
        </p:nvSpPr>
        <p:spPr>
          <a:xfrm>
            <a:off x="298127" y="48985"/>
            <a:ext cx="2528888" cy="1200329"/>
          </a:xfrm>
          <a:prstGeom prst="rect">
            <a:avLst/>
          </a:prstGeom>
          <a:noFill/>
        </p:spPr>
        <p:txBody>
          <a:bodyPr wrap="square" rtlCol="0">
            <a:spAutoFit/>
          </a:bodyPr>
          <a:lstStyle/>
          <a:p>
            <a:r>
              <a:rPr lang="ja-JP" altLang="en-US" sz="7200" b="1" dirty="0">
                <a:latin typeface="BIZ UDPゴシック" panose="020B0400000000000000" pitchFamily="50" charset="-128"/>
                <a:ea typeface="BIZ UDPゴシック" panose="020B0400000000000000" pitchFamily="50" charset="-128"/>
              </a:rPr>
              <a:t>概要</a:t>
            </a:r>
            <a:endParaRPr kumimoji="1" lang="ja-JP" altLang="en-US" sz="72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0713FEF2-5FAB-11C9-3FBF-6E812411CA46}"/>
              </a:ext>
            </a:extLst>
          </p:cNvPr>
          <p:cNvSpPr txBox="1"/>
          <p:nvPr/>
        </p:nvSpPr>
        <p:spPr>
          <a:xfrm>
            <a:off x="3277490" y="-1198923"/>
            <a:ext cx="1465338" cy="7805732"/>
          </a:xfrm>
          <a:prstGeom prst="rect">
            <a:avLst/>
          </a:prstGeom>
          <a:noFill/>
        </p:spPr>
        <p:txBody>
          <a:bodyPr vert="wordArtVertRtl" wrap="square" rtlCol="0">
            <a:spAutoFit/>
          </a:bodyPr>
          <a:lstStyle/>
          <a:p>
            <a:pPr algn="ctr"/>
            <a:r>
              <a:rPr lang="ja-JP" altLang="en-US" sz="2800" b="1" dirty="0">
                <a:latin typeface="BIZ UDPゴシック" panose="020B0400000000000000" pitchFamily="50" charset="-128"/>
                <a:ea typeface="BIZ UDPゴシック" panose="020B0400000000000000" pitchFamily="50" charset="-128"/>
              </a:rPr>
              <a:t>ニュースの内容を</a:t>
            </a:r>
            <a:endParaRPr lang="en-US" altLang="ja-JP" sz="2800" b="1" dirty="0">
              <a:latin typeface="BIZ UDPゴシック" panose="020B0400000000000000" pitchFamily="50" charset="-128"/>
              <a:ea typeface="BIZ UDPゴシック" panose="020B0400000000000000" pitchFamily="50" charset="-128"/>
            </a:endParaRPr>
          </a:p>
          <a:p>
            <a:pPr algn="ctr"/>
            <a:r>
              <a:rPr lang="ja-JP" altLang="en-US" sz="2800" b="1" dirty="0">
                <a:latin typeface="BIZ UDPゴシック" panose="020B0400000000000000" pitchFamily="50" charset="-128"/>
                <a:ea typeface="BIZ UDPゴシック" panose="020B0400000000000000" pitchFamily="50" charset="-128"/>
              </a:rPr>
              <a:t>　　　　入力データに</a:t>
            </a:r>
            <a:endParaRPr lang="en-GB" altLang="ja-JP" sz="2800" b="1" dirty="0">
              <a:latin typeface="BIZ UDPゴシック" panose="020B0400000000000000" pitchFamily="50" charset="-128"/>
              <a:ea typeface="BIZ UDPゴシック" panose="020B0400000000000000" pitchFamily="50" charset="-128"/>
            </a:endParaRPr>
          </a:p>
          <a:p>
            <a:pPr algn="ctr"/>
            <a:r>
              <a:rPr lang="ja-JP" altLang="en-US" sz="2800" b="1" dirty="0">
                <a:latin typeface="BIZ UDPゴシック" panose="020B0400000000000000" pitchFamily="50" charset="-128"/>
                <a:ea typeface="BIZ UDPゴシック" panose="020B0400000000000000" pitchFamily="50" charset="-128"/>
              </a:rPr>
              <a:t>　　　　　　　したいなぁ</a:t>
            </a:r>
            <a:endParaRPr kumimoji="1" lang="ja-JP" altLang="en-US" sz="2800" b="1"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5FE1E3DE-6BAF-FA19-391A-9AEAB77AEE6F}"/>
              </a:ext>
            </a:extLst>
          </p:cNvPr>
          <p:cNvSpPr txBox="1"/>
          <p:nvPr/>
        </p:nvSpPr>
        <p:spPr>
          <a:xfrm>
            <a:off x="7503081" y="2266061"/>
            <a:ext cx="2077174" cy="646331"/>
          </a:xfrm>
          <a:prstGeom prst="rect">
            <a:avLst/>
          </a:prstGeom>
          <a:noFill/>
        </p:spPr>
        <p:txBody>
          <a:bodyPr wrap="square" rtlCol="0">
            <a:spAutoFit/>
          </a:bodyPr>
          <a:lstStyle/>
          <a:p>
            <a:pPr algn="ctr"/>
            <a:r>
              <a:rPr kumimoji="1" lang="ja-JP" altLang="en-US" sz="3600" dirty="0">
                <a:latin typeface="BIZ UDPゴシック" panose="020B0400000000000000" pitchFamily="50" charset="-128"/>
                <a:ea typeface="BIZ UDPゴシック" panose="020B0400000000000000" pitchFamily="50" charset="-128"/>
              </a:rPr>
              <a:t>しかし</a:t>
            </a:r>
          </a:p>
        </p:txBody>
      </p:sp>
      <p:pic>
        <p:nvPicPr>
          <p:cNvPr id="15" name="グラフィックス 14">
            <a:extLst>
              <a:ext uri="{FF2B5EF4-FFF2-40B4-BE49-F238E27FC236}">
                <a16:creationId xmlns:a16="http://schemas.microsoft.com/office/drawing/2014/main" id="{923A61CC-1D50-1C49-3D10-ABE4DC3B6FB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783739" y="4491786"/>
            <a:ext cx="2925024" cy="2925024"/>
          </a:xfrm>
          <a:prstGeom prst="rect">
            <a:avLst/>
          </a:prstGeom>
        </p:spPr>
      </p:pic>
      <p:sp>
        <p:nvSpPr>
          <p:cNvPr id="18" name="テキスト ボックス 17">
            <a:extLst>
              <a:ext uri="{FF2B5EF4-FFF2-40B4-BE49-F238E27FC236}">
                <a16:creationId xmlns:a16="http://schemas.microsoft.com/office/drawing/2014/main" id="{C0507AF9-B952-2C06-86C0-FF15E6B89A0F}"/>
              </a:ext>
            </a:extLst>
          </p:cNvPr>
          <p:cNvSpPr txBox="1"/>
          <p:nvPr/>
        </p:nvSpPr>
        <p:spPr>
          <a:xfrm>
            <a:off x="5570215" y="3291457"/>
            <a:ext cx="6440032" cy="1077218"/>
          </a:xfrm>
          <a:prstGeom prst="rect">
            <a:avLst/>
          </a:prstGeom>
          <a:noFill/>
        </p:spPr>
        <p:txBody>
          <a:bodyPr wrap="square" rtlCol="0">
            <a:spAutoFit/>
          </a:bodyPr>
          <a:lstStyle/>
          <a:p>
            <a:pPr algn="ctr"/>
            <a:r>
              <a:rPr lang="ja-JP" altLang="en-US" sz="3200" dirty="0">
                <a:latin typeface="BIZ UDPゴシック" panose="020B0400000000000000" pitchFamily="50" charset="-128"/>
                <a:ea typeface="BIZ UDPゴシック" panose="020B0400000000000000" pitchFamily="50" charset="-128"/>
              </a:rPr>
              <a:t>時系列予測</a:t>
            </a:r>
            <a:r>
              <a:rPr kumimoji="1" lang="ja-JP" altLang="en-US" sz="3200" dirty="0">
                <a:latin typeface="BIZ UDPゴシック" panose="020B0400000000000000" pitchFamily="50" charset="-128"/>
                <a:ea typeface="BIZ UDPゴシック" panose="020B0400000000000000" pitchFamily="50" charset="-128"/>
              </a:rPr>
              <a:t>モデルにニュースを</a:t>
            </a:r>
            <a:endParaRPr kumimoji="1" lang="en-US" altLang="ja-JP" sz="3200" dirty="0">
              <a:latin typeface="BIZ UDPゴシック" panose="020B0400000000000000" pitchFamily="50" charset="-128"/>
              <a:ea typeface="BIZ UDPゴシック" panose="020B0400000000000000" pitchFamily="50" charset="-128"/>
            </a:endParaRPr>
          </a:p>
          <a:p>
            <a:pPr algn="ctr"/>
            <a:r>
              <a:rPr kumimoji="1" lang="ja-JP" altLang="en-US" sz="3200" dirty="0">
                <a:latin typeface="BIZ UDPゴシック" panose="020B0400000000000000" pitchFamily="50" charset="-128"/>
                <a:ea typeface="BIZ UDPゴシック" panose="020B0400000000000000" pitchFamily="50" charset="-128"/>
              </a:rPr>
              <a:t>そのまま入れることはできない</a:t>
            </a:r>
          </a:p>
        </p:txBody>
      </p:sp>
      <p:sp>
        <p:nvSpPr>
          <p:cNvPr id="4" name="Slide Number Placeholder 3">
            <a:extLst>
              <a:ext uri="{FF2B5EF4-FFF2-40B4-BE49-F238E27FC236}">
                <a16:creationId xmlns:a16="http://schemas.microsoft.com/office/drawing/2014/main" id="{1B80E154-3349-4171-EB4C-A21BC485CB3D}"/>
              </a:ext>
            </a:extLst>
          </p:cNvPr>
          <p:cNvSpPr>
            <a:spLocks noGrp="1"/>
          </p:cNvSpPr>
          <p:nvPr>
            <p:ph type="sldNum" sz="quarter" idx="12"/>
          </p:nvPr>
        </p:nvSpPr>
        <p:spPr/>
        <p:txBody>
          <a:bodyPr/>
          <a:lstStyle/>
          <a:p>
            <a:fld id="{F42732FB-2277-442C-9711-A45410BE01D8}" type="slidenum">
              <a:rPr kumimoji="1" lang="ja-JP" altLang="en-US" smtClean="0"/>
              <a:t>5</a:t>
            </a:fld>
            <a:endParaRPr kumimoji="1" lang="ja-JP" altLang="en-US"/>
          </a:p>
        </p:txBody>
      </p:sp>
    </p:spTree>
    <p:extLst>
      <p:ext uri="{BB962C8B-B14F-4D97-AF65-F5344CB8AC3E}">
        <p14:creationId xmlns:p14="http://schemas.microsoft.com/office/powerpoint/2010/main" val="1308555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677023D-9CF8-4BB6-D6B8-650AC32515BA}"/>
              </a:ext>
            </a:extLst>
          </p:cNvPr>
          <p:cNvSpPr txBox="1"/>
          <p:nvPr/>
        </p:nvSpPr>
        <p:spPr>
          <a:xfrm>
            <a:off x="298127" y="48985"/>
            <a:ext cx="2528888" cy="1200329"/>
          </a:xfrm>
          <a:prstGeom prst="rect">
            <a:avLst/>
          </a:prstGeom>
          <a:noFill/>
        </p:spPr>
        <p:txBody>
          <a:bodyPr wrap="square" rtlCol="0">
            <a:spAutoFit/>
          </a:bodyPr>
          <a:lstStyle/>
          <a:p>
            <a:r>
              <a:rPr lang="ja-JP" altLang="en-US" sz="7200" b="1" dirty="0">
                <a:latin typeface="BIZ UDPゴシック" panose="020B0400000000000000" pitchFamily="50" charset="-128"/>
                <a:ea typeface="BIZ UDPゴシック" panose="020B0400000000000000" pitchFamily="50" charset="-128"/>
              </a:rPr>
              <a:t>課題</a:t>
            </a:r>
            <a:endParaRPr kumimoji="1" lang="ja-JP" altLang="en-US" sz="72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6CDC4759-0B5F-3C55-35DB-DC5BB3A06974}"/>
              </a:ext>
            </a:extLst>
          </p:cNvPr>
          <p:cNvSpPr txBox="1"/>
          <p:nvPr/>
        </p:nvSpPr>
        <p:spPr>
          <a:xfrm>
            <a:off x="768907" y="1335909"/>
            <a:ext cx="10701834" cy="646331"/>
          </a:xfrm>
          <a:prstGeom prst="rect">
            <a:avLst/>
          </a:prstGeom>
          <a:noFill/>
        </p:spPr>
        <p:txBody>
          <a:bodyPr wrap="square" rtlCol="0">
            <a:spAutoFit/>
          </a:bodyPr>
          <a:lstStyle/>
          <a:p>
            <a:r>
              <a:rPr kumimoji="1" lang="ja-JP" altLang="en-US" sz="3600" dirty="0">
                <a:latin typeface="BIZ UDPゴシック" panose="020B0400000000000000" pitchFamily="50" charset="-128"/>
                <a:ea typeface="BIZ UDPゴシック" panose="020B0400000000000000" pitchFamily="50" charset="-128"/>
              </a:rPr>
              <a:t>問題① ニュースの文章をそのまま入れるのは不可能</a:t>
            </a:r>
          </a:p>
        </p:txBody>
      </p:sp>
      <p:grpSp>
        <p:nvGrpSpPr>
          <p:cNvPr id="9" name="グループ化 8">
            <a:extLst>
              <a:ext uri="{FF2B5EF4-FFF2-40B4-BE49-F238E27FC236}">
                <a16:creationId xmlns:a16="http://schemas.microsoft.com/office/drawing/2014/main" id="{B250FC97-D802-D2D5-96B6-F075F74C7DFB}"/>
              </a:ext>
            </a:extLst>
          </p:cNvPr>
          <p:cNvGrpSpPr/>
          <p:nvPr/>
        </p:nvGrpSpPr>
        <p:grpSpPr>
          <a:xfrm>
            <a:off x="1040511" y="2405206"/>
            <a:ext cx="10357164" cy="2241482"/>
            <a:chOff x="768907" y="2484427"/>
            <a:chExt cx="10357164" cy="2241482"/>
          </a:xfrm>
        </p:grpSpPr>
        <p:sp>
          <p:nvSpPr>
            <p:cNvPr id="5" name="テキスト ボックス 4">
              <a:extLst>
                <a:ext uri="{FF2B5EF4-FFF2-40B4-BE49-F238E27FC236}">
                  <a16:creationId xmlns:a16="http://schemas.microsoft.com/office/drawing/2014/main" id="{608AE311-EB3E-8ACA-9BE0-CC9B53B7D8BF}"/>
                </a:ext>
              </a:extLst>
            </p:cNvPr>
            <p:cNvSpPr txBox="1"/>
            <p:nvPr/>
          </p:nvSpPr>
          <p:spPr>
            <a:xfrm>
              <a:off x="1556925" y="3170958"/>
              <a:ext cx="8909245" cy="1200329"/>
            </a:xfrm>
            <a:prstGeom prst="rect">
              <a:avLst/>
            </a:prstGeom>
            <a:noFill/>
          </p:spPr>
          <p:txBody>
            <a:bodyPr wrap="square" rtlCol="0">
              <a:spAutoFit/>
            </a:bodyPr>
            <a:lstStyle/>
            <a:p>
              <a:r>
                <a:rPr kumimoji="1" lang="ja-JP" altLang="en-US" sz="3600" dirty="0">
                  <a:latin typeface="BIZ UDPゴシック" panose="020B0400000000000000" pitchFamily="50" charset="-128"/>
                  <a:ea typeface="BIZ UDPゴシック" panose="020B0400000000000000" pitchFamily="50" charset="-128"/>
                </a:rPr>
                <a:t>ニュースの文章を失望</a:t>
              </a:r>
              <a:r>
                <a:rPr kumimoji="1" lang="en-GB" altLang="ja-JP" sz="3600" dirty="0">
                  <a:latin typeface="BIZ UDPゴシック" panose="020B0400000000000000" pitchFamily="50" charset="-128"/>
                  <a:ea typeface="BIZ UDPゴシック" panose="020B0400000000000000" pitchFamily="50" charset="-128"/>
                </a:rPr>
                <a:t>,</a:t>
              </a:r>
              <a:r>
                <a:rPr kumimoji="1" lang="ja-JP" altLang="en-US" sz="3600" dirty="0">
                  <a:latin typeface="BIZ UDPゴシック" panose="020B0400000000000000" pitchFamily="50" charset="-128"/>
                  <a:ea typeface="BIZ UDPゴシック" panose="020B0400000000000000" pitchFamily="50" charset="-128"/>
                </a:rPr>
                <a:t>楽観</a:t>
              </a:r>
              <a:r>
                <a:rPr kumimoji="1" lang="en-GB" altLang="ja-JP" sz="3600" dirty="0">
                  <a:latin typeface="BIZ UDPゴシック" panose="020B0400000000000000" pitchFamily="50" charset="-128"/>
                  <a:ea typeface="BIZ UDPゴシック" panose="020B0400000000000000" pitchFamily="50" charset="-128"/>
                </a:rPr>
                <a:t>,</a:t>
              </a:r>
              <a:r>
                <a:rPr kumimoji="1" lang="ja-JP" altLang="en-US" sz="3600" dirty="0">
                  <a:latin typeface="BIZ UDPゴシック" panose="020B0400000000000000" pitchFamily="50" charset="-128"/>
                  <a:ea typeface="BIZ UDPゴシック" panose="020B0400000000000000" pitchFamily="50" charset="-128"/>
                </a:rPr>
                <a:t>懸念</a:t>
              </a:r>
              <a:r>
                <a:rPr kumimoji="1" lang="en-GB" altLang="ja-JP" sz="3600" dirty="0">
                  <a:latin typeface="BIZ UDPゴシック" panose="020B0400000000000000" pitchFamily="50" charset="-128"/>
                  <a:ea typeface="BIZ UDPゴシック" panose="020B0400000000000000" pitchFamily="50" charset="-128"/>
                </a:rPr>
                <a:t>,</a:t>
              </a:r>
              <a:r>
                <a:rPr kumimoji="1" lang="ja-JP" altLang="en-US" sz="3600" dirty="0">
                  <a:latin typeface="BIZ UDPゴシック" panose="020B0400000000000000" pitchFamily="50" charset="-128"/>
                  <a:ea typeface="BIZ UDPゴシック" panose="020B0400000000000000" pitchFamily="50" charset="-128"/>
                </a:rPr>
                <a:t>興奮</a:t>
              </a:r>
              <a:r>
                <a:rPr kumimoji="1" lang="en-GB" altLang="ja-JP" sz="3600" dirty="0">
                  <a:latin typeface="BIZ UDPゴシック" panose="020B0400000000000000" pitchFamily="50" charset="-128"/>
                  <a:ea typeface="BIZ UDPゴシック" panose="020B0400000000000000" pitchFamily="50" charset="-128"/>
                </a:rPr>
                <a:t>,</a:t>
              </a:r>
              <a:r>
                <a:rPr kumimoji="1" lang="ja-JP" altLang="en-US" sz="3600" dirty="0">
                  <a:latin typeface="BIZ UDPゴシック" panose="020B0400000000000000" pitchFamily="50" charset="-128"/>
                  <a:ea typeface="BIZ UDPゴシック" panose="020B0400000000000000" pitchFamily="50" charset="-128"/>
                </a:rPr>
                <a:t>安定の感情パラメータに振り分けて指標にする</a:t>
              </a:r>
              <a:endParaRPr kumimoji="1" lang="en-US" altLang="ja-JP" sz="3600" dirty="0">
                <a:latin typeface="BIZ UDPゴシック" panose="020B0400000000000000" pitchFamily="50" charset="-128"/>
                <a:ea typeface="BIZ UDPゴシック" panose="020B0400000000000000" pitchFamily="50" charset="-128"/>
              </a:endParaRPr>
            </a:p>
          </p:txBody>
        </p:sp>
        <p:sp>
          <p:nvSpPr>
            <p:cNvPr id="6" name="四角形: 角を丸くする 5">
              <a:extLst>
                <a:ext uri="{FF2B5EF4-FFF2-40B4-BE49-F238E27FC236}">
                  <a16:creationId xmlns:a16="http://schemas.microsoft.com/office/drawing/2014/main" id="{8B3E7755-8BD3-5AA3-252A-E439719E5BA0}"/>
                </a:ext>
              </a:extLst>
            </p:cNvPr>
            <p:cNvSpPr/>
            <p:nvPr/>
          </p:nvSpPr>
          <p:spPr>
            <a:xfrm>
              <a:off x="768907" y="2840810"/>
              <a:ext cx="10357164" cy="1885099"/>
            </a:xfrm>
            <a:prstGeom prst="roundRect">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3FBFFB18-1A49-738C-15C7-C3A19E2B2DF1}"/>
                </a:ext>
              </a:extLst>
            </p:cNvPr>
            <p:cNvSpPr txBox="1"/>
            <p:nvPr/>
          </p:nvSpPr>
          <p:spPr>
            <a:xfrm>
              <a:off x="1330223" y="2484427"/>
              <a:ext cx="2058108" cy="646331"/>
            </a:xfrm>
            <a:prstGeom prst="rect">
              <a:avLst/>
            </a:prstGeom>
            <a:solidFill>
              <a:schemeClr val="bg1"/>
            </a:solidFill>
          </p:spPr>
          <p:txBody>
            <a:bodyPr wrap="square" rtlCol="0">
              <a:spAutoFit/>
            </a:bodyPr>
            <a:lstStyle/>
            <a:p>
              <a:r>
                <a:rPr kumimoji="1" lang="ja-JP" altLang="en-US" sz="3600" dirty="0">
                  <a:latin typeface="BIZ UDPゴシック" panose="020B0400000000000000" pitchFamily="50" charset="-128"/>
                  <a:ea typeface="BIZ UDPゴシック" panose="020B0400000000000000" pitchFamily="50" charset="-128"/>
                </a:rPr>
                <a:t>解決方法</a:t>
              </a:r>
              <a:endParaRPr kumimoji="1" lang="en-US" altLang="ja-JP" sz="3600" dirty="0">
                <a:latin typeface="BIZ UDPゴシック" panose="020B0400000000000000" pitchFamily="50" charset="-128"/>
                <a:ea typeface="BIZ UDPゴシック" panose="020B0400000000000000" pitchFamily="50" charset="-128"/>
              </a:endParaRPr>
            </a:p>
          </p:txBody>
        </p:sp>
      </p:grpSp>
      <p:sp>
        <p:nvSpPr>
          <p:cNvPr id="8" name="テキスト ボックス 7">
            <a:extLst>
              <a:ext uri="{FF2B5EF4-FFF2-40B4-BE49-F238E27FC236}">
                <a16:creationId xmlns:a16="http://schemas.microsoft.com/office/drawing/2014/main" id="{9E54FA05-65B0-DB1E-CEB6-373FB752C81F}"/>
              </a:ext>
            </a:extLst>
          </p:cNvPr>
          <p:cNvSpPr txBox="1"/>
          <p:nvPr/>
        </p:nvSpPr>
        <p:spPr>
          <a:xfrm>
            <a:off x="1665201" y="5069655"/>
            <a:ext cx="8909246" cy="1200329"/>
          </a:xfrm>
          <a:prstGeom prst="rect">
            <a:avLst/>
          </a:prstGeom>
          <a:noFill/>
        </p:spPr>
        <p:txBody>
          <a:bodyPr wrap="square" rtlCol="0">
            <a:spAutoFit/>
          </a:bodyPr>
          <a:lstStyle/>
          <a:p>
            <a:pPr algn="ctr"/>
            <a:r>
              <a:rPr kumimoji="1" lang="ja-JP" altLang="en-US" sz="3600" dirty="0">
                <a:latin typeface="BIZ UDPゴシック" panose="020B0400000000000000" pitchFamily="50" charset="-128"/>
                <a:ea typeface="BIZ UDPゴシック" panose="020B0400000000000000" pitchFamily="50" charset="-128"/>
              </a:rPr>
              <a:t>全てのニュースに手動で点数を付けるのは現実的ではない</a:t>
            </a:r>
            <a:endParaRPr kumimoji="1" lang="en-US" altLang="ja-JP" sz="3600" dirty="0">
              <a:latin typeface="BIZ UDPゴシック" panose="020B0400000000000000" pitchFamily="50" charset="-128"/>
              <a:ea typeface="BIZ UDPゴシック" panose="020B0400000000000000" pitchFamily="50" charset="-128"/>
            </a:endParaRPr>
          </a:p>
        </p:txBody>
      </p:sp>
      <p:sp>
        <p:nvSpPr>
          <p:cNvPr id="7" name="Slide Number Placeholder 6">
            <a:extLst>
              <a:ext uri="{FF2B5EF4-FFF2-40B4-BE49-F238E27FC236}">
                <a16:creationId xmlns:a16="http://schemas.microsoft.com/office/drawing/2014/main" id="{1E8D3C7E-8ADF-6CCB-A905-096E5C9FB172}"/>
              </a:ext>
            </a:extLst>
          </p:cNvPr>
          <p:cNvSpPr>
            <a:spLocks noGrp="1"/>
          </p:cNvSpPr>
          <p:nvPr>
            <p:ph type="sldNum" sz="quarter" idx="12"/>
          </p:nvPr>
        </p:nvSpPr>
        <p:spPr/>
        <p:txBody>
          <a:bodyPr/>
          <a:lstStyle/>
          <a:p>
            <a:fld id="{F42732FB-2277-442C-9711-A45410BE01D8}" type="slidenum">
              <a:rPr kumimoji="1" lang="ja-JP" altLang="en-US" smtClean="0"/>
              <a:t>6</a:t>
            </a:fld>
            <a:endParaRPr kumimoji="1" lang="ja-JP" altLang="en-US"/>
          </a:p>
        </p:txBody>
      </p:sp>
    </p:spTree>
    <p:extLst>
      <p:ext uri="{BB962C8B-B14F-4D97-AF65-F5344CB8AC3E}">
        <p14:creationId xmlns:p14="http://schemas.microsoft.com/office/powerpoint/2010/main" val="214710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2266276-566C-8F5D-33F0-6EC35AC7129D}"/>
              </a:ext>
            </a:extLst>
          </p:cNvPr>
          <p:cNvSpPr txBox="1"/>
          <p:nvPr/>
        </p:nvSpPr>
        <p:spPr>
          <a:xfrm>
            <a:off x="298127" y="48985"/>
            <a:ext cx="2528888" cy="1200329"/>
          </a:xfrm>
          <a:prstGeom prst="rect">
            <a:avLst/>
          </a:prstGeom>
          <a:noFill/>
        </p:spPr>
        <p:txBody>
          <a:bodyPr wrap="square" rtlCol="0">
            <a:spAutoFit/>
          </a:bodyPr>
          <a:lstStyle/>
          <a:p>
            <a:r>
              <a:rPr lang="ja-JP" altLang="en-US" sz="7200" b="1" dirty="0">
                <a:latin typeface="BIZ UDPゴシック" panose="020B0400000000000000" pitchFamily="50" charset="-128"/>
                <a:ea typeface="BIZ UDPゴシック" panose="020B0400000000000000" pitchFamily="50" charset="-128"/>
              </a:rPr>
              <a:t>課題</a:t>
            </a:r>
            <a:endParaRPr kumimoji="1" lang="ja-JP" altLang="en-US" sz="72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2B6574D0-51C8-1FB6-CFC1-EC8F481278C9}"/>
              </a:ext>
            </a:extLst>
          </p:cNvPr>
          <p:cNvSpPr txBox="1"/>
          <p:nvPr/>
        </p:nvSpPr>
        <p:spPr>
          <a:xfrm>
            <a:off x="768907" y="1335909"/>
            <a:ext cx="10701834" cy="646331"/>
          </a:xfrm>
          <a:prstGeom prst="rect">
            <a:avLst/>
          </a:prstGeom>
          <a:noFill/>
        </p:spPr>
        <p:txBody>
          <a:bodyPr wrap="square" rtlCol="0">
            <a:spAutoFit/>
          </a:bodyPr>
          <a:lstStyle/>
          <a:p>
            <a:r>
              <a:rPr kumimoji="1" lang="ja-JP" altLang="en-US" sz="3600" dirty="0">
                <a:latin typeface="BIZ UDPゴシック" panose="020B0400000000000000" pitchFamily="50" charset="-128"/>
                <a:ea typeface="BIZ UDPゴシック" panose="020B0400000000000000" pitchFamily="50" charset="-128"/>
              </a:rPr>
              <a:t>問題② ニュースの点数を自動で付けたい</a:t>
            </a:r>
          </a:p>
        </p:txBody>
      </p:sp>
      <p:grpSp>
        <p:nvGrpSpPr>
          <p:cNvPr id="8" name="グループ化 7">
            <a:extLst>
              <a:ext uri="{FF2B5EF4-FFF2-40B4-BE49-F238E27FC236}">
                <a16:creationId xmlns:a16="http://schemas.microsoft.com/office/drawing/2014/main" id="{55D6B08F-EE91-A7B9-7D46-A2845E9D4006}"/>
              </a:ext>
            </a:extLst>
          </p:cNvPr>
          <p:cNvGrpSpPr/>
          <p:nvPr/>
        </p:nvGrpSpPr>
        <p:grpSpPr>
          <a:xfrm>
            <a:off x="1040511" y="2233268"/>
            <a:ext cx="10357164" cy="2241482"/>
            <a:chOff x="1040511" y="2405206"/>
            <a:chExt cx="10357164" cy="2241482"/>
          </a:xfrm>
        </p:grpSpPr>
        <p:sp>
          <p:nvSpPr>
            <p:cNvPr id="5" name="テキスト ボックス 4">
              <a:extLst>
                <a:ext uri="{FF2B5EF4-FFF2-40B4-BE49-F238E27FC236}">
                  <a16:creationId xmlns:a16="http://schemas.microsoft.com/office/drawing/2014/main" id="{FBE21E43-68C1-6DFD-9AD2-D28ED65F75DA}"/>
                </a:ext>
              </a:extLst>
            </p:cNvPr>
            <p:cNvSpPr txBox="1"/>
            <p:nvPr/>
          </p:nvSpPr>
          <p:spPr>
            <a:xfrm>
              <a:off x="1924573" y="3429000"/>
              <a:ext cx="8589040" cy="646331"/>
            </a:xfrm>
            <a:prstGeom prst="rect">
              <a:avLst/>
            </a:prstGeom>
            <a:noFill/>
          </p:spPr>
          <p:txBody>
            <a:bodyPr wrap="square" rtlCol="0">
              <a:spAutoFit/>
            </a:bodyPr>
            <a:lstStyle/>
            <a:p>
              <a:pPr algn="ctr"/>
              <a:r>
                <a:rPr kumimoji="1" lang="ja-JP" altLang="en-US" sz="3600" dirty="0">
                  <a:latin typeface="BIZ UDPゴシック" panose="020B0400000000000000" pitchFamily="50" charset="-128"/>
                  <a:ea typeface="BIZ UDPゴシック" panose="020B0400000000000000" pitchFamily="50" charset="-128"/>
                </a:rPr>
                <a:t>分類モデルのパラメーターを点数とする</a:t>
              </a:r>
              <a:endParaRPr kumimoji="1" lang="en-US" altLang="ja-JP" sz="3600" dirty="0">
                <a:latin typeface="BIZ UDPゴシック" panose="020B0400000000000000" pitchFamily="50" charset="-128"/>
                <a:ea typeface="BIZ UDPゴシック" panose="020B0400000000000000" pitchFamily="50" charset="-128"/>
              </a:endParaRPr>
            </a:p>
          </p:txBody>
        </p:sp>
        <p:sp>
          <p:nvSpPr>
            <p:cNvPr id="6" name="四角形: 角を丸くする 5">
              <a:extLst>
                <a:ext uri="{FF2B5EF4-FFF2-40B4-BE49-F238E27FC236}">
                  <a16:creationId xmlns:a16="http://schemas.microsoft.com/office/drawing/2014/main" id="{1330569A-08FC-8D68-2154-38651F27E883}"/>
                </a:ext>
              </a:extLst>
            </p:cNvPr>
            <p:cNvSpPr/>
            <p:nvPr/>
          </p:nvSpPr>
          <p:spPr>
            <a:xfrm>
              <a:off x="1040511" y="2761589"/>
              <a:ext cx="10357164" cy="1885099"/>
            </a:xfrm>
            <a:prstGeom prst="roundRect">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F5125C90-EE62-3A4F-D128-09D849CE9BBA}"/>
                </a:ext>
              </a:extLst>
            </p:cNvPr>
            <p:cNvSpPr txBox="1"/>
            <p:nvPr/>
          </p:nvSpPr>
          <p:spPr>
            <a:xfrm>
              <a:off x="1601827" y="2405206"/>
              <a:ext cx="2058108" cy="646331"/>
            </a:xfrm>
            <a:prstGeom prst="rect">
              <a:avLst/>
            </a:prstGeom>
            <a:solidFill>
              <a:schemeClr val="bg1"/>
            </a:solidFill>
          </p:spPr>
          <p:txBody>
            <a:bodyPr wrap="square" rtlCol="0">
              <a:spAutoFit/>
            </a:bodyPr>
            <a:lstStyle/>
            <a:p>
              <a:r>
                <a:rPr kumimoji="1" lang="ja-JP" altLang="en-US" sz="3600" dirty="0">
                  <a:latin typeface="BIZ UDPゴシック" panose="020B0400000000000000" pitchFamily="50" charset="-128"/>
                  <a:ea typeface="BIZ UDPゴシック" panose="020B0400000000000000" pitchFamily="50" charset="-128"/>
                </a:rPr>
                <a:t>解決方法</a:t>
              </a:r>
              <a:endParaRPr kumimoji="1" lang="en-US" altLang="ja-JP" sz="3600" dirty="0">
                <a:latin typeface="BIZ UDPゴシック" panose="020B0400000000000000" pitchFamily="50" charset="-128"/>
                <a:ea typeface="BIZ UDPゴシック" panose="020B0400000000000000" pitchFamily="50" charset="-128"/>
              </a:endParaRPr>
            </a:p>
          </p:txBody>
        </p:sp>
      </p:grpSp>
      <p:sp>
        <p:nvSpPr>
          <p:cNvPr id="9" name="テキスト ボックス 8">
            <a:extLst>
              <a:ext uri="{FF2B5EF4-FFF2-40B4-BE49-F238E27FC236}">
                <a16:creationId xmlns:a16="http://schemas.microsoft.com/office/drawing/2014/main" id="{612B8BAC-1C4D-0D90-239D-670A5976F5FC}"/>
              </a:ext>
            </a:extLst>
          </p:cNvPr>
          <p:cNvSpPr txBox="1"/>
          <p:nvPr/>
        </p:nvSpPr>
        <p:spPr>
          <a:xfrm>
            <a:off x="768907" y="4921926"/>
            <a:ext cx="10701834" cy="1446550"/>
          </a:xfrm>
          <a:prstGeom prst="rect">
            <a:avLst/>
          </a:prstGeom>
          <a:noFill/>
        </p:spPr>
        <p:txBody>
          <a:bodyPr wrap="square" rtlCol="0">
            <a:spAutoFit/>
          </a:bodyPr>
          <a:lstStyle/>
          <a:p>
            <a:pPr algn="ctr"/>
            <a:r>
              <a:rPr kumimoji="1" lang="en-US" altLang="ja-JP" sz="4400" dirty="0">
                <a:latin typeface="BIZ UDPゴシック" panose="020B0400000000000000" pitchFamily="50" charset="-128"/>
                <a:ea typeface="BIZ UDPゴシック" panose="020B0400000000000000" pitchFamily="50" charset="-128"/>
              </a:rPr>
              <a:t>BERT</a:t>
            </a:r>
            <a:r>
              <a:rPr kumimoji="1" lang="ja-JP" altLang="en-US" sz="4400" dirty="0">
                <a:latin typeface="BIZ UDPゴシック" panose="020B0400000000000000" pitchFamily="50" charset="-128"/>
                <a:ea typeface="BIZ UDPゴシック" panose="020B0400000000000000" pitchFamily="50" charset="-128"/>
              </a:rPr>
              <a:t>という分類モデルの確率を</a:t>
            </a:r>
            <a:endParaRPr kumimoji="1" lang="en-GB" altLang="ja-JP" sz="4400" dirty="0">
              <a:latin typeface="BIZ UDPゴシック" panose="020B0400000000000000" pitchFamily="50" charset="-128"/>
              <a:ea typeface="BIZ UDPゴシック" panose="020B0400000000000000" pitchFamily="50" charset="-128"/>
            </a:endParaRPr>
          </a:p>
          <a:p>
            <a:pPr algn="ctr"/>
            <a:r>
              <a:rPr kumimoji="1" lang="ja-JP" altLang="en-US" sz="4400" dirty="0">
                <a:latin typeface="BIZ UDPゴシック" panose="020B0400000000000000" pitchFamily="50" charset="-128"/>
                <a:ea typeface="BIZ UDPゴシック" panose="020B0400000000000000" pitchFamily="50" charset="-128"/>
              </a:rPr>
              <a:t>「その感情らしさ」として採用</a:t>
            </a:r>
          </a:p>
        </p:txBody>
      </p:sp>
      <p:sp>
        <p:nvSpPr>
          <p:cNvPr id="10" name="Slide Number Placeholder 9">
            <a:extLst>
              <a:ext uri="{FF2B5EF4-FFF2-40B4-BE49-F238E27FC236}">
                <a16:creationId xmlns:a16="http://schemas.microsoft.com/office/drawing/2014/main" id="{5F448339-1651-D3D0-68B6-A7EB9DD369A6}"/>
              </a:ext>
            </a:extLst>
          </p:cNvPr>
          <p:cNvSpPr>
            <a:spLocks noGrp="1"/>
          </p:cNvSpPr>
          <p:nvPr>
            <p:ph type="sldNum" sz="quarter" idx="12"/>
          </p:nvPr>
        </p:nvSpPr>
        <p:spPr/>
        <p:txBody>
          <a:bodyPr/>
          <a:lstStyle/>
          <a:p>
            <a:fld id="{F42732FB-2277-442C-9711-A45410BE01D8}" type="slidenum">
              <a:rPr kumimoji="1" lang="ja-JP" altLang="en-US" smtClean="0"/>
              <a:t>7</a:t>
            </a:fld>
            <a:endParaRPr kumimoji="1" lang="ja-JP" altLang="en-US"/>
          </a:p>
        </p:txBody>
      </p:sp>
    </p:spTree>
    <p:extLst>
      <p:ext uri="{BB962C8B-B14F-4D97-AF65-F5344CB8AC3E}">
        <p14:creationId xmlns:p14="http://schemas.microsoft.com/office/powerpoint/2010/main" val="100698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83806BF-814E-9D38-A65B-F787AE5EAE13}"/>
              </a:ext>
            </a:extLst>
          </p:cNvPr>
          <p:cNvSpPr txBox="1"/>
          <p:nvPr/>
        </p:nvSpPr>
        <p:spPr>
          <a:xfrm>
            <a:off x="298127" y="48985"/>
            <a:ext cx="3020806" cy="1200329"/>
          </a:xfrm>
          <a:prstGeom prst="rect">
            <a:avLst/>
          </a:prstGeom>
          <a:noFill/>
        </p:spPr>
        <p:txBody>
          <a:bodyPr wrap="square" rtlCol="0">
            <a:spAutoFit/>
          </a:bodyPr>
          <a:lstStyle/>
          <a:p>
            <a:r>
              <a:rPr lang="ja-JP" altLang="en-US" sz="7200" b="1" dirty="0">
                <a:latin typeface="BIZ UDPゴシック" panose="020B0400000000000000" pitchFamily="50" charset="-128"/>
                <a:ea typeface="BIZ UDPゴシック" panose="020B0400000000000000" pitchFamily="50" charset="-128"/>
              </a:rPr>
              <a:t>概要図</a:t>
            </a:r>
            <a:endParaRPr kumimoji="1" lang="ja-JP" altLang="en-US" sz="7200" b="1" dirty="0">
              <a:latin typeface="BIZ UDPゴシック" panose="020B0400000000000000" pitchFamily="50" charset="-128"/>
              <a:ea typeface="BIZ UDPゴシック" panose="020B0400000000000000" pitchFamily="50" charset="-128"/>
            </a:endParaRPr>
          </a:p>
        </p:txBody>
      </p:sp>
      <p:pic>
        <p:nvPicPr>
          <p:cNvPr id="1026" name="Picture 2" descr="Nasdaq Logo PNG vector in SVG, PDF, AI, CDR format">
            <a:extLst>
              <a:ext uri="{FF2B5EF4-FFF2-40B4-BE49-F238E27FC236}">
                <a16:creationId xmlns:a16="http://schemas.microsoft.com/office/drawing/2014/main" id="{C03B4E7C-79D7-6E8F-117A-4BF7D72E3C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9259" b="29533"/>
          <a:stretch/>
        </p:blipFill>
        <p:spPr bwMode="auto">
          <a:xfrm>
            <a:off x="620890" y="3355729"/>
            <a:ext cx="2409326" cy="745199"/>
          </a:xfrm>
          <a:prstGeom prst="rect">
            <a:avLst/>
          </a:prstGeom>
          <a:noFill/>
          <a:ln>
            <a:solidFill>
              <a:schemeClr val="bg2">
                <a:lumMod val="75000"/>
              </a:schemeClr>
            </a:solidFill>
          </a:ln>
          <a:extLst>
            <a:ext uri="{909E8E84-426E-40DD-AFC4-6F175D3DCCD1}">
              <a14:hiddenFill xmlns:a14="http://schemas.microsoft.com/office/drawing/2010/main">
                <a:solidFill>
                  <a:srgbClr val="FFFFFF"/>
                </a:solidFill>
              </a14:hiddenFill>
            </a:ext>
          </a:extLst>
        </p:spPr>
      </p:pic>
      <p:pic>
        <p:nvPicPr>
          <p:cNvPr id="1032" name="Picture 8" descr="Google Finance - 株式市場価格、リアルタイムの相場、ビジネス ニュース">
            <a:extLst>
              <a:ext uri="{FF2B5EF4-FFF2-40B4-BE49-F238E27FC236}">
                <a16:creationId xmlns:a16="http://schemas.microsoft.com/office/drawing/2014/main" id="{F4F249A7-9AA2-E217-769A-847312915E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74" t="21365" r="9907" b="21959"/>
          <a:stretch/>
        </p:blipFill>
        <p:spPr bwMode="auto">
          <a:xfrm>
            <a:off x="620890" y="4916012"/>
            <a:ext cx="2409326" cy="854750"/>
          </a:xfrm>
          <a:prstGeom prst="rect">
            <a:avLst/>
          </a:prstGeom>
          <a:noFill/>
          <a:ln>
            <a:solidFill>
              <a:schemeClr val="bg2">
                <a:lumMod val="75000"/>
              </a:schemeClr>
            </a:solidFill>
          </a:ln>
          <a:extLst>
            <a:ext uri="{909E8E84-426E-40DD-AFC4-6F175D3DCCD1}">
              <a14:hiddenFill xmlns:a14="http://schemas.microsoft.com/office/drawing/2010/main">
                <a:solidFill>
                  <a:srgbClr val="FFFFFF"/>
                </a:solidFill>
              </a14:hiddenFill>
            </a:ext>
          </a:extLst>
        </p:spPr>
      </p:pic>
      <p:grpSp>
        <p:nvGrpSpPr>
          <p:cNvPr id="9" name="グラフィックス 3">
            <a:extLst>
              <a:ext uri="{FF2B5EF4-FFF2-40B4-BE49-F238E27FC236}">
                <a16:creationId xmlns:a16="http://schemas.microsoft.com/office/drawing/2014/main" id="{54F8716F-99EC-042B-F219-F22B80CC3159}"/>
              </a:ext>
            </a:extLst>
          </p:cNvPr>
          <p:cNvGrpSpPr/>
          <p:nvPr/>
        </p:nvGrpSpPr>
        <p:grpSpPr>
          <a:xfrm>
            <a:off x="9337511" y="4404451"/>
            <a:ext cx="1790700" cy="1790700"/>
            <a:chOff x="9467850" y="4543073"/>
            <a:chExt cx="1790700" cy="1790700"/>
          </a:xfrm>
        </p:grpSpPr>
        <p:sp>
          <p:nvSpPr>
            <p:cNvPr id="10" name="フリーフォーム: 図形 9">
              <a:extLst>
                <a:ext uri="{FF2B5EF4-FFF2-40B4-BE49-F238E27FC236}">
                  <a16:creationId xmlns:a16="http://schemas.microsoft.com/office/drawing/2014/main" id="{B7A9BBB8-9FC4-0216-6BA7-7D94C16B735E}"/>
                </a:ext>
              </a:extLst>
            </p:cNvPr>
            <p:cNvSpPr/>
            <p:nvPr/>
          </p:nvSpPr>
          <p:spPr>
            <a:xfrm>
              <a:off x="9467850" y="4543073"/>
              <a:ext cx="1790700" cy="1790700"/>
            </a:xfrm>
            <a:custGeom>
              <a:avLst/>
              <a:gdLst>
                <a:gd name="connsiteX0" fmla="*/ 0 w 1790700"/>
                <a:gd name="connsiteY0" fmla="*/ 0 h 1790700"/>
                <a:gd name="connsiteX1" fmla="*/ 1790700 w 1790700"/>
                <a:gd name="connsiteY1" fmla="*/ 0 h 1790700"/>
                <a:gd name="connsiteX2" fmla="*/ 1790700 w 1790700"/>
                <a:gd name="connsiteY2" fmla="*/ 1790700 h 1790700"/>
                <a:gd name="connsiteX3" fmla="*/ 0 w 1790700"/>
                <a:gd name="connsiteY3" fmla="*/ 1790700 h 1790700"/>
              </a:gdLst>
              <a:ahLst/>
              <a:cxnLst>
                <a:cxn ang="0">
                  <a:pos x="connsiteX0" y="connsiteY0"/>
                </a:cxn>
                <a:cxn ang="0">
                  <a:pos x="connsiteX1" y="connsiteY1"/>
                </a:cxn>
                <a:cxn ang="0">
                  <a:pos x="connsiteX2" y="connsiteY2"/>
                </a:cxn>
                <a:cxn ang="0">
                  <a:pos x="connsiteX3" y="connsiteY3"/>
                </a:cxn>
              </a:cxnLst>
              <a:rect l="l" t="t" r="r" b="b"/>
              <a:pathLst>
                <a:path w="1790700" h="1790700">
                  <a:moveTo>
                    <a:pt x="0" y="0"/>
                  </a:moveTo>
                  <a:lnTo>
                    <a:pt x="1790700" y="0"/>
                  </a:lnTo>
                  <a:lnTo>
                    <a:pt x="1790700" y="1790700"/>
                  </a:lnTo>
                  <a:lnTo>
                    <a:pt x="0" y="1790700"/>
                  </a:lnTo>
                  <a:close/>
                </a:path>
              </a:pathLst>
            </a:custGeom>
            <a:noFill/>
            <a:ln w="9525" cap="flat">
              <a:noFill/>
              <a:prstDash val="solid"/>
              <a:miter/>
            </a:ln>
          </p:spPr>
          <p:txBody>
            <a:bodyPr rtlCol="0" anchor="ctr"/>
            <a:lstStyle/>
            <a:p>
              <a:endParaRPr lang="ja-JP" altLang="en-US"/>
            </a:p>
          </p:txBody>
        </p:sp>
        <p:sp>
          <p:nvSpPr>
            <p:cNvPr id="11" name="フリーフォーム: 図形 10">
              <a:extLst>
                <a:ext uri="{FF2B5EF4-FFF2-40B4-BE49-F238E27FC236}">
                  <a16:creationId xmlns:a16="http://schemas.microsoft.com/office/drawing/2014/main" id="{5CBFD9E1-5CC7-C1B6-BE9B-C4F02F65DC09}"/>
                </a:ext>
              </a:extLst>
            </p:cNvPr>
            <p:cNvSpPr/>
            <p:nvPr/>
          </p:nvSpPr>
          <p:spPr>
            <a:xfrm>
              <a:off x="9467850" y="4545358"/>
              <a:ext cx="1790700" cy="1786127"/>
            </a:xfrm>
            <a:custGeom>
              <a:avLst/>
              <a:gdLst>
                <a:gd name="connsiteX0" fmla="*/ 1709261 w 1790700"/>
                <a:gd name="connsiteY0" fmla="*/ 1139666 h 1786127"/>
                <a:gd name="connsiteX1" fmla="*/ 1709261 w 1790700"/>
                <a:gd name="connsiteY1" fmla="*/ 995839 h 1786127"/>
                <a:gd name="connsiteX2" fmla="*/ 1425797 w 1790700"/>
                <a:gd name="connsiteY2" fmla="*/ 1054037 h 1786127"/>
                <a:gd name="connsiteX3" fmla="*/ 1142429 w 1790700"/>
                <a:gd name="connsiteY3" fmla="*/ 995839 h 1786127"/>
                <a:gd name="connsiteX4" fmla="*/ 1142429 w 1790700"/>
                <a:gd name="connsiteY4" fmla="*/ 1139666 h 1786127"/>
                <a:gd name="connsiteX5" fmla="*/ 1425797 w 1790700"/>
                <a:gd name="connsiteY5" fmla="*/ 1225201 h 1786127"/>
                <a:gd name="connsiteX6" fmla="*/ 1709261 w 1790700"/>
                <a:gd name="connsiteY6" fmla="*/ 1139666 h 1786127"/>
                <a:gd name="connsiteX7" fmla="*/ 1709261 w 1790700"/>
                <a:gd name="connsiteY7" fmla="*/ 1387793 h 1786127"/>
                <a:gd name="connsiteX8" fmla="*/ 1709261 w 1790700"/>
                <a:gd name="connsiteY8" fmla="*/ 1248442 h 1786127"/>
                <a:gd name="connsiteX9" fmla="*/ 1425797 w 1790700"/>
                <a:gd name="connsiteY9" fmla="*/ 1306735 h 1786127"/>
                <a:gd name="connsiteX10" fmla="*/ 1142429 w 1790700"/>
                <a:gd name="connsiteY10" fmla="*/ 1248442 h 1786127"/>
                <a:gd name="connsiteX11" fmla="*/ 1142429 w 1790700"/>
                <a:gd name="connsiteY11" fmla="*/ 1387793 h 1786127"/>
                <a:gd name="connsiteX12" fmla="*/ 1425797 w 1790700"/>
                <a:gd name="connsiteY12" fmla="*/ 1473327 h 1786127"/>
                <a:gd name="connsiteX13" fmla="*/ 1709261 w 1790700"/>
                <a:gd name="connsiteY13" fmla="*/ 1387793 h 1786127"/>
                <a:gd name="connsiteX14" fmla="*/ 1709261 w 1790700"/>
                <a:gd name="connsiteY14" fmla="*/ 1609344 h 1786127"/>
                <a:gd name="connsiteX15" fmla="*/ 1709261 w 1790700"/>
                <a:gd name="connsiteY15" fmla="*/ 1496568 h 1786127"/>
                <a:gd name="connsiteX16" fmla="*/ 1425797 w 1790700"/>
                <a:gd name="connsiteY16" fmla="*/ 1554766 h 1786127"/>
                <a:gd name="connsiteX17" fmla="*/ 1142429 w 1790700"/>
                <a:gd name="connsiteY17" fmla="*/ 1496568 h 1786127"/>
                <a:gd name="connsiteX18" fmla="*/ 1142429 w 1790700"/>
                <a:gd name="connsiteY18" fmla="*/ 1609344 h 1786127"/>
                <a:gd name="connsiteX19" fmla="*/ 1425797 w 1790700"/>
                <a:gd name="connsiteY19" fmla="*/ 1694878 h 1786127"/>
                <a:gd name="connsiteX20" fmla="*/ 1709261 w 1790700"/>
                <a:gd name="connsiteY20" fmla="*/ 1609344 h 1786127"/>
                <a:gd name="connsiteX21" fmla="*/ 1142429 w 1790700"/>
                <a:gd name="connsiteY21" fmla="*/ 887063 h 1786127"/>
                <a:gd name="connsiteX22" fmla="*/ 1425797 w 1790700"/>
                <a:gd name="connsiteY22" fmla="*/ 972598 h 1786127"/>
                <a:gd name="connsiteX23" fmla="*/ 1709261 w 1790700"/>
                <a:gd name="connsiteY23" fmla="*/ 887063 h 1786127"/>
                <a:gd name="connsiteX24" fmla="*/ 1425797 w 1790700"/>
                <a:gd name="connsiteY24" fmla="*/ 801529 h 1786127"/>
                <a:gd name="connsiteX25" fmla="*/ 1142429 w 1790700"/>
                <a:gd name="connsiteY25" fmla="*/ 887063 h 1786127"/>
                <a:gd name="connsiteX26" fmla="*/ 1790700 w 1790700"/>
                <a:gd name="connsiteY26" fmla="*/ 887063 h 1786127"/>
                <a:gd name="connsiteX27" fmla="*/ 1790700 w 1790700"/>
                <a:gd name="connsiteY27" fmla="*/ 1609344 h 1786127"/>
                <a:gd name="connsiteX28" fmla="*/ 1425797 w 1790700"/>
                <a:gd name="connsiteY28" fmla="*/ 1776317 h 1786127"/>
                <a:gd name="connsiteX29" fmla="*/ 1060895 w 1790700"/>
                <a:gd name="connsiteY29" fmla="*/ 1609344 h 1786127"/>
                <a:gd name="connsiteX30" fmla="*/ 1060895 w 1790700"/>
                <a:gd name="connsiteY30" fmla="*/ 887063 h 1786127"/>
                <a:gd name="connsiteX31" fmla="*/ 1425797 w 1790700"/>
                <a:gd name="connsiteY31" fmla="*/ 719995 h 1786127"/>
                <a:gd name="connsiteX32" fmla="*/ 1790700 w 1790700"/>
                <a:gd name="connsiteY32" fmla="*/ 887063 h 1786127"/>
                <a:gd name="connsiteX33" fmla="*/ 81439 w 1790700"/>
                <a:gd name="connsiteY33" fmla="*/ 1551908 h 1786127"/>
                <a:gd name="connsiteX34" fmla="*/ 81439 w 1790700"/>
                <a:gd name="connsiteY34" fmla="*/ 234220 h 1786127"/>
                <a:gd name="connsiteX35" fmla="*/ 234220 w 1790700"/>
                <a:gd name="connsiteY35" fmla="*/ 81439 h 1786127"/>
                <a:gd name="connsiteX36" fmla="*/ 1552004 w 1790700"/>
                <a:gd name="connsiteY36" fmla="*/ 81439 h 1786127"/>
                <a:gd name="connsiteX37" fmla="*/ 1704689 w 1790700"/>
                <a:gd name="connsiteY37" fmla="*/ 234220 h 1786127"/>
                <a:gd name="connsiteX38" fmla="*/ 1704689 w 1790700"/>
                <a:gd name="connsiteY38" fmla="*/ 750951 h 1786127"/>
                <a:gd name="connsiteX39" fmla="*/ 1786223 w 1790700"/>
                <a:gd name="connsiteY39" fmla="*/ 750951 h 1786127"/>
                <a:gd name="connsiteX40" fmla="*/ 1786223 w 1790700"/>
                <a:gd name="connsiteY40" fmla="*/ 234220 h 1786127"/>
                <a:gd name="connsiteX41" fmla="*/ 1552004 w 1790700"/>
                <a:gd name="connsiteY41" fmla="*/ 0 h 1786127"/>
                <a:gd name="connsiteX42" fmla="*/ 234220 w 1790700"/>
                <a:gd name="connsiteY42" fmla="*/ 0 h 1786127"/>
                <a:gd name="connsiteX43" fmla="*/ 0 w 1790700"/>
                <a:gd name="connsiteY43" fmla="*/ 234220 h 1786127"/>
                <a:gd name="connsiteX44" fmla="*/ 0 w 1790700"/>
                <a:gd name="connsiteY44" fmla="*/ 1551908 h 1786127"/>
                <a:gd name="connsiteX45" fmla="*/ 234220 w 1790700"/>
                <a:gd name="connsiteY45" fmla="*/ 1786128 h 1786127"/>
                <a:gd name="connsiteX46" fmla="*/ 1035177 w 1790700"/>
                <a:gd name="connsiteY46" fmla="*/ 1786128 h 1786127"/>
                <a:gd name="connsiteX47" fmla="*/ 1035177 w 1790700"/>
                <a:gd name="connsiteY47" fmla="*/ 1704689 h 1786127"/>
                <a:gd name="connsiteX48" fmla="*/ 234220 w 1790700"/>
                <a:gd name="connsiteY48" fmla="*/ 1704689 h 1786127"/>
                <a:gd name="connsiteX49" fmla="*/ 81439 w 1790700"/>
                <a:gd name="connsiteY49" fmla="*/ 1551908 h 1786127"/>
                <a:gd name="connsiteX50" fmla="*/ 1343216 w 1790700"/>
                <a:gd name="connsiteY50" fmla="*/ 260033 h 1786127"/>
                <a:gd name="connsiteX51" fmla="*/ 1343216 w 1790700"/>
                <a:gd name="connsiteY51" fmla="*/ 579977 h 1786127"/>
                <a:gd name="connsiteX52" fmla="*/ 1516856 w 1790700"/>
                <a:gd name="connsiteY52" fmla="*/ 579977 h 1786127"/>
                <a:gd name="connsiteX53" fmla="*/ 1516856 w 1790700"/>
                <a:gd name="connsiteY53" fmla="*/ 528733 h 1786127"/>
                <a:gd name="connsiteX54" fmla="*/ 1407890 w 1790700"/>
                <a:gd name="connsiteY54" fmla="*/ 528733 h 1786127"/>
                <a:gd name="connsiteX55" fmla="*/ 1407890 w 1790700"/>
                <a:gd name="connsiteY55" fmla="*/ 260033 h 1786127"/>
                <a:gd name="connsiteX56" fmla="*/ 1222343 w 1790700"/>
                <a:gd name="connsiteY56" fmla="*/ 419767 h 1786127"/>
                <a:gd name="connsiteX57" fmla="*/ 1207103 w 1790700"/>
                <a:gd name="connsiteY57" fmla="*/ 333470 h 1786127"/>
                <a:gd name="connsiteX58" fmla="*/ 1160431 w 1790700"/>
                <a:gd name="connsiteY58" fmla="*/ 305276 h 1786127"/>
                <a:gd name="connsiteX59" fmla="*/ 1113758 w 1790700"/>
                <a:gd name="connsiteY59" fmla="*/ 333470 h 1786127"/>
                <a:gd name="connsiteX60" fmla="*/ 1098614 w 1790700"/>
                <a:gd name="connsiteY60" fmla="*/ 419767 h 1786127"/>
                <a:gd name="connsiteX61" fmla="*/ 1114235 w 1790700"/>
                <a:gd name="connsiteY61" fmla="*/ 505682 h 1786127"/>
                <a:gd name="connsiteX62" fmla="*/ 1160431 w 1790700"/>
                <a:gd name="connsiteY62" fmla="*/ 534734 h 1786127"/>
                <a:gd name="connsiteX63" fmla="*/ 1206532 w 1790700"/>
                <a:gd name="connsiteY63" fmla="*/ 505682 h 1786127"/>
                <a:gd name="connsiteX64" fmla="*/ 1222343 w 1790700"/>
                <a:gd name="connsiteY64" fmla="*/ 419767 h 1786127"/>
                <a:gd name="connsiteX65" fmla="*/ 1207103 w 1790700"/>
                <a:gd name="connsiteY65" fmla="*/ 579025 h 1786127"/>
                <a:gd name="connsiteX66" fmla="*/ 1238917 w 1790700"/>
                <a:gd name="connsiteY66" fmla="*/ 597027 h 1786127"/>
                <a:gd name="connsiteX67" fmla="*/ 1281875 w 1790700"/>
                <a:gd name="connsiteY67" fmla="*/ 606362 h 1786127"/>
                <a:gd name="connsiteX68" fmla="*/ 1281875 w 1790700"/>
                <a:gd name="connsiteY68" fmla="*/ 658940 h 1786127"/>
                <a:gd name="connsiteX69" fmla="*/ 1211675 w 1790700"/>
                <a:gd name="connsiteY69" fmla="*/ 634460 h 1786127"/>
                <a:gd name="connsiteX70" fmla="*/ 1153954 w 1790700"/>
                <a:gd name="connsiteY70" fmla="*/ 586931 h 1786127"/>
                <a:gd name="connsiteX71" fmla="*/ 1063943 w 1790700"/>
                <a:gd name="connsiteY71" fmla="*/ 541020 h 1786127"/>
                <a:gd name="connsiteX72" fmla="*/ 1032034 w 1790700"/>
                <a:gd name="connsiteY72" fmla="*/ 419767 h 1786127"/>
                <a:gd name="connsiteX73" fmla="*/ 1065752 w 1790700"/>
                <a:gd name="connsiteY73" fmla="*/ 296799 h 1786127"/>
                <a:gd name="connsiteX74" fmla="*/ 1160431 w 1790700"/>
                <a:gd name="connsiteY74" fmla="*/ 253079 h 1786127"/>
                <a:gd name="connsiteX75" fmla="*/ 1255109 w 1790700"/>
                <a:gd name="connsiteY75" fmla="*/ 296799 h 1786127"/>
                <a:gd name="connsiteX76" fmla="*/ 1288733 w 1790700"/>
                <a:gd name="connsiteY76" fmla="*/ 419767 h 1786127"/>
                <a:gd name="connsiteX77" fmla="*/ 1267778 w 1790700"/>
                <a:gd name="connsiteY77" fmla="*/ 522732 h 1786127"/>
                <a:gd name="connsiteX78" fmla="*/ 1207103 w 1790700"/>
                <a:gd name="connsiteY78" fmla="*/ 579025 h 1786127"/>
                <a:gd name="connsiteX79" fmla="*/ 881539 w 1790700"/>
                <a:gd name="connsiteY79" fmla="*/ 535115 h 1786127"/>
                <a:gd name="connsiteX80" fmla="*/ 844868 w 1790700"/>
                <a:gd name="connsiteY80" fmla="*/ 530828 h 1786127"/>
                <a:gd name="connsiteX81" fmla="*/ 806291 w 1790700"/>
                <a:gd name="connsiteY81" fmla="*/ 519970 h 1786127"/>
                <a:gd name="connsiteX82" fmla="*/ 806291 w 1790700"/>
                <a:gd name="connsiteY82" fmla="*/ 568452 h 1786127"/>
                <a:gd name="connsiteX83" fmla="*/ 842772 w 1790700"/>
                <a:gd name="connsiteY83" fmla="*/ 581882 h 1786127"/>
                <a:gd name="connsiteX84" fmla="*/ 886206 w 1790700"/>
                <a:gd name="connsiteY84" fmla="*/ 586931 h 1786127"/>
                <a:gd name="connsiteX85" fmla="*/ 964406 w 1790700"/>
                <a:gd name="connsiteY85" fmla="*/ 561308 h 1786127"/>
                <a:gd name="connsiteX86" fmla="*/ 992791 w 1790700"/>
                <a:gd name="connsiteY86" fmla="*/ 491776 h 1786127"/>
                <a:gd name="connsiteX87" fmla="*/ 986123 w 1790700"/>
                <a:gd name="connsiteY87" fmla="*/ 453295 h 1786127"/>
                <a:gd name="connsiteX88" fmla="*/ 965359 w 1790700"/>
                <a:gd name="connsiteY88" fmla="*/ 424339 h 1786127"/>
                <a:gd name="connsiteX89" fmla="*/ 927259 w 1790700"/>
                <a:gd name="connsiteY89" fmla="*/ 398526 h 1786127"/>
                <a:gd name="connsiteX90" fmla="*/ 902303 w 1790700"/>
                <a:gd name="connsiteY90" fmla="*/ 385191 h 1786127"/>
                <a:gd name="connsiteX91" fmla="*/ 874871 w 1790700"/>
                <a:gd name="connsiteY91" fmla="*/ 364903 h 1786127"/>
                <a:gd name="connsiteX92" fmla="*/ 867728 w 1790700"/>
                <a:gd name="connsiteY92" fmla="*/ 341281 h 1786127"/>
                <a:gd name="connsiteX93" fmla="*/ 878777 w 1790700"/>
                <a:gd name="connsiteY93" fmla="*/ 314515 h 1786127"/>
                <a:gd name="connsiteX94" fmla="*/ 909257 w 1790700"/>
                <a:gd name="connsiteY94" fmla="*/ 304800 h 1786127"/>
                <a:gd name="connsiteX95" fmla="*/ 975265 w 1790700"/>
                <a:gd name="connsiteY95" fmla="*/ 318707 h 1786127"/>
                <a:gd name="connsiteX96" fmla="*/ 975265 w 1790700"/>
                <a:gd name="connsiteY96" fmla="*/ 269748 h 1786127"/>
                <a:gd name="connsiteX97" fmla="*/ 902780 w 1790700"/>
                <a:gd name="connsiteY97" fmla="*/ 253079 h 1786127"/>
                <a:gd name="connsiteX98" fmla="*/ 851345 w 1790700"/>
                <a:gd name="connsiteY98" fmla="*/ 264414 h 1786127"/>
                <a:gd name="connsiteX99" fmla="*/ 816007 w 1790700"/>
                <a:gd name="connsiteY99" fmla="*/ 296799 h 1786127"/>
                <a:gd name="connsiteX100" fmla="*/ 803053 w 1790700"/>
                <a:gd name="connsiteY100" fmla="*/ 345948 h 1786127"/>
                <a:gd name="connsiteX101" fmla="*/ 817817 w 1790700"/>
                <a:gd name="connsiteY101" fmla="*/ 397574 h 1786127"/>
                <a:gd name="connsiteX102" fmla="*/ 866775 w 1790700"/>
                <a:gd name="connsiteY102" fmla="*/ 437293 h 1786127"/>
                <a:gd name="connsiteX103" fmla="*/ 891731 w 1790700"/>
                <a:gd name="connsiteY103" fmla="*/ 450723 h 1786127"/>
                <a:gd name="connsiteX104" fmla="*/ 918686 w 1790700"/>
                <a:gd name="connsiteY104" fmla="*/ 470821 h 1786127"/>
                <a:gd name="connsiteX105" fmla="*/ 926878 w 1790700"/>
                <a:gd name="connsiteY105" fmla="*/ 495014 h 1786127"/>
                <a:gd name="connsiteX106" fmla="*/ 915257 w 1790700"/>
                <a:gd name="connsiteY106" fmla="*/ 524828 h 1786127"/>
                <a:gd name="connsiteX107" fmla="*/ 881539 w 1790700"/>
                <a:gd name="connsiteY107" fmla="*/ 535115 h 1786127"/>
                <a:gd name="connsiteX108" fmla="*/ 644271 w 1790700"/>
                <a:gd name="connsiteY108" fmla="*/ 623792 h 1786127"/>
                <a:gd name="connsiteX109" fmla="*/ 617887 w 1790700"/>
                <a:gd name="connsiteY109" fmla="*/ 633032 h 1786127"/>
                <a:gd name="connsiteX110" fmla="*/ 595694 w 1790700"/>
                <a:gd name="connsiteY110" fmla="*/ 631317 h 1786127"/>
                <a:gd name="connsiteX111" fmla="*/ 595694 w 1790700"/>
                <a:gd name="connsiteY111" fmla="*/ 673703 h 1786127"/>
                <a:gd name="connsiteX112" fmla="*/ 636365 w 1790700"/>
                <a:gd name="connsiteY112" fmla="*/ 680657 h 1786127"/>
                <a:gd name="connsiteX113" fmla="*/ 678847 w 1790700"/>
                <a:gd name="connsiteY113" fmla="*/ 665417 h 1786127"/>
                <a:gd name="connsiteX114" fmla="*/ 704755 w 1790700"/>
                <a:gd name="connsiteY114" fmla="*/ 615982 h 1786127"/>
                <a:gd name="connsiteX115" fmla="*/ 782765 w 1790700"/>
                <a:gd name="connsiteY115" fmla="*/ 344138 h 1786127"/>
                <a:gd name="connsiteX116" fmla="*/ 717613 w 1790700"/>
                <a:gd name="connsiteY116" fmla="*/ 344138 h 1786127"/>
                <a:gd name="connsiteX117" fmla="*/ 683038 w 1790700"/>
                <a:gd name="connsiteY117" fmla="*/ 517684 h 1786127"/>
                <a:gd name="connsiteX118" fmla="*/ 647510 w 1790700"/>
                <a:gd name="connsiteY118" fmla="*/ 344138 h 1786127"/>
                <a:gd name="connsiteX119" fmla="*/ 580454 w 1790700"/>
                <a:gd name="connsiteY119" fmla="*/ 344138 h 1786127"/>
                <a:gd name="connsiteX120" fmla="*/ 656749 w 1790700"/>
                <a:gd name="connsiteY120" fmla="*/ 584645 h 1786127"/>
                <a:gd name="connsiteX121" fmla="*/ 655796 w 1790700"/>
                <a:gd name="connsiteY121" fmla="*/ 592836 h 1786127"/>
                <a:gd name="connsiteX122" fmla="*/ 644271 w 1790700"/>
                <a:gd name="connsiteY122" fmla="*/ 623792 h 1786127"/>
                <a:gd name="connsiteX123" fmla="*/ 489585 w 1790700"/>
                <a:gd name="connsiteY123" fmla="*/ 579977 h 1786127"/>
                <a:gd name="connsiteX124" fmla="*/ 489585 w 1790700"/>
                <a:gd name="connsiteY124" fmla="*/ 355664 h 1786127"/>
                <a:gd name="connsiteX125" fmla="*/ 435578 w 1790700"/>
                <a:gd name="connsiteY125" fmla="*/ 501015 h 1786127"/>
                <a:gd name="connsiteX126" fmla="*/ 380619 w 1790700"/>
                <a:gd name="connsiteY126" fmla="*/ 501015 h 1786127"/>
                <a:gd name="connsiteX127" fmla="*/ 326993 w 1790700"/>
                <a:gd name="connsiteY127" fmla="*/ 356997 h 1786127"/>
                <a:gd name="connsiteX128" fmla="*/ 326993 w 1790700"/>
                <a:gd name="connsiteY128" fmla="*/ 579977 h 1786127"/>
                <a:gd name="connsiteX129" fmla="*/ 269272 w 1790700"/>
                <a:gd name="connsiteY129" fmla="*/ 579977 h 1786127"/>
                <a:gd name="connsiteX130" fmla="*/ 269272 w 1790700"/>
                <a:gd name="connsiteY130" fmla="*/ 260033 h 1786127"/>
                <a:gd name="connsiteX131" fmla="*/ 343281 w 1790700"/>
                <a:gd name="connsiteY131" fmla="*/ 260033 h 1786127"/>
                <a:gd name="connsiteX132" fmla="*/ 409289 w 1790700"/>
                <a:gd name="connsiteY132" fmla="*/ 439198 h 1786127"/>
                <a:gd name="connsiteX133" fmla="*/ 475298 w 1790700"/>
                <a:gd name="connsiteY133" fmla="*/ 260033 h 1786127"/>
                <a:gd name="connsiteX134" fmla="*/ 547307 w 1790700"/>
                <a:gd name="connsiteY134" fmla="*/ 260033 h 1786127"/>
                <a:gd name="connsiteX135" fmla="*/ 547307 w 1790700"/>
                <a:gd name="connsiteY135" fmla="*/ 579977 h 178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790700" h="1786127">
                  <a:moveTo>
                    <a:pt x="1709261" y="1139666"/>
                  </a:moveTo>
                  <a:lnTo>
                    <a:pt x="1709261" y="995839"/>
                  </a:lnTo>
                  <a:cubicBezTo>
                    <a:pt x="1638776" y="1034225"/>
                    <a:pt x="1532096" y="1054037"/>
                    <a:pt x="1425797" y="1054037"/>
                  </a:cubicBezTo>
                  <a:cubicBezTo>
                    <a:pt x="1319593" y="1054037"/>
                    <a:pt x="1212818" y="1034225"/>
                    <a:pt x="1142429" y="995839"/>
                  </a:cubicBezTo>
                  <a:lnTo>
                    <a:pt x="1142429" y="1139666"/>
                  </a:lnTo>
                  <a:cubicBezTo>
                    <a:pt x="1142429" y="1165193"/>
                    <a:pt x="1238822" y="1225201"/>
                    <a:pt x="1425797" y="1225201"/>
                  </a:cubicBezTo>
                  <a:cubicBezTo>
                    <a:pt x="1612868" y="1225201"/>
                    <a:pt x="1709261" y="1165193"/>
                    <a:pt x="1709261" y="1139666"/>
                  </a:cubicBezTo>
                  <a:close/>
                  <a:moveTo>
                    <a:pt x="1709261" y="1387793"/>
                  </a:moveTo>
                  <a:lnTo>
                    <a:pt x="1709261" y="1248442"/>
                  </a:lnTo>
                  <a:cubicBezTo>
                    <a:pt x="1638776" y="1286828"/>
                    <a:pt x="1532096" y="1306735"/>
                    <a:pt x="1425797" y="1306735"/>
                  </a:cubicBezTo>
                  <a:cubicBezTo>
                    <a:pt x="1319593" y="1306735"/>
                    <a:pt x="1212818" y="1286828"/>
                    <a:pt x="1142429" y="1248442"/>
                  </a:cubicBezTo>
                  <a:lnTo>
                    <a:pt x="1142429" y="1387793"/>
                  </a:lnTo>
                  <a:cubicBezTo>
                    <a:pt x="1142429" y="1413320"/>
                    <a:pt x="1238822" y="1473327"/>
                    <a:pt x="1425797" y="1473327"/>
                  </a:cubicBezTo>
                  <a:cubicBezTo>
                    <a:pt x="1612868" y="1473327"/>
                    <a:pt x="1709261" y="1413320"/>
                    <a:pt x="1709261" y="1387793"/>
                  </a:cubicBezTo>
                  <a:close/>
                  <a:moveTo>
                    <a:pt x="1709261" y="1609344"/>
                  </a:moveTo>
                  <a:lnTo>
                    <a:pt x="1709261" y="1496568"/>
                  </a:lnTo>
                  <a:cubicBezTo>
                    <a:pt x="1638776" y="1534954"/>
                    <a:pt x="1532096" y="1554766"/>
                    <a:pt x="1425797" y="1554766"/>
                  </a:cubicBezTo>
                  <a:cubicBezTo>
                    <a:pt x="1319593" y="1554766"/>
                    <a:pt x="1212818" y="1534954"/>
                    <a:pt x="1142429" y="1496568"/>
                  </a:cubicBezTo>
                  <a:lnTo>
                    <a:pt x="1142429" y="1609344"/>
                  </a:lnTo>
                  <a:cubicBezTo>
                    <a:pt x="1142429" y="1634871"/>
                    <a:pt x="1238822" y="1694878"/>
                    <a:pt x="1425797" y="1694878"/>
                  </a:cubicBezTo>
                  <a:cubicBezTo>
                    <a:pt x="1612868" y="1694878"/>
                    <a:pt x="1709261" y="1634871"/>
                    <a:pt x="1709261" y="1609344"/>
                  </a:cubicBezTo>
                  <a:close/>
                  <a:moveTo>
                    <a:pt x="1142429" y="887063"/>
                  </a:moveTo>
                  <a:cubicBezTo>
                    <a:pt x="1142429" y="912686"/>
                    <a:pt x="1238822" y="972598"/>
                    <a:pt x="1425797" y="972598"/>
                  </a:cubicBezTo>
                  <a:cubicBezTo>
                    <a:pt x="1612868" y="972598"/>
                    <a:pt x="1709261" y="912686"/>
                    <a:pt x="1709261" y="887063"/>
                  </a:cubicBezTo>
                  <a:cubicBezTo>
                    <a:pt x="1709261" y="861536"/>
                    <a:pt x="1612868" y="801529"/>
                    <a:pt x="1425797" y="801529"/>
                  </a:cubicBezTo>
                  <a:cubicBezTo>
                    <a:pt x="1238822" y="801529"/>
                    <a:pt x="1142429" y="861536"/>
                    <a:pt x="1142429" y="887063"/>
                  </a:cubicBezTo>
                  <a:close/>
                  <a:moveTo>
                    <a:pt x="1790700" y="887063"/>
                  </a:moveTo>
                  <a:lnTo>
                    <a:pt x="1790700" y="1609344"/>
                  </a:lnTo>
                  <a:cubicBezTo>
                    <a:pt x="1790700" y="1718977"/>
                    <a:pt x="1607153" y="1776317"/>
                    <a:pt x="1425797" y="1776317"/>
                  </a:cubicBezTo>
                  <a:cubicBezTo>
                    <a:pt x="1244537" y="1776317"/>
                    <a:pt x="1060895" y="1718977"/>
                    <a:pt x="1060895" y="1609344"/>
                  </a:cubicBezTo>
                  <a:lnTo>
                    <a:pt x="1060895" y="887063"/>
                  </a:lnTo>
                  <a:cubicBezTo>
                    <a:pt x="1060895" y="777431"/>
                    <a:pt x="1244537" y="719995"/>
                    <a:pt x="1425797" y="719995"/>
                  </a:cubicBezTo>
                  <a:cubicBezTo>
                    <a:pt x="1607153" y="719995"/>
                    <a:pt x="1790700" y="777431"/>
                    <a:pt x="1790700" y="887063"/>
                  </a:cubicBezTo>
                  <a:close/>
                  <a:moveTo>
                    <a:pt x="81439" y="1551908"/>
                  </a:moveTo>
                  <a:lnTo>
                    <a:pt x="81439" y="234220"/>
                  </a:lnTo>
                  <a:cubicBezTo>
                    <a:pt x="81439" y="149924"/>
                    <a:pt x="150019" y="81439"/>
                    <a:pt x="234220" y="81439"/>
                  </a:cubicBezTo>
                  <a:lnTo>
                    <a:pt x="1552004" y="81439"/>
                  </a:lnTo>
                  <a:cubicBezTo>
                    <a:pt x="1636205" y="81439"/>
                    <a:pt x="1704689" y="149924"/>
                    <a:pt x="1704689" y="234220"/>
                  </a:cubicBezTo>
                  <a:lnTo>
                    <a:pt x="1704689" y="750951"/>
                  </a:lnTo>
                  <a:lnTo>
                    <a:pt x="1786223" y="750951"/>
                  </a:lnTo>
                  <a:lnTo>
                    <a:pt x="1786223" y="234220"/>
                  </a:lnTo>
                  <a:cubicBezTo>
                    <a:pt x="1786223" y="105061"/>
                    <a:pt x="1681163" y="0"/>
                    <a:pt x="1552004" y="0"/>
                  </a:cubicBezTo>
                  <a:lnTo>
                    <a:pt x="234220" y="0"/>
                  </a:lnTo>
                  <a:cubicBezTo>
                    <a:pt x="105061" y="0"/>
                    <a:pt x="0" y="105061"/>
                    <a:pt x="0" y="234220"/>
                  </a:cubicBezTo>
                  <a:lnTo>
                    <a:pt x="0" y="1551908"/>
                  </a:lnTo>
                  <a:cubicBezTo>
                    <a:pt x="0" y="1681067"/>
                    <a:pt x="105061" y="1786128"/>
                    <a:pt x="234220" y="1786128"/>
                  </a:cubicBezTo>
                  <a:lnTo>
                    <a:pt x="1035177" y="1786128"/>
                  </a:lnTo>
                  <a:lnTo>
                    <a:pt x="1035177" y="1704689"/>
                  </a:lnTo>
                  <a:lnTo>
                    <a:pt x="234220" y="1704689"/>
                  </a:lnTo>
                  <a:cubicBezTo>
                    <a:pt x="150019" y="1704689"/>
                    <a:pt x="81439" y="1636109"/>
                    <a:pt x="81439" y="1551908"/>
                  </a:cubicBezTo>
                  <a:close/>
                  <a:moveTo>
                    <a:pt x="1343216" y="260033"/>
                  </a:moveTo>
                  <a:lnTo>
                    <a:pt x="1343216" y="579977"/>
                  </a:lnTo>
                  <a:lnTo>
                    <a:pt x="1516856" y="579977"/>
                  </a:lnTo>
                  <a:lnTo>
                    <a:pt x="1516856" y="528733"/>
                  </a:lnTo>
                  <a:lnTo>
                    <a:pt x="1407890" y="528733"/>
                  </a:lnTo>
                  <a:lnTo>
                    <a:pt x="1407890" y="260033"/>
                  </a:lnTo>
                  <a:close/>
                  <a:moveTo>
                    <a:pt x="1222343" y="419767"/>
                  </a:moveTo>
                  <a:cubicBezTo>
                    <a:pt x="1222343" y="381000"/>
                    <a:pt x="1217200" y="352235"/>
                    <a:pt x="1207103" y="333470"/>
                  </a:cubicBezTo>
                  <a:cubicBezTo>
                    <a:pt x="1196912" y="314706"/>
                    <a:pt x="1181291" y="305276"/>
                    <a:pt x="1160431" y="305276"/>
                  </a:cubicBezTo>
                  <a:cubicBezTo>
                    <a:pt x="1139571" y="305276"/>
                    <a:pt x="1123950" y="314706"/>
                    <a:pt x="1113758" y="333470"/>
                  </a:cubicBezTo>
                  <a:cubicBezTo>
                    <a:pt x="1103662" y="352235"/>
                    <a:pt x="1098614" y="381000"/>
                    <a:pt x="1098614" y="419767"/>
                  </a:cubicBezTo>
                  <a:cubicBezTo>
                    <a:pt x="1098614" y="457676"/>
                    <a:pt x="1103757" y="486251"/>
                    <a:pt x="1114235" y="505682"/>
                  </a:cubicBezTo>
                  <a:cubicBezTo>
                    <a:pt x="1124712" y="525018"/>
                    <a:pt x="1140143" y="534734"/>
                    <a:pt x="1160431" y="534734"/>
                  </a:cubicBezTo>
                  <a:cubicBezTo>
                    <a:pt x="1180719" y="534734"/>
                    <a:pt x="1196150" y="525018"/>
                    <a:pt x="1206532" y="505682"/>
                  </a:cubicBezTo>
                  <a:cubicBezTo>
                    <a:pt x="1217009" y="486251"/>
                    <a:pt x="1222343" y="457676"/>
                    <a:pt x="1222343" y="419767"/>
                  </a:cubicBezTo>
                  <a:close/>
                  <a:moveTo>
                    <a:pt x="1207103" y="579025"/>
                  </a:moveTo>
                  <a:cubicBezTo>
                    <a:pt x="1216628" y="586740"/>
                    <a:pt x="1227201" y="592741"/>
                    <a:pt x="1238917" y="597027"/>
                  </a:cubicBezTo>
                  <a:cubicBezTo>
                    <a:pt x="1250633" y="601313"/>
                    <a:pt x="1264920" y="604457"/>
                    <a:pt x="1281875" y="606362"/>
                  </a:cubicBezTo>
                  <a:lnTo>
                    <a:pt x="1281875" y="658940"/>
                  </a:lnTo>
                  <a:cubicBezTo>
                    <a:pt x="1257491" y="655225"/>
                    <a:pt x="1234154" y="647033"/>
                    <a:pt x="1211675" y="634460"/>
                  </a:cubicBezTo>
                  <a:cubicBezTo>
                    <a:pt x="1189196" y="621792"/>
                    <a:pt x="1169956" y="605981"/>
                    <a:pt x="1153954" y="586931"/>
                  </a:cubicBezTo>
                  <a:cubicBezTo>
                    <a:pt x="1115187" y="585407"/>
                    <a:pt x="1085183" y="570071"/>
                    <a:pt x="1063943" y="541020"/>
                  </a:cubicBezTo>
                  <a:cubicBezTo>
                    <a:pt x="1042702" y="511874"/>
                    <a:pt x="1032034" y="471583"/>
                    <a:pt x="1032034" y="419767"/>
                  </a:cubicBezTo>
                  <a:cubicBezTo>
                    <a:pt x="1032034" y="366808"/>
                    <a:pt x="1043273" y="325850"/>
                    <a:pt x="1065752" y="296799"/>
                  </a:cubicBezTo>
                  <a:cubicBezTo>
                    <a:pt x="1088231" y="267653"/>
                    <a:pt x="1119759" y="253079"/>
                    <a:pt x="1160431" y="253079"/>
                  </a:cubicBezTo>
                  <a:cubicBezTo>
                    <a:pt x="1201007" y="253079"/>
                    <a:pt x="1232630" y="267653"/>
                    <a:pt x="1255109" y="296799"/>
                  </a:cubicBezTo>
                  <a:cubicBezTo>
                    <a:pt x="1277493" y="325850"/>
                    <a:pt x="1288733" y="366808"/>
                    <a:pt x="1288733" y="419767"/>
                  </a:cubicBezTo>
                  <a:cubicBezTo>
                    <a:pt x="1288733" y="461010"/>
                    <a:pt x="1281779" y="495395"/>
                    <a:pt x="1267778" y="522732"/>
                  </a:cubicBezTo>
                  <a:cubicBezTo>
                    <a:pt x="1253776" y="550164"/>
                    <a:pt x="1233488" y="568928"/>
                    <a:pt x="1207103" y="579025"/>
                  </a:cubicBezTo>
                  <a:close/>
                  <a:moveTo>
                    <a:pt x="881539" y="535115"/>
                  </a:moveTo>
                  <a:cubicBezTo>
                    <a:pt x="871442" y="535115"/>
                    <a:pt x="859250" y="533781"/>
                    <a:pt x="844868" y="530828"/>
                  </a:cubicBezTo>
                  <a:cubicBezTo>
                    <a:pt x="830580" y="527876"/>
                    <a:pt x="817721" y="524351"/>
                    <a:pt x="806291" y="519970"/>
                  </a:cubicBezTo>
                  <a:lnTo>
                    <a:pt x="806291" y="568452"/>
                  </a:lnTo>
                  <a:cubicBezTo>
                    <a:pt x="816102" y="573977"/>
                    <a:pt x="828294" y="578453"/>
                    <a:pt x="842772" y="581882"/>
                  </a:cubicBezTo>
                  <a:cubicBezTo>
                    <a:pt x="857250" y="585216"/>
                    <a:pt x="871728" y="586931"/>
                    <a:pt x="886206" y="586931"/>
                  </a:cubicBezTo>
                  <a:cubicBezTo>
                    <a:pt x="919353" y="586931"/>
                    <a:pt x="945452" y="578453"/>
                    <a:pt x="964406" y="561308"/>
                  </a:cubicBezTo>
                  <a:cubicBezTo>
                    <a:pt x="983361" y="544163"/>
                    <a:pt x="992791" y="521018"/>
                    <a:pt x="992791" y="491776"/>
                  </a:cubicBezTo>
                  <a:cubicBezTo>
                    <a:pt x="992791" y="476726"/>
                    <a:pt x="990505" y="463868"/>
                    <a:pt x="986123" y="453295"/>
                  </a:cubicBezTo>
                  <a:cubicBezTo>
                    <a:pt x="981742" y="442627"/>
                    <a:pt x="974788" y="433007"/>
                    <a:pt x="965359" y="424339"/>
                  </a:cubicBezTo>
                  <a:cubicBezTo>
                    <a:pt x="955929" y="415862"/>
                    <a:pt x="943261" y="407194"/>
                    <a:pt x="927259" y="398526"/>
                  </a:cubicBezTo>
                  <a:lnTo>
                    <a:pt x="902303" y="385191"/>
                  </a:lnTo>
                  <a:cubicBezTo>
                    <a:pt x="888778" y="377857"/>
                    <a:pt x="879634" y="370999"/>
                    <a:pt x="874871" y="364903"/>
                  </a:cubicBezTo>
                  <a:cubicBezTo>
                    <a:pt x="870013" y="358712"/>
                    <a:pt x="867728" y="350806"/>
                    <a:pt x="867728" y="341281"/>
                  </a:cubicBezTo>
                  <a:cubicBezTo>
                    <a:pt x="867728" y="329946"/>
                    <a:pt x="871442" y="320993"/>
                    <a:pt x="878777" y="314515"/>
                  </a:cubicBezTo>
                  <a:cubicBezTo>
                    <a:pt x="886206" y="308039"/>
                    <a:pt x="896303" y="304800"/>
                    <a:pt x="909257" y="304800"/>
                  </a:cubicBezTo>
                  <a:cubicBezTo>
                    <a:pt x="928307" y="304800"/>
                    <a:pt x="950309" y="309467"/>
                    <a:pt x="975265" y="318707"/>
                  </a:cubicBezTo>
                  <a:lnTo>
                    <a:pt x="975265" y="269748"/>
                  </a:lnTo>
                  <a:cubicBezTo>
                    <a:pt x="951357" y="258604"/>
                    <a:pt x="927163" y="253079"/>
                    <a:pt x="902780" y="253079"/>
                  </a:cubicBezTo>
                  <a:cubicBezTo>
                    <a:pt x="883444" y="253079"/>
                    <a:pt x="866299" y="256889"/>
                    <a:pt x="851345" y="264414"/>
                  </a:cubicBezTo>
                  <a:cubicBezTo>
                    <a:pt x="836390" y="271939"/>
                    <a:pt x="824579" y="282797"/>
                    <a:pt x="816007" y="296799"/>
                  </a:cubicBezTo>
                  <a:cubicBezTo>
                    <a:pt x="807339" y="310706"/>
                    <a:pt x="803053" y="327184"/>
                    <a:pt x="803053" y="345948"/>
                  </a:cubicBezTo>
                  <a:cubicBezTo>
                    <a:pt x="803053" y="366236"/>
                    <a:pt x="808006" y="383477"/>
                    <a:pt x="817817" y="397574"/>
                  </a:cubicBezTo>
                  <a:cubicBezTo>
                    <a:pt x="827723" y="411766"/>
                    <a:pt x="844010" y="425006"/>
                    <a:pt x="866775" y="437293"/>
                  </a:cubicBezTo>
                  <a:lnTo>
                    <a:pt x="891731" y="450723"/>
                  </a:lnTo>
                  <a:cubicBezTo>
                    <a:pt x="904399" y="457486"/>
                    <a:pt x="913352" y="464249"/>
                    <a:pt x="918686" y="470821"/>
                  </a:cubicBezTo>
                  <a:cubicBezTo>
                    <a:pt x="924115" y="477393"/>
                    <a:pt x="926878" y="485489"/>
                    <a:pt x="926878" y="495014"/>
                  </a:cubicBezTo>
                  <a:cubicBezTo>
                    <a:pt x="926878" y="507968"/>
                    <a:pt x="922973" y="517874"/>
                    <a:pt x="915257" y="524828"/>
                  </a:cubicBezTo>
                  <a:cubicBezTo>
                    <a:pt x="907542" y="531781"/>
                    <a:pt x="896303" y="535115"/>
                    <a:pt x="881539" y="535115"/>
                  </a:cubicBezTo>
                  <a:close/>
                  <a:moveTo>
                    <a:pt x="644271" y="623792"/>
                  </a:moveTo>
                  <a:cubicBezTo>
                    <a:pt x="638461" y="629984"/>
                    <a:pt x="629603" y="633032"/>
                    <a:pt x="617887" y="633032"/>
                  </a:cubicBezTo>
                  <a:cubicBezTo>
                    <a:pt x="611410" y="633032"/>
                    <a:pt x="604076" y="632460"/>
                    <a:pt x="595694" y="631317"/>
                  </a:cubicBezTo>
                  <a:lnTo>
                    <a:pt x="595694" y="673703"/>
                  </a:lnTo>
                  <a:cubicBezTo>
                    <a:pt x="609600" y="678371"/>
                    <a:pt x="623126" y="680657"/>
                    <a:pt x="636365" y="680657"/>
                  </a:cubicBezTo>
                  <a:cubicBezTo>
                    <a:pt x="653891" y="680657"/>
                    <a:pt x="668084" y="675513"/>
                    <a:pt x="678847" y="665417"/>
                  </a:cubicBezTo>
                  <a:cubicBezTo>
                    <a:pt x="689705" y="655225"/>
                    <a:pt x="698278" y="638747"/>
                    <a:pt x="704755" y="615982"/>
                  </a:cubicBezTo>
                  <a:lnTo>
                    <a:pt x="782765" y="344138"/>
                  </a:lnTo>
                  <a:lnTo>
                    <a:pt x="717613" y="344138"/>
                  </a:lnTo>
                  <a:lnTo>
                    <a:pt x="683038" y="517684"/>
                  </a:lnTo>
                  <a:lnTo>
                    <a:pt x="647510" y="344138"/>
                  </a:lnTo>
                  <a:lnTo>
                    <a:pt x="580454" y="344138"/>
                  </a:lnTo>
                  <a:lnTo>
                    <a:pt x="656749" y="584645"/>
                  </a:lnTo>
                  <a:lnTo>
                    <a:pt x="655796" y="592836"/>
                  </a:lnTo>
                  <a:cubicBezTo>
                    <a:pt x="653891" y="607409"/>
                    <a:pt x="650081" y="617696"/>
                    <a:pt x="644271" y="623792"/>
                  </a:cubicBezTo>
                  <a:close/>
                  <a:moveTo>
                    <a:pt x="489585" y="579977"/>
                  </a:moveTo>
                  <a:lnTo>
                    <a:pt x="489585" y="355664"/>
                  </a:lnTo>
                  <a:lnTo>
                    <a:pt x="435578" y="501015"/>
                  </a:lnTo>
                  <a:lnTo>
                    <a:pt x="380619" y="501015"/>
                  </a:lnTo>
                  <a:lnTo>
                    <a:pt x="326993" y="356997"/>
                  </a:lnTo>
                  <a:lnTo>
                    <a:pt x="326993" y="579977"/>
                  </a:lnTo>
                  <a:lnTo>
                    <a:pt x="269272" y="579977"/>
                  </a:lnTo>
                  <a:lnTo>
                    <a:pt x="269272" y="260033"/>
                  </a:lnTo>
                  <a:lnTo>
                    <a:pt x="343281" y="260033"/>
                  </a:lnTo>
                  <a:lnTo>
                    <a:pt x="409289" y="439198"/>
                  </a:lnTo>
                  <a:lnTo>
                    <a:pt x="475298" y="260033"/>
                  </a:lnTo>
                  <a:lnTo>
                    <a:pt x="547307" y="260033"/>
                  </a:lnTo>
                  <a:lnTo>
                    <a:pt x="547307" y="579977"/>
                  </a:lnTo>
                  <a:close/>
                </a:path>
              </a:pathLst>
            </a:custGeom>
            <a:solidFill>
              <a:srgbClr val="C925D1"/>
            </a:solidFill>
            <a:ln w="9525" cap="flat">
              <a:noFill/>
              <a:prstDash val="solid"/>
              <a:miter/>
            </a:ln>
          </p:spPr>
          <p:txBody>
            <a:bodyPr rtlCol="0" anchor="ctr"/>
            <a:lstStyle/>
            <a:p>
              <a:endParaRPr lang="ja-JP" altLang="en-US" dirty="0"/>
            </a:p>
          </p:txBody>
        </p:sp>
      </p:grpSp>
      <p:pic>
        <p:nvPicPr>
          <p:cNvPr id="6" name="グラフィックス 5">
            <a:extLst>
              <a:ext uri="{FF2B5EF4-FFF2-40B4-BE49-F238E27FC236}">
                <a16:creationId xmlns:a16="http://schemas.microsoft.com/office/drawing/2014/main" id="{C19495AC-6D40-E8C5-CAD8-08D73C773F9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10187" y="3019073"/>
            <a:ext cx="1571625" cy="1524000"/>
          </a:xfrm>
          <a:prstGeom prst="rect">
            <a:avLst/>
          </a:prstGeom>
        </p:spPr>
      </p:pic>
      <p:cxnSp>
        <p:nvCxnSpPr>
          <p:cNvPr id="13" name="直線矢印コネクタ 12">
            <a:extLst>
              <a:ext uri="{FF2B5EF4-FFF2-40B4-BE49-F238E27FC236}">
                <a16:creationId xmlns:a16="http://schemas.microsoft.com/office/drawing/2014/main" id="{D4F24C4E-78CF-FB73-69B7-B791F4E563E9}"/>
              </a:ext>
            </a:extLst>
          </p:cNvPr>
          <p:cNvCxnSpPr>
            <a:cxnSpLocks/>
          </p:cNvCxnSpPr>
          <p:nvPr/>
        </p:nvCxnSpPr>
        <p:spPr>
          <a:xfrm flipH="1" flipV="1">
            <a:off x="3030217" y="2210044"/>
            <a:ext cx="2106227" cy="71831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625143DA-1711-E4D7-E0FC-C5B3CEADC0AE}"/>
              </a:ext>
            </a:extLst>
          </p:cNvPr>
          <p:cNvCxnSpPr>
            <a:cxnSpLocks/>
            <a:endCxn id="1026" idx="3"/>
          </p:cNvCxnSpPr>
          <p:nvPr/>
        </p:nvCxnSpPr>
        <p:spPr>
          <a:xfrm flipH="1">
            <a:off x="3030216" y="3728328"/>
            <a:ext cx="2106228" cy="1"/>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F4F10E60-2E5B-C569-A87C-961D565953DF}"/>
              </a:ext>
            </a:extLst>
          </p:cNvPr>
          <p:cNvCxnSpPr>
            <a:cxnSpLocks/>
            <a:endCxn id="1032" idx="3"/>
          </p:cNvCxnSpPr>
          <p:nvPr/>
        </p:nvCxnSpPr>
        <p:spPr>
          <a:xfrm flipH="1">
            <a:off x="3030216" y="4551745"/>
            <a:ext cx="2106228" cy="791642"/>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BD556C63-EFCF-3750-A187-3EC53F2BE20F}"/>
              </a:ext>
            </a:extLst>
          </p:cNvPr>
          <p:cNvSpPr txBox="1"/>
          <p:nvPr/>
        </p:nvSpPr>
        <p:spPr>
          <a:xfrm rot="508353">
            <a:off x="7029265" y="4547456"/>
            <a:ext cx="2206125" cy="523220"/>
          </a:xfrm>
          <a:prstGeom prst="rect">
            <a:avLst/>
          </a:prstGeom>
          <a:noFill/>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post</a:t>
            </a:r>
            <a:endParaRPr kumimoji="1" lang="ja-JP" altLang="en-US" sz="2800" dirty="0">
              <a:latin typeface="BIZ UDPゴシック" panose="020B0400000000000000" pitchFamily="50" charset="-128"/>
              <a:ea typeface="BIZ UDPゴシック" panose="020B0400000000000000" pitchFamily="50" charset="-128"/>
            </a:endParaRPr>
          </a:p>
        </p:txBody>
      </p:sp>
      <p:cxnSp>
        <p:nvCxnSpPr>
          <p:cNvPr id="26" name="直線矢印コネクタ 25">
            <a:extLst>
              <a:ext uri="{FF2B5EF4-FFF2-40B4-BE49-F238E27FC236}">
                <a16:creationId xmlns:a16="http://schemas.microsoft.com/office/drawing/2014/main" id="{DE4BE8A8-4E56-5A37-4810-D7658F5E014E}"/>
              </a:ext>
            </a:extLst>
          </p:cNvPr>
          <p:cNvCxnSpPr>
            <a:cxnSpLocks/>
          </p:cNvCxnSpPr>
          <p:nvPr/>
        </p:nvCxnSpPr>
        <p:spPr>
          <a:xfrm>
            <a:off x="7180822" y="4520191"/>
            <a:ext cx="1980961" cy="288876"/>
          </a:xfrm>
          <a:prstGeom prst="straightConnector1">
            <a:avLst/>
          </a:prstGeom>
          <a:ln>
            <a:solidFill>
              <a:schemeClr val="bg2">
                <a:lumMod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0400C26A-9319-D243-E796-01F2A9A8D545}"/>
              </a:ext>
            </a:extLst>
          </p:cNvPr>
          <p:cNvCxnSpPr>
            <a:cxnSpLocks/>
          </p:cNvCxnSpPr>
          <p:nvPr/>
        </p:nvCxnSpPr>
        <p:spPr>
          <a:xfrm>
            <a:off x="10182578" y="2569199"/>
            <a:ext cx="0" cy="1720579"/>
          </a:xfrm>
          <a:prstGeom prst="straightConnector1">
            <a:avLst/>
          </a:prstGeom>
          <a:ln>
            <a:solidFill>
              <a:schemeClr val="bg2">
                <a:lumMod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 name="図 7" descr="アイコン&#10;&#10;自動的に生成された説明">
            <a:extLst>
              <a:ext uri="{FF2B5EF4-FFF2-40B4-BE49-F238E27FC236}">
                <a16:creationId xmlns:a16="http://schemas.microsoft.com/office/drawing/2014/main" id="{9A767D1A-B91A-B1AB-B044-9EF0599F9E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55255" y="614884"/>
            <a:ext cx="1572956" cy="1790700"/>
          </a:xfrm>
          <a:prstGeom prst="rect">
            <a:avLst/>
          </a:prstGeom>
        </p:spPr>
      </p:pic>
      <p:sp>
        <p:nvSpPr>
          <p:cNvPr id="35" name="テキスト ボックス 34">
            <a:extLst>
              <a:ext uri="{FF2B5EF4-FFF2-40B4-BE49-F238E27FC236}">
                <a16:creationId xmlns:a16="http://schemas.microsoft.com/office/drawing/2014/main" id="{F4C1B6DB-B3E7-24CE-1B9E-A36884EBF10C}"/>
              </a:ext>
            </a:extLst>
          </p:cNvPr>
          <p:cNvSpPr txBox="1"/>
          <p:nvPr/>
        </p:nvSpPr>
        <p:spPr>
          <a:xfrm>
            <a:off x="2926855" y="3881231"/>
            <a:ext cx="2206125" cy="523220"/>
          </a:xfrm>
          <a:prstGeom prst="rect">
            <a:avLst/>
          </a:prstGeom>
          <a:noFill/>
        </p:spPr>
        <p:txBody>
          <a:bodyPr wrap="square" rtlCol="0">
            <a:spAutoFit/>
          </a:bodyPr>
          <a:lstStyle/>
          <a:p>
            <a:pPr algn="ctr"/>
            <a:r>
              <a:rPr kumimoji="1" lang="ja-JP" altLang="en-US" sz="2800" dirty="0">
                <a:latin typeface="BIZ UDPゴシック" panose="020B0400000000000000" pitchFamily="50" charset="-128"/>
                <a:ea typeface="BIZ UDPゴシック" panose="020B0400000000000000" pitchFamily="50" charset="-128"/>
              </a:rPr>
              <a:t>スクレイプ</a:t>
            </a:r>
          </a:p>
        </p:txBody>
      </p:sp>
      <p:sp>
        <p:nvSpPr>
          <p:cNvPr id="36" name="テキスト ボックス 35">
            <a:extLst>
              <a:ext uri="{FF2B5EF4-FFF2-40B4-BE49-F238E27FC236}">
                <a16:creationId xmlns:a16="http://schemas.microsoft.com/office/drawing/2014/main" id="{EA9BC115-D467-1A1F-E9F4-2A94BDD8F6DD}"/>
              </a:ext>
            </a:extLst>
          </p:cNvPr>
          <p:cNvSpPr txBox="1"/>
          <p:nvPr/>
        </p:nvSpPr>
        <p:spPr>
          <a:xfrm rot="488513">
            <a:off x="7054854" y="4107500"/>
            <a:ext cx="2206125" cy="523220"/>
          </a:xfrm>
          <a:prstGeom prst="rect">
            <a:avLst/>
          </a:prstGeom>
          <a:noFill/>
        </p:spPr>
        <p:txBody>
          <a:bodyPr wrap="square" rtlCol="0">
            <a:spAutoFit/>
          </a:bodyPr>
          <a:lstStyle/>
          <a:p>
            <a:pPr algn="ctr"/>
            <a:r>
              <a:rPr lang="en-US" altLang="ja-JP" sz="2800" dirty="0">
                <a:latin typeface="BIZ UDPゴシック" panose="020B0400000000000000" pitchFamily="50" charset="-128"/>
                <a:ea typeface="BIZ UDPゴシック" panose="020B0400000000000000" pitchFamily="50" charset="-128"/>
              </a:rPr>
              <a:t>g</a:t>
            </a:r>
            <a:r>
              <a:rPr kumimoji="1" lang="en-US" altLang="ja-JP" sz="2800" dirty="0">
                <a:latin typeface="BIZ UDPゴシック" panose="020B0400000000000000" pitchFamily="50" charset="-128"/>
                <a:ea typeface="BIZ UDPゴシック" panose="020B0400000000000000" pitchFamily="50" charset="-128"/>
              </a:rPr>
              <a:t>et</a:t>
            </a:r>
          </a:p>
        </p:txBody>
      </p:sp>
      <p:cxnSp>
        <p:nvCxnSpPr>
          <p:cNvPr id="37" name="直線矢印コネクタ 36">
            <a:extLst>
              <a:ext uri="{FF2B5EF4-FFF2-40B4-BE49-F238E27FC236}">
                <a16:creationId xmlns:a16="http://schemas.microsoft.com/office/drawing/2014/main" id="{8641F511-86E3-7E62-F4E6-670BBA80869F}"/>
              </a:ext>
            </a:extLst>
          </p:cNvPr>
          <p:cNvCxnSpPr>
            <a:cxnSpLocks/>
          </p:cNvCxnSpPr>
          <p:nvPr/>
        </p:nvCxnSpPr>
        <p:spPr>
          <a:xfrm flipH="1">
            <a:off x="7192109" y="1879442"/>
            <a:ext cx="1886662" cy="1048912"/>
          </a:xfrm>
          <a:prstGeom prst="straightConnector1">
            <a:avLst/>
          </a:prstGeom>
          <a:ln>
            <a:solidFill>
              <a:schemeClr val="bg2">
                <a:lumMod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4672206F-1049-39D3-84B9-F17A8A587574}"/>
              </a:ext>
            </a:extLst>
          </p:cNvPr>
          <p:cNvSpPr txBox="1"/>
          <p:nvPr/>
        </p:nvSpPr>
        <p:spPr>
          <a:xfrm rot="5400000">
            <a:off x="9367857" y="3193457"/>
            <a:ext cx="2206125" cy="523220"/>
          </a:xfrm>
          <a:prstGeom prst="rect">
            <a:avLst/>
          </a:prstGeom>
          <a:noFill/>
        </p:spPr>
        <p:txBody>
          <a:bodyPr wrap="square" rtlCol="0">
            <a:spAutoFit/>
          </a:bodyPr>
          <a:lstStyle/>
          <a:p>
            <a:pPr algn="ctr"/>
            <a:r>
              <a:rPr lang="en-US" altLang="ja-JP" sz="2800" dirty="0">
                <a:latin typeface="BIZ UDPゴシック" panose="020B0400000000000000" pitchFamily="50" charset="-128"/>
                <a:ea typeface="BIZ UDPゴシック" panose="020B0400000000000000" pitchFamily="50" charset="-128"/>
              </a:rPr>
              <a:t>g</a:t>
            </a:r>
            <a:r>
              <a:rPr kumimoji="1" lang="en-US" altLang="ja-JP" sz="2800" dirty="0">
                <a:latin typeface="BIZ UDPゴシック" panose="020B0400000000000000" pitchFamily="50" charset="-128"/>
                <a:ea typeface="BIZ UDPゴシック" panose="020B0400000000000000" pitchFamily="50" charset="-128"/>
              </a:rPr>
              <a:t>et</a:t>
            </a:r>
          </a:p>
        </p:txBody>
      </p:sp>
      <p:sp>
        <p:nvSpPr>
          <p:cNvPr id="40" name="テキスト ボックス 39">
            <a:extLst>
              <a:ext uri="{FF2B5EF4-FFF2-40B4-BE49-F238E27FC236}">
                <a16:creationId xmlns:a16="http://schemas.microsoft.com/office/drawing/2014/main" id="{EF36D072-8082-D74A-8D47-68067E1D4390}"/>
              </a:ext>
            </a:extLst>
          </p:cNvPr>
          <p:cNvSpPr txBox="1"/>
          <p:nvPr/>
        </p:nvSpPr>
        <p:spPr>
          <a:xfrm rot="16200000">
            <a:off x="8791174" y="3193456"/>
            <a:ext cx="2206125" cy="523220"/>
          </a:xfrm>
          <a:prstGeom prst="rect">
            <a:avLst/>
          </a:prstGeom>
          <a:noFill/>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post</a:t>
            </a:r>
            <a:endParaRPr kumimoji="1" lang="ja-JP" altLang="en-US" sz="2800" dirty="0">
              <a:latin typeface="BIZ UDPゴシック" panose="020B0400000000000000" pitchFamily="50" charset="-128"/>
              <a:ea typeface="BIZ UDPゴシック" panose="020B0400000000000000" pitchFamily="50" charset="-128"/>
            </a:endParaRPr>
          </a:p>
        </p:txBody>
      </p:sp>
      <p:sp>
        <p:nvSpPr>
          <p:cNvPr id="41" name="テキスト ボックス 40">
            <a:extLst>
              <a:ext uri="{FF2B5EF4-FFF2-40B4-BE49-F238E27FC236}">
                <a16:creationId xmlns:a16="http://schemas.microsoft.com/office/drawing/2014/main" id="{810139F5-8341-6475-CA41-BF2BC65F6CCC}"/>
              </a:ext>
            </a:extLst>
          </p:cNvPr>
          <p:cNvSpPr txBox="1"/>
          <p:nvPr/>
        </p:nvSpPr>
        <p:spPr>
          <a:xfrm>
            <a:off x="8471794" y="6266504"/>
            <a:ext cx="3522133" cy="523220"/>
          </a:xfrm>
          <a:prstGeom prst="rect">
            <a:avLst/>
          </a:prstGeom>
          <a:noFill/>
        </p:spPr>
        <p:txBody>
          <a:bodyPr wrap="square" rtlCol="0">
            <a:spAutoFit/>
          </a:bodyPr>
          <a:lstStyle/>
          <a:p>
            <a:pPr algn="ctr"/>
            <a:r>
              <a:rPr kumimoji="1" lang="en-US" altLang="ja-JP" sz="2800" dirty="0" err="1">
                <a:latin typeface="BIZ UDPゴシック" panose="020B0400000000000000" pitchFamily="50" charset="-128"/>
                <a:ea typeface="BIZ UDPゴシック" panose="020B0400000000000000" pitchFamily="50" charset="-128"/>
              </a:rPr>
              <a:t>DataBase</a:t>
            </a:r>
            <a:r>
              <a:rPr lang="ja-JP" altLang="en-US" sz="2800" dirty="0">
                <a:latin typeface="BIZ UDPゴシック" panose="020B0400000000000000" pitchFamily="50" charset="-128"/>
                <a:ea typeface="BIZ UDPゴシック" panose="020B0400000000000000" pitchFamily="50" charset="-128"/>
              </a:rPr>
              <a:t> </a:t>
            </a:r>
            <a:r>
              <a:rPr lang="en-US" altLang="ja-JP" sz="2800" dirty="0">
                <a:latin typeface="BIZ UDPゴシック" panose="020B0400000000000000" pitchFamily="50" charset="-128"/>
                <a:ea typeface="BIZ UDPゴシック" panose="020B0400000000000000" pitchFamily="50" charset="-128"/>
              </a:rPr>
              <a:t>Server</a:t>
            </a:r>
            <a:endParaRPr kumimoji="1" lang="ja-JP" altLang="en-US" sz="2800" dirty="0">
              <a:latin typeface="BIZ UDPゴシック" panose="020B0400000000000000" pitchFamily="50" charset="-128"/>
              <a:ea typeface="BIZ UDPゴシック" panose="020B0400000000000000" pitchFamily="50" charset="-128"/>
            </a:endParaRPr>
          </a:p>
        </p:txBody>
      </p:sp>
      <p:sp>
        <p:nvSpPr>
          <p:cNvPr id="42" name="テキスト ボックス 41">
            <a:extLst>
              <a:ext uri="{FF2B5EF4-FFF2-40B4-BE49-F238E27FC236}">
                <a16:creationId xmlns:a16="http://schemas.microsoft.com/office/drawing/2014/main" id="{CA6B0C48-B056-6C13-BA15-2102BF2DE68E}"/>
              </a:ext>
            </a:extLst>
          </p:cNvPr>
          <p:cNvSpPr txBox="1"/>
          <p:nvPr/>
        </p:nvSpPr>
        <p:spPr>
          <a:xfrm>
            <a:off x="9106246" y="66902"/>
            <a:ext cx="2206125" cy="523220"/>
          </a:xfrm>
          <a:prstGeom prst="rect">
            <a:avLst/>
          </a:prstGeom>
          <a:noFill/>
        </p:spPr>
        <p:txBody>
          <a:bodyPr wrap="square" rtlCol="0">
            <a:spAutoFit/>
          </a:bodyPr>
          <a:lstStyle/>
          <a:p>
            <a:pPr algn="ctr"/>
            <a:r>
              <a:rPr kumimoji="1" lang="ja-JP" altLang="en-US" sz="2800" dirty="0">
                <a:latin typeface="BIZ UDPゴシック" panose="020B0400000000000000" pitchFamily="50" charset="-128"/>
                <a:ea typeface="BIZ UDPゴシック" panose="020B0400000000000000" pitchFamily="50" charset="-128"/>
              </a:rPr>
              <a:t>学習用</a:t>
            </a:r>
            <a:r>
              <a:rPr kumimoji="1" lang="en-US" altLang="ja-JP" sz="2800" dirty="0">
                <a:latin typeface="BIZ UDPゴシック" panose="020B0400000000000000" pitchFamily="50" charset="-128"/>
                <a:ea typeface="BIZ UDPゴシック" panose="020B0400000000000000" pitchFamily="50" charset="-128"/>
              </a:rPr>
              <a:t>PC</a:t>
            </a:r>
            <a:endParaRPr kumimoji="1" lang="ja-JP" altLang="en-US" sz="2800" dirty="0">
              <a:latin typeface="BIZ UDPゴシック" panose="020B0400000000000000" pitchFamily="50" charset="-128"/>
              <a:ea typeface="BIZ UDPゴシック" panose="020B0400000000000000" pitchFamily="50" charset="-128"/>
            </a:endParaRPr>
          </a:p>
        </p:txBody>
      </p:sp>
      <p:sp>
        <p:nvSpPr>
          <p:cNvPr id="44" name="テキスト ボックス 43">
            <a:extLst>
              <a:ext uri="{FF2B5EF4-FFF2-40B4-BE49-F238E27FC236}">
                <a16:creationId xmlns:a16="http://schemas.microsoft.com/office/drawing/2014/main" id="{2FAEA3A6-093F-E249-06C0-00F8E88E7D8E}"/>
              </a:ext>
            </a:extLst>
          </p:cNvPr>
          <p:cNvSpPr txBox="1"/>
          <p:nvPr/>
        </p:nvSpPr>
        <p:spPr>
          <a:xfrm rot="19910389">
            <a:off x="7007237" y="1891254"/>
            <a:ext cx="2206125" cy="523220"/>
          </a:xfrm>
          <a:prstGeom prst="rect">
            <a:avLst/>
          </a:prstGeom>
          <a:noFill/>
        </p:spPr>
        <p:txBody>
          <a:bodyPr wrap="square" rtlCol="0">
            <a:spAutoFit/>
          </a:bodyPr>
          <a:lstStyle/>
          <a:p>
            <a:pPr algn="ctr"/>
            <a:r>
              <a:rPr lang="ja-JP" altLang="en-US" sz="2800" dirty="0">
                <a:latin typeface="BIZ UDPゴシック" panose="020B0400000000000000" pitchFamily="50" charset="-128"/>
                <a:ea typeface="BIZ UDPゴシック" panose="020B0400000000000000" pitchFamily="50" charset="-128"/>
              </a:rPr>
              <a:t>操作</a:t>
            </a:r>
            <a:endParaRPr kumimoji="1" lang="en-US" altLang="ja-JP" sz="2800" dirty="0">
              <a:latin typeface="BIZ UDPゴシック" panose="020B0400000000000000" pitchFamily="50" charset="-128"/>
              <a:ea typeface="BIZ UDPゴシック" panose="020B0400000000000000" pitchFamily="50" charset="-128"/>
            </a:endParaRPr>
          </a:p>
        </p:txBody>
      </p:sp>
      <p:sp>
        <p:nvSpPr>
          <p:cNvPr id="45" name="テキスト ボックス 44">
            <a:extLst>
              <a:ext uri="{FF2B5EF4-FFF2-40B4-BE49-F238E27FC236}">
                <a16:creationId xmlns:a16="http://schemas.microsoft.com/office/drawing/2014/main" id="{D976998E-0F7F-34B5-6F14-7E7BC6A252F8}"/>
              </a:ext>
            </a:extLst>
          </p:cNvPr>
          <p:cNvSpPr txBox="1"/>
          <p:nvPr/>
        </p:nvSpPr>
        <p:spPr>
          <a:xfrm>
            <a:off x="4217013" y="6266504"/>
            <a:ext cx="3757972" cy="584775"/>
          </a:xfrm>
          <a:prstGeom prst="rect">
            <a:avLst/>
          </a:prstGeom>
          <a:noFill/>
        </p:spPr>
        <p:txBody>
          <a:bodyPr wrap="square" rtlCol="0">
            <a:spAutoFit/>
          </a:bodyPr>
          <a:lstStyle/>
          <a:p>
            <a:pPr algn="ctr"/>
            <a:r>
              <a:rPr kumimoji="1" lang="ja-JP" altLang="en-US" sz="3200" dirty="0">
                <a:latin typeface="BIZ UDPゴシック" panose="020B0400000000000000" pitchFamily="50" charset="-128"/>
                <a:ea typeface="BIZ UDPゴシック" panose="020B0400000000000000" pitchFamily="50" charset="-128"/>
              </a:rPr>
              <a:t>システム全体概要図</a:t>
            </a:r>
          </a:p>
        </p:txBody>
      </p:sp>
      <p:sp>
        <p:nvSpPr>
          <p:cNvPr id="3" name="テキスト ボックス 41">
            <a:extLst>
              <a:ext uri="{FF2B5EF4-FFF2-40B4-BE49-F238E27FC236}">
                <a16:creationId xmlns:a16="http://schemas.microsoft.com/office/drawing/2014/main" id="{4129204F-3C4E-AC77-437F-7A1E2DAC7A50}"/>
              </a:ext>
            </a:extLst>
          </p:cNvPr>
          <p:cNvSpPr txBox="1"/>
          <p:nvPr/>
        </p:nvSpPr>
        <p:spPr>
          <a:xfrm>
            <a:off x="4999892" y="2324614"/>
            <a:ext cx="2206125" cy="523220"/>
          </a:xfrm>
          <a:prstGeom prst="rect">
            <a:avLst/>
          </a:prstGeom>
          <a:noFill/>
        </p:spPr>
        <p:txBody>
          <a:bodyPr wrap="square" rtlCol="0">
            <a:spAutoFit/>
          </a:bodyPr>
          <a:lstStyle/>
          <a:p>
            <a:pPr algn="ctr"/>
            <a:r>
              <a:rPr lang="ja-JP" altLang="en-US" sz="2800" dirty="0">
                <a:latin typeface="BIZ UDPゴシック" panose="020B0400000000000000" pitchFamily="50" charset="-128"/>
                <a:ea typeface="BIZ UDPゴシック" panose="020B0400000000000000" pitchFamily="50" charset="-128"/>
              </a:rPr>
              <a:t>サーバー</a:t>
            </a:r>
            <a:r>
              <a:rPr kumimoji="1" lang="en-US" altLang="ja-JP" sz="2800" dirty="0">
                <a:latin typeface="BIZ UDPゴシック" panose="020B0400000000000000" pitchFamily="50" charset="-128"/>
                <a:ea typeface="BIZ UDPゴシック" panose="020B0400000000000000" pitchFamily="50" charset="-128"/>
              </a:rPr>
              <a:t>PC</a:t>
            </a:r>
            <a:endParaRPr kumimoji="1" lang="ja-JP" altLang="en-US" sz="2800" dirty="0">
              <a:latin typeface="BIZ UDPゴシック" panose="020B0400000000000000" pitchFamily="50" charset="-128"/>
              <a:ea typeface="BIZ UDPゴシック" panose="020B0400000000000000" pitchFamily="50" charset="-128"/>
            </a:endParaRPr>
          </a:p>
        </p:txBody>
      </p:sp>
      <p:sp>
        <p:nvSpPr>
          <p:cNvPr id="4" name="Slide Number Placeholder 3">
            <a:extLst>
              <a:ext uri="{FF2B5EF4-FFF2-40B4-BE49-F238E27FC236}">
                <a16:creationId xmlns:a16="http://schemas.microsoft.com/office/drawing/2014/main" id="{4F9B4619-3EA0-D597-9B62-ADAB2CA6F67E}"/>
              </a:ext>
            </a:extLst>
          </p:cNvPr>
          <p:cNvSpPr>
            <a:spLocks noGrp="1"/>
          </p:cNvSpPr>
          <p:nvPr>
            <p:ph type="sldNum" sz="quarter" idx="12"/>
          </p:nvPr>
        </p:nvSpPr>
        <p:spPr/>
        <p:txBody>
          <a:bodyPr/>
          <a:lstStyle/>
          <a:p>
            <a:fld id="{F42732FB-2277-442C-9711-A45410BE01D8}" type="slidenum">
              <a:rPr kumimoji="1" lang="ja-JP" altLang="en-US" smtClean="0"/>
              <a:t>8</a:t>
            </a:fld>
            <a:endParaRPr kumimoji="1" lang="ja-JP" altLang="en-US"/>
          </a:p>
        </p:txBody>
      </p:sp>
      <p:sp>
        <p:nvSpPr>
          <p:cNvPr id="5" name="テキスト ボックス 41">
            <a:extLst>
              <a:ext uri="{FF2B5EF4-FFF2-40B4-BE49-F238E27FC236}">
                <a16:creationId xmlns:a16="http://schemas.microsoft.com/office/drawing/2014/main" id="{4ACCE460-7556-6B92-C88E-F2C7B7C890C1}"/>
              </a:ext>
            </a:extLst>
          </p:cNvPr>
          <p:cNvSpPr txBox="1"/>
          <p:nvPr/>
        </p:nvSpPr>
        <p:spPr>
          <a:xfrm>
            <a:off x="620890" y="1651527"/>
            <a:ext cx="2409326" cy="1077218"/>
          </a:xfrm>
          <a:prstGeom prst="rect">
            <a:avLst/>
          </a:prstGeom>
          <a:noFill/>
          <a:ln>
            <a:solidFill>
              <a:schemeClr val="bg1">
                <a:lumMod val="65000"/>
              </a:schemeClr>
            </a:solidFill>
          </a:ln>
        </p:spPr>
        <p:txBody>
          <a:bodyPr wrap="square" rtlCol="0">
            <a:spAutoFit/>
          </a:bodyPr>
          <a:lstStyle/>
          <a:p>
            <a:pPr algn="ctr"/>
            <a:r>
              <a:rPr kumimoji="1" lang="ja-JP" altLang="en-US" sz="3200" b="1" dirty="0">
                <a:latin typeface="BIZ UDPゴシック" panose="020B0400000000000000" pitchFamily="50" charset="-128"/>
                <a:ea typeface="BIZ UDPゴシック" panose="020B0400000000000000" pitchFamily="50" charset="-128"/>
              </a:rPr>
              <a:t>ニュース</a:t>
            </a:r>
            <a:endParaRPr kumimoji="1" lang="en-GB" altLang="ja-JP" sz="3200" b="1" dirty="0">
              <a:latin typeface="BIZ UDPゴシック" panose="020B0400000000000000" pitchFamily="50" charset="-128"/>
              <a:ea typeface="BIZ UDPゴシック" panose="020B0400000000000000" pitchFamily="50" charset="-128"/>
            </a:endParaRPr>
          </a:p>
          <a:p>
            <a:pPr algn="ctr"/>
            <a:r>
              <a:rPr kumimoji="1" lang="ja-JP" altLang="en-US" sz="3200" b="1" dirty="0">
                <a:latin typeface="BIZ UDPゴシック" panose="020B0400000000000000" pitchFamily="50" charset="-128"/>
                <a:ea typeface="BIZ UDPゴシック" panose="020B0400000000000000" pitchFamily="50" charset="-128"/>
              </a:rPr>
              <a:t>サイト</a:t>
            </a:r>
          </a:p>
        </p:txBody>
      </p:sp>
    </p:spTree>
    <p:extLst>
      <p:ext uri="{BB962C8B-B14F-4D97-AF65-F5344CB8AC3E}">
        <p14:creationId xmlns:p14="http://schemas.microsoft.com/office/powerpoint/2010/main" val="167406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AEDBFEB-D1C4-B158-7619-E18C46367399}"/>
              </a:ext>
            </a:extLst>
          </p:cNvPr>
          <p:cNvSpPr txBox="1"/>
          <p:nvPr/>
        </p:nvSpPr>
        <p:spPr>
          <a:xfrm>
            <a:off x="298127" y="48985"/>
            <a:ext cx="2528888" cy="1200329"/>
          </a:xfrm>
          <a:prstGeom prst="rect">
            <a:avLst/>
          </a:prstGeom>
          <a:noFill/>
        </p:spPr>
        <p:txBody>
          <a:bodyPr wrap="square" rtlCol="0">
            <a:spAutoFit/>
          </a:bodyPr>
          <a:lstStyle/>
          <a:p>
            <a:r>
              <a:rPr lang="ja-JP" altLang="en-US" sz="7200" b="1" dirty="0">
                <a:latin typeface="BIZ UDPゴシック" panose="020B0400000000000000" pitchFamily="50" charset="-128"/>
                <a:ea typeface="BIZ UDPゴシック" panose="020B0400000000000000" pitchFamily="50" charset="-128"/>
              </a:rPr>
              <a:t>概要</a:t>
            </a:r>
            <a:endParaRPr kumimoji="1" lang="ja-JP" altLang="en-US" sz="7200" b="1"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45B717BA-6853-D31E-D24F-8911F37EF86C}"/>
              </a:ext>
            </a:extLst>
          </p:cNvPr>
          <p:cNvSpPr txBox="1"/>
          <p:nvPr/>
        </p:nvSpPr>
        <p:spPr>
          <a:xfrm>
            <a:off x="499027" y="1925949"/>
            <a:ext cx="11193946" cy="3477875"/>
          </a:xfrm>
          <a:prstGeom prst="rect">
            <a:avLst/>
          </a:prstGeom>
          <a:noFill/>
        </p:spPr>
        <p:txBody>
          <a:bodyPr wrap="square" rtlCol="0">
            <a:spAutoFit/>
          </a:bodyPr>
          <a:lstStyle/>
          <a:p>
            <a:pPr marL="457200" indent="-457200">
              <a:buFont typeface="Arial" panose="020B0604020202020204" pitchFamily="34" charset="0"/>
              <a:buChar char="•"/>
            </a:pPr>
            <a:r>
              <a:rPr kumimoji="1" lang="en-US" altLang="ja-JP" sz="4400" dirty="0">
                <a:latin typeface="BIZ UDPゴシック" panose="020B0400000000000000" pitchFamily="50" charset="-128"/>
                <a:ea typeface="BIZ UDPゴシック" panose="020B0400000000000000" pitchFamily="50" charset="-128"/>
              </a:rPr>
              <a:t>S&amp;P500</a:t>
            </a:r>
            <a:r>
              <a:rPr kumimoji="1" lang="ja-JP" altLang="en-US" sz="4400" dirty="0">
                <a:latin typeface="BIZ UDPゴシック" panose="020B0400000000000000" pitchFamily="50" charset="-128"/>
                <a:ea typeface="BIZ UDPゴシック" panose="020B0400000000000000" pitchFamily="50" charset="-128"/>
              </a:rPr>
              <a:t>の中からより成長する株を</a:t>
            </a:r>
            <a:endParaRPr kumimoji="1" lang="en-GB" altLang="ja-JP" sz="4400" dirty="0">
              <a:latin typeface="BIZ UDPゴシック" panose="020B0400000000000000" pitchFamily="50" charset="-128"/>
              <a:ea typeface="BIZ UDPゴシック" panose="020B0400000000000000" pitchFamily="50" charset="-128"/>
            </a:endParaRPr>
          </a:p>
          <a:p>
            <a:pPr lvl="1"/>
            <a:r>
              <a:rPr kumimoji="1" lang="ja-JP" altLang="en-US" sz="4400" dirty="0">
                <a:latin typeface="BIZ UDPゴシック" panose="020B0400000000000000" pitchFamily="50" charset="-128"/>
                <a:ea typeface="BIZ UDPゴシック" panose="020B0400000000000000" pitchFamily="50" charset="-128"/>
              </a:rPr>
              <a:t>選出することを目標にした</a:t>
            </a:r>
            <a:endParaRPr kumimoji="1" lang="en-US" altLang="ja-JP" sz="4400" dirty="0">
              <a:latin typeface="BIZ UDPゴシック" panose="020B0400000000000000" pitchFamily="50" charset="-128"/>
              <a:ea typeface="BIZ UDPゴシック" panose="020B0400000000000000" pitchFamily="50" charset="-128"/>
            </a:endParaRPr>
          </a:p>
          <a:p>
            <a:pPr marL="457200" indent="-457200">
              <a:buFont typeface="Arial" panose="020B0604020202020204" pitchFamily="34" charset="0"/>
              <a:buChar char="•"/>
            </a:pPr>
            <a:endParaRPr lang="en-US" altLang="ja-JP" sz="4400" dirty="0">
              <a:latin typeface="BIZ UDPゴシック" panose="020B0400000000000000" pitchFamily="50" charset="-128"/>
              <a:ea typeface="BIZ UDPゴシック" panose="020B0400000000000000" pitchFamily="50" charset="-128"/>
            </a:endParaRPr>
          </a:p>
          <a:p>
            <a:pPr marL="457200" indent="-457200">
              <a:buFont typeface="Arial" panose="020B0604020202020204" pitchFamily="34" charset="0"/>
              <a:buChar char="•"/>
            </a:pPr>
            <a:r>
              <a:rPr kumimoji="1" lang="ja-JP" altLang="en-US" sz="4400" dirty="0">
                <a:latin typeface="BIZ UDPゴシック" panose="020B0400000000000000" pitchFamily="50" charset="-128"/>
                <a:ea typeface="BIZ UDPゴシック" panose="020B0400000000000000" pitchFamily="50" charset="-128"/>
              </a:rPr>
              <a:t>使用するモデルは</a:t>
            </a:r>
            <a:r>
              <a:rPr kumimoji="1" lang="en-US" altLang="ja-JP" sz="4400" dirty="0">
                <a:latin typeface="BIZ UDPゴシック" panose="020B0400000000000000" pitchFamily="50" charset="-128"/>
                <a:ea typeface="BIZ UDPゴシック" panose="020B0400000000000000" pitchFamily="50" charset="-128"/>
              </a:rPr>
              <a:t>LSTM</a:t>
            </a:r>
          </a:p>
          <a:p>
            <a:pPr marL="457200" indent="-457200">
              <a:buFont typeface="Arial" panose="020B0604020202020204" pitchFamily="34" charset="0"/>
              <a:buChar char="•"/>
            </a:pPr>
            <a:r>
              <a:rPr kumimoji="1" lang="en-US" altLang="ja-JP" sz="4400" dirty="0">
                <a:latin typeface="BIZ UDPゴシック" panose="020B0400000000000000" pitchFamily="50" charset="-128"/>
                <a:ea typeface="BIZ UDPゴシック" panose="020B0400000000000000" pitchFamily="50" charset="-128"/>
              </a:rPr>
              <a:t>(Long Short Term</a:t>
            </a:r>
            <a:r>
              <a:rPr kumimoji="1" lang="ja-JP" altLang="en-US" sz="4400" dirty="0">
                <a:latin typeface="BIZ UDPゴシック" panose="020B0400000000000000" pitchFamily="50" charset="-128"/>
                <a:ea typeface="BIZ UDPゴシック" panose="020B0400000000000000" pitchFamily="50" charset="-128"/>
              </a:rPr>
              <a:t>　</a:t>
            </a:r>
            <a:r>
              <a:rPr kumimoji="1" lang="en-US" altLang="ja-JP" sz="4400" dirty="0">
                <a:latin typeface="BIZ UDPゴシック" panose="020B0400000000000000" pitchFamily="50" charset="-128"/>
                <a:ea typeface="BIZ UDPゴシック" panose="020B0400000000000000" pitchFamily="50" charset="-128"/>
              </a:rPr>
              <a:t>Memory)</a:t>
            </a:r>
            <a:r>
              <a:rPr kumimoji="1" lang="ja-JP" altLang="en-US" sz="4400" dirty="0">
                <a:latin typeface="BIZ UDPゴシック" panose="020B0400000000000000" pitchFamily="50" charset="-128"/>
                <a:ea typeface="BIZ UDPゴシック" panose="020B0400000000000000" pitchFamily="50" charset="-128"/>
              </a:rPr>
              <a:t>にした</a:t>
            </a:r>
          </a:p>
        </p:txBody>
      </p:sp>
      <p:sp>
        <p:nvSpPr>
          <p:cNvPr id="3" name="Slide Number Placeholder 2">
            <a:extLst>
              <a:ext uri="{FF2B5EF4-FFF2-40B4-BE49-F238E27FC236}">
                <a16:creationId xmlns:a16="http://schemas.microsoft.com/office/drawing/2014/main" id="{6FF8CAD5-BFE5-3FD4-5871-18FCACECBE51}"/>
              </a:ext>
            </a:extLst>
          </p:cNvPr>
          <p:cNvSpPr>
            <a:spLocks noGrp="1"/>
          </p:cNvSpPr>
          <p:nvPr>
            <p:ph type="sldNum" sz="quarter" idx="12"/>
          </p:nvPr>
        </p:nvSpPr>
        <p:spPr/>
        <p:txBody>
          <a:bodyPr/>
          <a:lstStyle/>
          <a:p>
            <a:fld id="{F42732FB-2277-442C-9711-A45410BE01D8}" type="slidenum">
              <a:rPr kumimoji="1" lang="ja-JP" altLang="en-US" smtClean="0"/>
              <a:t>9</a:t>
            </a:fld>
            <a:endParaRPr kumimoji="1" lang="ja-JP" altLang="en-US"/>
          </a:p>
        </p:txBody>
      </p:sp>
    </p:spTree>
    <p:extLst>
      <p:ext uri="{BB962C8B-B14F-4D97-AF65-F5344CB8AC3E}">
        <p14:creationId xmlns:p14="http://schemas.microsoft.com/office/powerpoint/2010/main" val="2971454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B9949-3689-D9AF-8C59-AE8C4B0E4157}"/>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8EE0793-6AEB-7AA4-F67D-7B66CE87FCA6}"/>
              </a:ext>
            </a:extLst>
          </p:cNvPr>
          <p:cNvSpPr txBox="1"/>
          <p:nvPr/>
        </p:nvSpPr>
        <p:spPr>
          <a:xfrm>
            <a:off x="298126" y="48985"/>
            <a:ext cx="4804452" cy="1200329"/>
          </a:xfrm>
          <a:prstGeom prst="rect">
            <a:avLst/>
          </a:prstGeom>
          <a:noFill/>
        </p:spPr>
        <p:txBody>
          <a:bodyPr wrap="square" rtlCol="0">
            <a:spAutoFit/>
          </a:bodyPr>
          <a:lstStyle/>
          <a:p>
            <a:r>
              <a:rPr kumimoji="1" lang="ja-JP" altLang="en-US" sz="7200" b="1" dirty="0">
                <a:latin typeface="BIZ UDPゴシック" panose="020B0400000000000000" pitchFamily="50" charset="-128"/>
                <a:ea typeface="BIZ UDPゴシック" panose="020B0400000000000000" pitchFamily="50" charset="-128"/>
              </a:rPr>
              <a:t>学習の流れ</a:t>
            </a:r>
          </a:p>
        </p:txBody>
      </p:sp>
      <p:sp>
        <p:nvSpPr>
          <p:cNvPr id="3" name="Slide Number Placeholder 2">
            <a:extLst>
              <a:ext uri="{FF2B5EF4-FFF2-40B4-BE49-F238E27FC236}">
                <a16:creationId xmlns:a16="http://schemas.microsoft.com/office/drawing/2014/main" id="{D45873EF-2FE6-43CF-6038-D71C2B4B6088}"/>
              </a:ext>
            </a:extLst>
          </p:cNvPr>
          <p:cNvSpPr>
            <a:spLocks noGrp="1"/>
          </p:cNvSpPr>
          <p:nvPr>
            <p:ph type="sldNum" sz="quarter" idx="12"/>
          </p:nvPr>
        </p:nvSpPr>
        <p:spPr/>
        <p:txBody>
          <a:bodyPr/>
          <a:lstStyle/>
          <a:p>
            <a:fld id="{F42732FB-2277-442C-9711-A45410BE01D8}" type="slidenum">
              <a:rPr kumimoji="1" lang="ja-JP" altLang="en-US" smtClean="0"/>
              <a:t>10</a:t>
            </a:fld>
            <a:endParaRPr kumimoji="1" lang="ja-JP" altLang="en-US"/>
          </a:p>
        </p:txBody>
      </p:sp>
      <p:sp>
        <p:nvSpPr>
          <p:cNvPr id="4" name="TextBox 3">
            <a:extLst>
              <a:ext uri="{FF2B5EF4-FFF2-40B4-BE49-F238E27FC236}">
                <a16:creationId xmlns:a16="http://schemas.microsoft.com/office/drawing/2014/main" id="{A2FA2EE2-ADEA-5B9F-FF71-12CD6ABEEA07}"/>
              </a:ext>
            </a:extLst>
          </p:cNvPr>
          <p:cNvSpPr txBox="1"/>
          <p:nvPr/>
        </p:nvSpPr>
        <p:spPr>
          <a:xfrm>
            <a:off x="298127" y="1604249"/>
            <a:ext cx="1833061" cy="1077218"/>
          </a:xfrm>
          <a:prstGeom prst="rect">
            <a:avLst/>
          </a:prstGeom>
          <a:noFill/>
          <a:ln w="28575">
            <a:solidFill>
              <a:srgbClr val="92D050"/>
            </a:solidFill>
          </a:ln>
        </p:spPr>
        <p:txBody>
          <a:bodyPr wrap="square" rtlCol="0">
            <a:spAutoFit/>
          </a:bodyPr>
          <a:lstStyle/>
          <a:p>
            <a:pPr algn="ctr"/>
            <a:r>
              <a:rPr lang="ja-JP" altLang="en-US" sz="3200" dirty="0">
                <a:latin typeface="BIZ UDPGothic" panose="020B0400000000000000" pitchFamily="34" charset="-128"/>
                <a:ea typeface="BIZ UDPGothic" panose="020B0400000000000000" pitchFamily="34" charset="-128"/>
              </a:rPr>
              <a:t>ニュース</a:t>
            </a:r>
            <a:endParaRPr lang="en-GB" altLang="ja-JP" sz="3200" dirty="0">
              <a:latin typeface="BIZ UDPGothic" panose="020B0400000000000000" pitchFamily="34" charset="-128"/>
              <a:ea typeface="BIZ UDPGothic" panose="020B0400000000000000" pitchFamily="34" charset="-128"/>
            </a:endParaRPr>
          </a:p>
          <a:p>
            <a:pPr algn="ctr"/>
            <a:r>
              <a:rPr lang="ja-JP" altLang="en-US" sz="3200" dirty="0">
                <a:latin typeface="BIZ UDPGothic" panose="020B0400000000000000" pitchFamily="34" charset="-128"/>
                <a:ea typeface="BIZ UDPGothic" panose="020B0400000000000000" pitchFamily="34" charset="-128"/>
              </a:rPr>
              <a:t>データ</a:t>
            </a:r>
            <a:endParaRPr lang="en-GB" sz="3200" dirty="0">
              <a:latin typeface="BIZ UDPGothic" panose="020B0400000000000000" pitchFamily="34" charset="-128"/>
              <a:ea typeface="BIZ UDPGothic" panose="020B0400000000000000" pitchFamily="34" charset="-128"/>
            </a:endParaRPr>
          </a:p>
        </p:txBody>
      </p:sp>
      <p:grpSp>
        <p:nvGrpSpPr>
          <p:cNvPr id="15" name="Group 14">
            <a:extLst>
              <a:ext uri="{FF2B5EF4-FFF2-40B4-BE49-F238E27FC236}">
                <a16:creationId xmlns:a16="http://schemas.microsoft.com/office/drawing/2014/main" id="{452A462E-07B6-C1BF-8E12-280B7B6E547A}"/>
              </a:ext>
            </a:extLst>
          </p:cNvPr>
          <p:cNvGrpSpPr/>
          <p:nvPr/>
        </p:nvGrpSpPr>
        <p:grpSpPr>
          <a:xfrm>
            <a:off x="3522841" y="1223488"/>
            <a:ext cx="2633352" cy="1838739"/>
            <a:chOff x="3704629" y="1323850"/>
            <a:chExt cx="2633352" cy="1838739"/>
          </a:xfrm>
        </p:grpSpPr>
        <p:sp>
          <p:nvSpPr>
            <p:cNvPr id="6" name="TextBox 5">
              <a:extLst>
                <a:ext uri="{FF2B5EF4-FFF2-40B4-BE49-F238E27FC236}">
                  <a16:creationId xmlns:a16="http://schemas.microsoft.com/office/drawing/2014/main" id="{CC402C58-AD7D-D49D-5896-B1B751EDF7F9}"/>
                </a:ext>
              </a:extLst>
            </p:cNvPr>
            <p:cNvSpPr txBox="1"/>
            <p:nvPr/>
          </p:nvSpPr>
          <p:spPr>
            <a:xfrm>
              <a:off x="3704629" y="1827720"/>
              <a:ext cx="2633352" cy="830997"/>
            </a:xfrm>
            <a:prstGeom prst="rect">
              <a:avLst/>
            </a:prstGeom>
            <a:noFill/>
            <a:ln w="28575">
              <a:noFill/>
            </a:ln>
          </p:spPr>
          <p:txBody>
            <a:bodyPr wrap="square" rtlCol="0">
              <a:spAutoFit/>
            </a:bodyPr>
            <a:lstStyle/>
            <a:p>
              <a:pPr algn="ctr"/>
              <a:r>
                <a:rPr lang="en-US" altLang="ja-JP" sz="2400" dirty="0">
                  <a:latin typeface="BIZ UDPGothic" panose="020B0400000000000000" pitchFamily="34" charset="-128"/>
                  <a:ea typeface="BIZ UDPGothic" panose="020B0400000000000000" pitchFamily="34" charset="-128"/>
                </a:rPr>
                <a:t>BERT</a:t>
              </a:r>
            </a:p>
            <a:p>
              <a:pPr algn="ctr"/>
              <a:r>
                <a:rPr lang="en-US" sz="2400" dirty="0">
                  <a:latin typeface="BIZ UDPGothic" panose="020B0400000000000000" pitchFamily="34" charset="-128"/>
                  <a:ea typeface="BIZ UDPGothic" panose="020B0400000000000000" pitchFamily="34" charset="-128"/>
                </a:rPr>
                <a:t>(</a:t>
              </a:r>
              <a:r>
                <a:rPr lang="ja-JP" altLang="en-US" sz="2400" dirty="0">
                  <a:latin typeface="BIZ UDPGothic" panose="020B0400000000000000" pitchFamily="34" charset="-128"/>
                  <a:ea typeface="BIZ UDPGothic" panose="020B0400000000000000" pitchFamily="34" charset="-128"/>
                </a:rPr>
                <a:t>感情パラメータ</a:t>
              </a:r>
              <a:r>
                <a:rPr lang="en-US" sz="2400" dirty="0">
                  <a:latin typeface="BIZ UDPGothic" panose="020B0400000000000000" pitchFamily="34" charset="-128"/>
                  <a:ea typeface="BIZ UDPGothic" panose="020B0400000000000000" pitchFamily="34" charset="-128"/>
                </a:rPr>
                <a:t>)</a:t>
              </a:r>
              <a:endParaRPr lang="en-GB" sz="2400" dirty="0">
                <a:latin typeface="BIZ UDPGothic" panose="020B0400000000000000" pitchFamily="34" charset="-128"/>
                <a:ea typeface="BIZ UDPGothic" panose="020B0400000000000000" pitchFamily="34" charset="-128"/>
              </a:endParaRPr>
            </a:p>
          </p:txBody>
        </p:sp>
        <p:sp>
          <p:nvSpPr>
            <p:cNvPr id="7" name="Rectangle: Rounded Corners 6">
              <a:extLst>
                <a:ext uri="{FF2B5EF4-FFF2-40B4-BE49-F238E27FC236}">
                  <a16:creationId xmlns:a16="http://schemas.microsoft.com/office/drawing/2014/main" id="{B14F6F6A-AA19-B17B-88CC-1FBCD002BEDC}"/>
                </a:ext>
              </a:extLst>
            </p:cNvPr>
            <p:cNvSpPr/>
            <p:nvPr/>
          </p:nvSpPr>
          <p:spPr>
            <a:xfrm>
              <a:off x="3814847" y="1323850"/>
              <a:ext cx="2412916" cy="1838739"/>
            </a:xfrm>
            <a:prstGeom prst="roundRect">
              <a:avLst/>
            </a:prstGeom>
            <a:noFill/>
            <a:ln w="381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 name="Group 10">
            <a:extLst>
              <a:ext uri="{FF2B5EF4-FFF2-40B4-BE49-F238E27FC236}">
                <a16:creationId xmlns:a16="http://schemas.microsoft.com/office/drawing/2014/main" id="{2EAB96F2-32C0-F0C9-530A-DF5A53DF52C3}"/>
              </a:ext>
            </a:extLst>
          </p:cNvPr>
          <p:cNvGrpSpPr/>
          <p:nvPr/>
        </p:nvGrpSpPr>
        <p:grpSpPr>
          <a:xfrm>
            <a:off x="6790513" y="1994660"/>
            <a:ext cx="2254415" cy="3299791"/>
            <a:chOff x="6652073" y="1779101"/>
            <a:chExt cx="2528888" cy="3299791"/>
          </a:xfrm>
        </p:grpSpPr>
        <p:sp>
          <p:nvSpPr>
            <p:cNvPr id="9" name="Rectangle: Rounded Corners 8">
              <a:extLst>
                <a:ext uri="{FF2B5EF4-FFF2-40B4-BE49-F238E27FC236}">
                  <a16:creationId xmlns:a16="http://schemas.microsoft.com/office/drawing/2014/main" id="{32C7E4D2-9767-9265-5686-0E41E95AD398}"/>
                </a:ext>
              </a:extLst>
            </p:cNvPr>
            <p:cNvSpPr/>
            <p:nvPr/>
          </p:nvSpPr>
          <p:spPr>
            <a:xfrm>
              <a:off x="6858000" y="1779101"/>
              <a:ext cx="2117035" cy="3299791"/>
            </a:xfrm>
            <a:prstGeom prst="roundRect">
              <a:avLst/>
            </a:prstGeom>
            <a:noFill/>
            <a:ln w="381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7881EAE6-CB80-7C12-B5B3-C6B7137939CE}"/>
                </a:ext>
              </a:extLst>
            </p:cNvPr>
            <p:cNvSpPr txBox="1"/>
            <p:nvPr/>
          </p:nvSpPr>
          <p:spPr>
            <a:xfrm>
              <a:off x="6652073" y="3013499"/>
              <a:ext cx="2528888" cy="830997"/>
            </a:xfrm>
            <a:prstGeom prst="rect">
              <a:avLst/>
            </a:prstGeom>
            <a:noFill/>
            <a:ln w="28575">
              <a:noFill/>
            </a:ln>
          </p:spPr>
          <p:txBody>
            <a:bodyPr wrap="square" rtlCol="0">
              <a:spAutoFit/>
            </a:bodyPr>
            <a:lstStyle/>
            <a:p>
              <a:pPr algn="ctr"/>
              <a:r>
                <a:rPr lang="en-US" altLang="ja-JP" sz="2400" dirty="0">
                  <a:latin typeface="BIZ UDPGothic" panose="020B0400000000000000" pitchFamily="34" charset="-128"/>
                  <a:ea typeface="BIZ UDPGothic" panose="020B0400000000000000" pitchFamily="34" charset="-128"/>
                </a:rPr>
                <a:t>LSTM</a:t>
              </a:r>
            </a:p>
            <a:p>
              <a:pPr algn="ctr"/>
              <a:r>
                <a:rPr lang="en-US" sz="2400" dirty="0">
                  <a:latin typeface="BIZ UDPGothic" panose="020B0400000000000000" pitchFamily="34" charset="-128"/>
                  <a:ea typeface="BIZ UDPGothic" panose="020B0400000000000000" pitchFamily="34" charset="-128"/>
                </a:rPr>
                <a:t>(</a:t>
              </a:r>
              <a:r>
                <a:rPr lang="ja-JP" altLang="en-US" sz="2400" dirty="0">
                  <a:latin typeface="BIZ UDPGothic" panose="020B0400000000000000" pitchFamily="34" charset="-128"/>
                  <a:ea typeface="BIZ UDPGothic" panose="020B0400000000000000" pitchFamily="34" charset="-128"/>
                </a:rPr>
                <a:t>時系列予測</a:t>
              </a:r>
              <a:r>
                <a:rPr lang="en-US" sz="2400" dirty="0">
                  <a:latin typeface="BIZ UDPGothic" panose="020B0400000000000000" pitchFamily="34" charset="-128"/>
                  <a:ea typeface="BIZ UDPGothic" panose="020B0400000000000000" pitchFamily="34" charset="-128"/>
                </a:rPr>
                <a:t>)</a:t>
              </a:r>
              <a:endParaRPr lang="en-GB" sz="2400" dirty="0">
                <a:latin typeface="BIZ UDPGothic" panose="020B0400000000000000" pitchFamily="34" charset="-128"/>
                <a:ea typeface="BIZ UDPGothic" panose="020B0400000000000000" pitchFamily="34" charset="-128"/>
              </a:endParaRPr>
            </a:p>
          </p:txBody>
        </p:sp>
      </p:grpSp>
      <p:sp>
        <p:nvSpPr>
          <p:cNvPr id="12" name="Arrow: Right 11">
            <a:extLst>
              <a:ext uri="{FF2B5EF4-FFF2-40B4-BE49-F238E27FC236}">
                <a16:creationId xmlns:a16="http://schemas.microsoft.com/office/drawing/2014/main" id="{D87A84A6-3C55-6252-3371-3369CF95FB2A}"/>
              </a:ext>
            </a:extLst>
          </p:cNvPr>
          <p:cNvSpPr/>
          <p:nvPr/>
        </p:nvSpPr>
        <p:spPr>
          <a:xfrm>
            <a:off x="2350183" y="1948069"/>
            <a:ext cx="953663" cy="389578"/>
          </a:xfrm>
          <a:prstGeom prst="rightArrow">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Arrow: Right 15">
            <a:extLst>
              <a:ext uri="{FF2B5EF4-FFF2-40B4-BE49-F238E27FC236}">
                <a16:creationId xmlns:a16="http://schemas.microsoft.com/office/drawing/2014/main" id="{F806D1BB-13D2-B821-B67E-F5B746191275}"/>
              </a:ext>
            </a:extLst>
          </p:cNvPr>
          <p:cNvSpPr/>
          <p:nvPr/>
        </p:nvSpPr>
        <p:spPr>
          <a:xfrm rot="2236089">
            <a:off x="6141980" y="2396100"/>
            <a:ext cx="704965" cy="389578"/>
          </a:xfrm>
          <a:prstGeom prst="rightArrow">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Arrow: Right 19">
            <a:extLst>
              <a:ext uri="{FF2B5EF4-FFF2-40B4-BE49-F238E27FC236}">
                <a16:creationId xmlns:a16="http://schemas.microsoft.com/office/drawing/2014/main" id="{8C5E8680-E661-7CB3-0CD3-CE51F23930DB}"/>
              </a:ext>
            </a:extLst>
          </p:cNvPr>
          <p:cNvSpPr/>
          <p:nvPr/>
        </p:nvSpPr>
        <p:spPr>
          <a:xfrm rot="20577810">
            <a:off x="3551479" y="4578131"/>
            <a:ext cx="3054597" cy="389578"/>
          </a:xfrm>
          <a:prstGeom prst="rightArrow">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Arrow: Right 4">
            <a:extLst>
              <a:ext uri="{FF2B5EF4-FFF2-40B4-BE49-F238E27FC236}">
                <a16:creationId xmlns:a16="http://schemas.microsoft.com/office/drawing/2014/main" id="{36463324-7CAD-B7DF-066A-96295D3BED81}"/>
              </a:ext>
            </a:extLst>
          </p:cNvPr>
          <p:cNvSpPr/>
          <p:nvPr/>
        </p:nvSpPr>
        <p:spPr>
          <a:xfrm>
            <a:off x="9019380" y="3429000"/>
            <a:ext cx="770087" cy="389578"/>
          </a:xfrm>
          <a:prstGeom prst="rightArrow">
            <a:avLst/>
          </a:prstGeom>
          <a:no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5ADA0C3A-1E90-78EC-49EE-49E2C9138402}"/>
              </a:ext>
            </a:extLst>
          </p:cNvPr>
          <p:cNvSpPr txBox="1"/>
          <p:nvPr/>
        </p:nvSpPr>
        <p:spPr>
          <a:xfrm>
            <a:off x="9907981" y="3167501"/>
            <a:ext cx="2096387" cy="954107"/>
          </a:xfrm>
          <a:prstGeom prst="rect">
            <a:avLst/>
          </a:prstGeom>
          <a:noFill/>
          <a:ln w="38100">
            <a:solidFill>
              <a:schemeClr val="accent2"/>
            </a:solidFill>
          </a:ln>
        </p:spPr>
        <p:txBody>
          <a:bodyPr wrap="square" rtlCol="0">
            <a:spAutoFit/>
          </a:bodyPr>
          <a:lstStyle/>
          <a:p>
            <a:pPr algn="ctr"/>
            <a:r>
              <a:rPr lang="ja-JP" altLang="en-US" sz="2800" dirty="0">
                <a:latin typeface="BIZ UDPGothic" panose="020B0400000000000000" pitchFamily="34" charset="-128"/>
                <a:ea typeface="BIZ UDPGothic" panose="020B0400000000000000" pitchFamily="34" charset="-128"/>
              </a:rPr>
              <a:t>一日の終値</a:t>
            </a:r>
            <a:endParaRPr lang="en-GB" altLang="ja-JP" sz="2800" dirty="0">
              <a:latin typeface="BIZ UDPGothic" panose="020B0400000000000000" pitchFamily="34" charset="-128"/>
              <a:ea typeface="BIZ UDPGothic" panose="020B0400000000000000" pitchFamily="34" charset="-128"/>
            </a:endParaRPr>
          </a:p>
          <a:p>
            <a:pPr algn="ctr"/>
            <a:r>
              <a:rPr lang="ja-JP" altLang="en-US" sz="2800" dirty="0">
                <a:latin typeface="BIZ UDPGothic" panose="020B0400000000000000" pitchFamily="34" charset="-128"/>
                <a:ea typeface="BIZ UDPGothic" panose="020B0400000000000000" pitchFamily="34" charset="-128"/>
              </a:rPr>
              <a:t>を予測</a:t>
            </a:r>
            <a:endParaRPr lang="en-GB" sz="2800" dirty="0">
              <a:latin typeface="BIZ UDPGothic" panose="020B0400000000000000" pitchFamily="34" charset="-128"/>
              <a:ea typeface="BIZ UDPGothic" panose="020B0400000000000000" pitchFamily="34" charset="-128"/>
            </a:endParaRPr>
          </a:p>
        </p:txBody>
      </p:sp>
      <p:grpSp>
        <p:nvGrpSpPr>
          <p:cNvPr id="21" name="Group 20">
            <a:extLst>
              <a:ext uri="{FF2B5EF4-FFF2-40B4-BE49-F238E27FC236}">
                <a16:creationId xmlns:a16="http://schemas.microsoft.com/office/drawing/2014/main" id="{CAE73EC0-C8CB-B631-0CDB-1B6F7645C507}"/>
              </a:ext>
            </a:extLst>
          </p:cNvPr>
          <p:cNvGrpSpPr/>
          <p:nvPr/>
        </p:nvGrpSpPr>
        <p:grpSpPr>
          <a:xfrm>
            <a:off x="893187" y="3838711"/>
            <a:ext cx="2290279" cy="2616584"/>
            <a:chOff x="187632" y="3818578"/>
            <a:chExt cx="2290279" cy="2616584"/>
          </a:xfrm>
        </p:grpSpPr>
        <p:sp>
          <p:nvSpPr>
            <p:cNvPr id="17" name="TextBox 16">
              <a:extLst>
                <a:ext uri="{FF2B5EF4-FFF2-40B4-BE49-F238E27FC236}">
                  <a16:creationId xmlns:a16="http://schemas.microsoft.com/office/drawing/2014/main" id="{5ABC778E-53AC-C8A2-8BD4-B83E7D9BA545}"/>
                </a:ext>
              </a:extLst>
            </p:cNvPr>
            <p:cNvSpPr txBox="1"/>
            <p:nvPr/>
          </p:nvSpPr>
          <p:spPr>
            <a:xfrm>
              <a:off x="303887" y="5229158"/>
              <a:ext cx="1870985" cy="1200329"/>
            </a:xfrm>
            <a:prstGeom prst="rect">
              <a:avLst/>
            </a:prstGeom>
            <a:noFill/>
            <a:ln w="28575">
              <a:noFill/>
            </a:ln>
          </p:spPr>
          <p:txBody>
            <a:bodyPr wrap="square" rtlCol="0">
              <a:spAutoFit/>
            </a:bodyPr>
            <a:lstStyle/>
            <a:p>
              <a:r>
                <a:rPr lang="en-GB" dirty="0">
                  <a:latin typeface="BIZ UDPGothic" panose="020B0400000000000000" pitchFamily="34" charset="-128"/>
                  <a:ea typeface="BIZ UDPGothic" panose="020B0400000000000000" pitchFamily="34" charset="-128"/>
                </a:rPr>
                <a:t>S&amp;P 500</a:t>
              </a:r>
            </a:p>
            <a:p>
              <a:r>
                <a:rPr lang="en-GB" dirty="0">
                  <a:latin typeface="BIZ UDPGothic" panose="020B0400000000000000" pitchFamily="34" charset="-128"/>
                  <a:ea typeface="BIZ UDPGothic" panose="020B0400000000000000" pitchFamily="34" charset="-128"/>
                </a:rPr>
                <a:t>NASDAQ100</a:t>
              </a:r>
            </a:p>
            <a:p>
              <a:r>
                <a:rPr lang="en-GB" dirty="0" err="1">
                  <a:latin typeface="BIZ UDPGothic" panose="020B0400000000000000" pitchFamily="34" charset="-128"/>
                  <a:ea typeface="BIZ UDPGothic" panose="020B0400000000000000" pitchFamily="34" charset="-128"/>
                </a:rPr>
                <a:t>NY_Dow</a:t>
              </a:r>
              <a:endParaRPr lang="en-GB" dirty="0">
                <a:latin typeface="BIZ UDPGothic" panose="020B0400000000000000" pitchFamily="34" charset="-128"/>
                <a:ea typeface="BIZ UDPGothic" panose="020B0400000000000000" pitchFamily="34" charset="-128"/>
              </a:endParaRPr>
            </a:p>
            <a:p>
              <a:r>
                <a:rPr lang="en-GB" dirty="0">
                  <a:latin typeface="BIZ UDPGothic" panose="020B0400000000000000" pitchFamily="34" charset="-128"/>
                  <a:ea typeface="BIZ UDPGothic" panose="020B0400000000000000" pitchFamily="34" charset="-128"/>
                </a:rPr>
                <a:t>VIX</a:t>
              </a:r>
            </a:p>
          </p:txBody>
        </p:sp>
        <p:sp>
          <p:nvSpPr>
            <p:cNvPr id="8" name="TextBox 7">
              <a:extLst>
                <a:ext uri="{FF2B5EF4-FFF2-40B4-BE49-F238E27FC236}">
                  <a16:creationId xmlns:a16="http://schemas.microsoft.com/office/drawing/2014/main" id="{73F7B587-6A86-D1C5-DC20-2B043F4966F1}"/>
                </a:ext>
              </a:extLst>
            </p:cNvPr>
            <p:cNvSpPr txBox="1"/>
            <p:nvPr/>
          </p:nvSpPr>
          <p:spPr>
            <a:xfrm>
              <a:off x="274383" y="4705938"/>
              <a:ext cx="2070488" cy="523220"/>
            </a:xfrm>
            <a:prstGeom prst="rect">
              <a:avLst/>
            </a:prstGeom>
            <a:noFill/>
          </p:spPr>
          <p:txBody>
            <a:bodyPr wrap="square" rtlCol="0">
              <a:spAutoFit/>
            </a:bodyPr>
            <a:lstStyle/>
            <a:p>
              <a:pPr algn="ctr"/>
              <a:r>
                <a:rPr lang="ja-JP" altLang="en-US" sz="2800" dirty="0">
                  <a:latin typeface="BIZ UDPGothic" panose="020B0400000000000000" pitchFamily="34" charset="-128"/>
                  <a:ea typeface="BIZ UDPGothic" panose="020B0400000000000000" pitchFamily="34" charset="-128"/>
                </a:rPr>
                <a:t>主要な指標</a:t>
              </a:r>
              <a:endParaRPr lang="en-GB" sz="2800" dirty="0">
                <a:latin typeface="BIZ UDPGothic" panose="020B0400000000000000" pitchFamily="34" charset="-128"/>
                <a:ea typeface="BIZ UDPGothic" panose="020B0400000000000000" pitchFamily="34" charset="-128"/>
              </a:endParaRPr>
            </a:p>
          </p:txBody>
        </p:sp>
        <p:sp>
          <p:nvSpPr>
            <p:cNvPr id="14" name="Rectangle 13">
              <a:extLst>
                <a:ext uri="{FF2B5EF4-FFF2-40B4-BE49-F238E27FC236}">
                  <a16:creationId xmlns:a16="http://schemas.microsoft.com/office/drawing/2014/main" id="{2888FC80-74DB-ABBB-7509-204417E3DA4D}"/>
                </a:ext>
              </a:extLst>
            </p:cNvPr>
            <p:cNvSpPr/>
            <p:nvPr/>
          </p:nvSpPr>
          <p:spPr>
            <a:xfrm>
              <a:off x="187632" y="3818578"/>
              <a:ext cx="2290279" cy="2616584"/>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C51695DC-0E68-FC09-812F-FB6AF7363582}"/>
                </a:ext>
              </a:extLst>
            </p:cNvPr>
            <p:cNvSpPr txBox="1"/>
            <p:nvPr/>
          </p:nvSpPr>
          <p:spPr>
            <a:xfrm>
              <a:off x="257312" y="3818578"/>
              <a:ext cx="2104629" cy="523220"/>
            </a:xfrm>
            <a:prstGeom prst="rect">
              <a:avLst/>
            </a:prstGeom>
            <a:noFill/>
          </p:spPr>
          <p:txBody>
            <a:bodyPr wrap="square" rtlCol="0">
              <a:spAutoFit/>
            </a:bodyPr>
            <a:lstStyle/>
            <a:p>
              <a:pPr algn="ctr"/>
              <a:r>
                <a:rPr lang="ja-JP" altLang="en-US" sz="2800" dirty="0">
                  <a:latin typeface="BIZ UDPGothic" panose="020B0400000000000000" pitchFamily="34" charset="-128"/>
                  <a:ea typeface="BIZ UDPGothic" panose="020B0400000000000000" pitchFamily="34" charset="-128"/>
                </a:rPr>
                <a:t>過去の株価</a:t>
              </a:r>
              <a:endParaRPr lang="en-GB" sz="2800" dirty="0">
                <a:latin typeface="BIZ UDPGothic" panose="020B0400000000000000" pitchFamily="34" charset="-128"/>
                <a:ea typeface="BIZ UDPGothic" panose="020B0400000000000000" pitchFamily="34" charset="-128"/>
              </a:endParaRPr>
            </a:p>
          </p:txBody>
        </p:sp>
        <p:sp>
          <p:nvSpPr>
            <p:cNvPr id="19" name="TextBox 18">
              <a:extLst>
                <a:ext uri="{FF2B5EF4-FFF2-40B4-BE49-F238E27FC236}">
                  <a16:creationId xmlns:a16="http://schemas.microsoft.com/office/drawing/2014/main" id="{F5FC2D95-902B-ED7A-DCF2-D3D9C505464C}"/>
                </a:ext>
              </a:extLst>
            </p:cNvPr>
            <p:cNvSpPr txBox="1"/>
            <p:nvPr/>
          </p:nvSpPr>
          <p:spPr>
            <a:xfrm>
              <a:off x="959051" y="4291171"/>
              <a:ext cx="747439" cy="523220"/>
            </a:xfrm>
            <a:prstGeom prst="rect">
              <a:avLst/>
            </a:prstGeom>
            <a:noFill/>
          </p:spPr>
          <p:txBody>
            <a:bodyPr wrap="square" rtlCol="0">
              <a:spAutoFit/>
            </a:bodyPr>
            <a:lstStyle/>
            <a:p>
              <a:pPr algn="ctr"/>
              <a:r>
                <a:rPr lang="ja-JP" altLang="en-US" sz="2800" dirty="0">
                  <a:latin typeface="BIZ UDPGothic" panose="020B0400000000000000" pitchFamily="34" charset="-128"/>
                  <a:ea typeface="BIZ UDPGothic" panose="020B0400000000000000" pitchFamily="34" charset="-128"/>
                </a:rPr>
                <a:t>＋</a:t>
              </a:r>
              <a:endParaRPr lang="en-GB" sz="2800" dirty="0">
                <a:latin typeface="BIZ UDPGothic" panose="020B0400000000000000" pitchFamily="34" charset="-128"/>
                <a:ea typeface="BIZ UDPGothic" panose="020B0400000000000000" pitchFamily="34" charset="-128"/>
              </a:endParaRPr>
            </a:p>
          </p:txBody>
        </p:sp>
      </p:grpSp>
    </p:spTree>
    <p:extLst>
      <p:ext uri="{BB962C8B-B14F-4D97-AF65-F5344CB8AC3E}">
        <p14:creationId xmlns:p14="http://schemas.microsoft.com/office/powerpoint/2010/main" val="515893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76492-7925-4964-E651-3846AD994E1D}"/>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59AA132-41AF-2A15-122B-6F634EDA0B91}"/>
              </a:ext>
            </a:extLst>
          </p:cNvPr>
          <p:cNvSpPr txBox="1"/>
          <p:nvPr/>
        </p:nvSpPr>
        <p:spPr>
          <a:xfrm>
            <a:off x="298126" y="48985"/>
            <a:ext cx="10204774" cy="923330"/>
          </a:xfrm>
          <a:prstGeom prst="rect">
            <a:avLst/>
          </a:prstGeom>
          <a:noFill/>
        </p:spPr>
        <p:txBody>
          <a:bodyPr wrap="square" rtlCol="0">
            <a:spAutoFit/>
          </a:bodyPr>
          <a:lstStyle/>
          <a:p>
            <a:r>
              <a:rPr kumimoji="1" lang="en-GB" altLang="ja-JP" sz="5400" b="1" dirty="0">
                <a:latin typeface="BIZ UDPゴシック" panose="020B0400000000000000" pitchFamily="50" charset="-128"/>
                <a:ea typeface="BIZ UDPゴシック" panose="020B0400000000000000" pitchFamily="50" charset="-128"/>
              </a:rPr>
              <a:t>BERT</a:t>
            </a:r>
            <a:r>
              <a:rPr kumimoji="1" lang="ja-JP" altLang="en-US" sz="5400" b="1" dirty="0">
                <a:latin typeface="BIZ UDPゴシック" panose="020B0400000000000000" pitchFamily="50" charset="-128"/>
                <a:ea typeface="BIZ UDPゴシック" panose="020B0400000000000000" pitchFamily="50" charset="-128"/>
              </a:rPr>
              <a:t>ファインチューニング</a:t>
            </a:r>
          </a:p>
        </p:txBody>
      </p:sp>
      <p:sp>
        <p:nvSpPr>
          <p:cNvPr id="3" name="Slide Number Placeholder 2">
            <a:extLst>
              <a:ext uri="{FF2B5EF4-FFF2-40B4-BE49-F238E27FC236}">
                <a16:creationId xmlns:a16="http://schemas.microsoft.com/office/drawing/2014/main" id="{86C8F7F0-A822-4449-44FD-359C57490B9F}"/>
              </a:ext>
            </a:extLst>
          </p:cNvPr>
          <p:cNvSpPr>
            <a:spLocks noGrp="1"/>
          </p:cNvSpPr>
          <p:nvPr>
            <p:ph type="sldNum" sz="quarter" idx="12"/>
          </p:nvPr>
        </p:nvSpPr>
        <p:spPr/>
        <p:txBody>
          <a:bodyPr/>
          <a:lstStyle/>
          <a:p>
            <a:fld id="{F42732FB-2277-442C-9711-A45410BE01D8}" type="slidenum">
              <a:rPr kumimoji="1" lang="ja-JP" altLang="en-US" smtClean="0"/>
              <a:t>11</a:t>
            </a:fld>
            <a:endParaRPr kumimoji="1" lang="ja-JP" altLang="en-US"/>
          </a:p>
        </p:txBody>
      </p:sp>
      <p:sp>
        <p:nvSpPr>
          <p:cNvPr id="4" name="TextBox 3">
            <a:extLst>
              <a:ext uri="{FF2B5EF4-FFF2-40B4-BE49-F238E27FC236}">
                <a16:creationId xmlns:a16="http://schemas.microsoft.com/office/drawing/2014/main" id="{23C6300A-DF1A-980C-0CF3-D123B551A4E6}"/>
              </a:ext>
            </a:extLst>
          </p:cNvPr>
          <p:cNvSpPr txBox="1"/>
          <p:nvPr/>
        </p:nvSpPr>
        <p:spPr>
          <a:xfrm>
            <a:off x="542136" y="2279337"/>
            <a:ext cx="4667250" cy="923330"/>
          </a:xfrm>
          <a:prstGeom prst="rect">
            <a:avLst/>
          </a:prstGeom>
          <a:noFill/>
        </p:spPr>
        <p:txBody>
          <a:bodyPr wrap="square" rtlCol="0">
            <a:spAutoFit/>
          </a:bodyPr>
          <a:lstStyle/>
          <a:p>
            <a:r>
              <a:rPr lang="ja-JP" altLang="en-US" dirty="0">
                <a:latin typeface="BIZ UDPGothic" panose="020B0400000000000000" pitchFamily="34" charset="-128"/>
                <a:ea typeface="BIZ UDPGothic" panose="020B0400000000000000" pitchFamily="34" charset="-128"/>
              </a:rPr>
              <a:t>グリーンファームバイオテック社が開発した新しい持続可能な農業技術が、国際環境保護協会から高評価を受けたことを受け</a:t>
            </a:r>
            <a:r>
              <a:rPr lang="en-GB" altLang="ja-JP" dirty="0">
                <a:latin typeface="BIZ UDPGothic" panose="020B0400000000000000" pitchFamily="34" charset="-128"/>
                <a:ea typeface="BIZ UDPGothic" panose="020B0400000000000000" pitchFamily="34" charset="-128"/>
              </a:rPr>
              <a:t>……</a:t>
            </a:r>
            <a:endParaRPr lang="en-GB" dirty="0">
              <a:latin typeface="BIZ UDPGothic" panose="020B0400000000000000" pitchFamily="34" charset="-128"/>
              <a:ea typeface="BIZ UDPGothic" panose="020B0400000000000000" pitchFamily="34" charset="-128"/>
            </a:endParaRPr>
          </a:p>
        </p:txBody>
      </p:sp>
      <p:graphicFrame>
        <p:nvGraphicFramePr>
          <p:cNvPr id="6" name="表 4">
            <a:extLst>
              <a:ext uri="{FF2B5EF4-FFF2-40B4-BE49-F238E27FC236}">
                <a16:creationId xmlns:a16="http://schemas.microsoft.com/office/drawing/2014/main" id="{4DBE2132-9A4A-D126-5ED3-923DEBEAABB3}"/>
              </a:ext>
            </a:extLst>
          </p:cNvPr>
          <p:cNvGraphicFramePr>
            <a:graphicFrameLocks noGrp="1"/>
          </p:cNvGraphicFramePr>
          <p:nvPr>
            <p:extLst>
              <p:ext uri="{D42A27DB-BD31-4B8C-83A1-F6EECF244321}">
                <p14:modId xmlns:p14="http://schemas.microsoft.com/office/powerpoint/2010/main" val="3847447957"/>
              </p:ext>
            </p:extLst>
          </p:nvPr>
        </p:nvGraphicFramePr>
        <p:xfrm>
          <a:off x="599285" y="4301890"/>
          <a:ext cx="4667250" cy="877658"/>
        </p:xfrm>
        <a:graphic>
          <a:graphicData uri="http://schemas.openxmlformats.org/drawingml/2006/table">
            <a:tbl>
              <a:tblPr>
                <a:tableStyleId>{5C22544A-7EE6-4342-B048-85BDC9FD1C3A}</a:tableStyleId>
              </a:tblPr>
              <a:tblGrid>
                <a:gridCol w="933450">
                  <a:extLst>
                    <a:ext uri="{9D8B030D-6E8A-4147-A177-3AD203B41FA5}">
                      <a16:colId xmlns:a16="http://schemas.microsoft.com/office/drawing/2014/main" val="893344366"/>
                    </a:ext>
                  </a:extLst>
                </a:gridCol>
                <a:gridCol w="933450">
                  <a:extLst>
                    <a:ext uri="{9D8B030D-6E8A-4147-A177-3AD203B41FA5}">
                      <a16:colId xmlns:a16="http://schemas.microsoft.com/office/drawing/2014/main" val="3337786240"/>
                    </a:ext>
                  </a:extLst>
                </a:gridCol>
                <a:gridCol w="933450">
                  <a:extLst>
                    <a:ext uri="{9D8B030D-6E8A-4147-A177-3AD203B41FA5}">
                      <a16:colId xmlns:a16="http://schemas.microsoft.com/office/drawing/2014/main" val="832829902"/>
                    </a:ext>
                  </a:extLst>
                </a:gridCol>
                <a:gridCol w="933450">
                  <a:extLst>
                    <a:ext uri="{9D8B030D-6E8A-4147-A177-3AD203B41FA5}">
                      <a16:colId xmlns:a16="http://schemas.microsoft.com/office/drawing/2014/main" val="3318059863"/>
                    </a:ext>
                  </a:extLst>
                </a:gridCol>
                <a:gridCol w="933450">
                  <a:extLst>
                    <a:ext uri="{9D8B030D-6E8A-4147-A177-3AD203B41FA5}">
                      <a16:colId xmlns:a16="http://schemas.microsoft.com/office/drawing/2014/main" val="2909980776"/>
                    </a:ext>
                  </a:extLst>
                </a:gridCol>
              </a:tblGrid>
              <a:tr h="463013">
                <a:tc>
                  <a:txBody>
                    <a:bodyPr/>
                    <a:lstStyle/>
                    <a:p>
                      <a:pPr algn="ctr"/>
                      <a:r>
                        <a:rPr kumimoji="1" lang="ja-JP" altLang="en-US" sz="2400" b="1" dirty="0"/>
                        <a:t>失望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楽観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懸念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興奮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安定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2857899"/>
                  </a:ext>
                </a:extLst>
              </a:tr>
              <a:tr h="414645">
                <a:tc>
                  <a:txBody>
                    <a:bodyPr/>
                    <a:lstStyle/>
                    <a:p>
                      <a:pPr algn="ctr"/>
                      <a:r>
                        <a:rPr kumimoji="1" lang="en-GB" altLang="ja-JP" sz="2000" dirty="0">
                          <a:latin typeface="BIZ UDPゴシック" panose="020B0400000000000000" pitchFamily="50" charset="-128"/>
                          <a:ea typeface="BIZ UDPゴシック" panose="020B0400000000000000" pitchFamily="50" charset="-128"/>
                        </a:rPr>
                        <a:t>0.1</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GB" altLang="ja-JP" sz="2000" dirty="0">
                          <a:latin typeface="BIZ UDPゴシック" panose="020B0400000000000000" pitchFamily="50" charset="-128"/>
                          <a:ea typeface="BIZ UDPゴシック" panose="020B0400000000000000" pitchFamily="50" charset="-128"/>
                        </a:rPr>
                        <a:t>0.9</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GB" altLang="ja-JP" sz="2000" dirty="0">
                          <a:latin typeface="BIZ UDPゴシック" panose="020B0400000000000000" pitchFamily="50" charset="-128"/>
                          <a:ea typeface="BIZ UDPゴシック" panose="020B0400000000000000" pitchFamily="50" charset="-128"/>
                        </a:rPr>
                        <a:t>0.2</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800" b="0" i="0" kern="1200" dirty="0">
                          <a:solidFill>
                            <a:schemeClr val="dk1"/>
                          </a:solidFill>
                          <a:effectLst/>
                          <a:latin typeface="BIZ UDPゴシック" panose="020B0400000000000000" pitchFamily="50" charset="-128"/>
                          <a:ea typeface="BIZ UDPゴシック" panose="020B0400000000000000" pitchFamily="50" charset="-128"/>
                          <a:cs typeface="+mn-cs"/>
                        </a:rPr>
                        <a:t>0.8</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800" b="0" i="0" kern="1200" dirty="0">
                          <a:solidFill>
                            <a:schemeClr val="dk1"/>
                          </a:solidFill>
                          <a:effectLst/>
                          <a:latin typeface="BIZ UDPゴシック" panose="020B0400000000000000" pitchFamily="50" charset="-128"/>
                          <a:ea typeface="BIZ UDPゴシック" panose="020B0400000000000000" pitchFamily="50" charset="-128"/>
                          <a:cs typeface="+mn-cs"/>
                        </a:rPr>
                        <a:t>0.7</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647180"/>
                  </a:ext>
                </a:extLst>
              </a:tr>
            </a:tbl>
          </a:graphicData>
        </a:graphic>
      </p:graphicFrame>
      <p:sp>
        <p:nvSpPr>
          <p:cNvPr id="8" name="Rectangle: Rounded Corners 7">
            <a:extLst>
              <a:ext uri="{FF2B5EF4-FFF2-40B4-BE49-F238E27FC236}">
                <a16:creationId xmlns:a16="http://schemas.microsoft.com/office/drawing/2014/main" id="{14E574C8-8088-03DA-4357-F1C1CF93A5EA}"/>
              </a:ext>
            </a:extLst>
          </p:cNvPr>
          <p:cNvSpPr/>
          <p:nvPr/>
        </p:nvSpPr>
        <p:spPr>
          <a:xfrm>
            <a:off x="542136" y="2158283"/>
            <a:ext cx="4667250" cy="1165438"/>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2AE78185-A61A-9F54-2B01-3FE8A19A4212}"/>
              </a:ext>
            </a:extLst>
          </p:cNvPr>
          <p:cNvSpPr txBox="1"/>
          <p:nvPr/>
        </p:nvSpPr>
        <p:spPr>
          <a:xfrm>
            <a:off x="707235" y="1817672"/>
            <a:ext cx="2239165" cy="461665"/>
          </a:xfrm>
          <a:prstGeom prst="rect">
            <a:avLst/>
          </a:prstGeom>
          <a:solidFill>
            <a:schemeClr val="bg1"/>
          </a:solidFill>
        </p:spPr>
        <p:txBody>
          <a:bodyPr wrap="square" rtlCol="0">
            <a:spAutoFit/>
          </a:bodyPr>
          <a:lstStyle/>
          <a:p>
            <a:pPr algn="ctr"/>
            <a:r>
              <a:rPr lang="ja-JP" altLang="en-US" sz="2400" dirty="0">
                <a:latin typeface="BIZ UDPGothic" panose="020B0400000000000000" pitchFamily="34" charset="-128"/>
                <a:ea typeface="BIZ UDPGothic" panose="020B0400000000000000" pitchFamily="34" charset="-128"/>
              </a:rPr>
              <a:t>架空のニュース</a:t>
            </a:r>
            <a:endParaRPr lang="en-GB" sz="2400" dirty="0">
              <a:latin typeface="BIZ UDPGothic" panose="020B0400000000000000" pitchFamily="34" charset="-128"/>
              <a:ea typeface="BIZ UDPGothic" panose="020B0400000000000000" pitchFamily="34" charset="-128"/>
            </a:endParaRPr>
          </a:p>
        </p:txBody>
      </p:sp>
      <p:sp>
        <p:nvSpPr>
          <p:cNvPr id="9" name="TextBox 8">
            <a:extLst>
              <a:ext uri="{FF2B5EF4-FFF2-40B4-BE49-F238E27FC236}">
                <a16:creationId xmlns:a16="http://schemas.microsoft.com/office/drawing/2014/main" id="{DC372A0A-887D-AE4F-8A06-B275F2692CE6}"/>
              </a:ext>
            </a:extLst>
          </p:cNvPr>
          <p:cNvSpPr txBox="1"/>
          <p:nvPr/>
        </p:nvSpPr>
        <p:spPr>
          <a:xfrm>
            <a:off x="599285" y="3521446"/>
            <a:ext cx="4667250" cy="461665"/>
          </a:xfrm>
          <a:prstGeom prst="rect">
            <a:avLst/>
          </a:prstGeom>
          <a:noFill/>
        </p:spPr>
        <p:txBody>
          <a:bodyPr wrap="square" rtlCol="0">
            <a:spAutoFit/>
          </a:bodyPr>
          <a:lstStyle/>
          <a:p>
            <a:pPr algn="ctr"/>
            <a:r>
              <a:rPr lang="en-GB" sz="2400" b="1" dirty="0">
                <a:latin typeface="BIZ UDPGothic" panose="020B0400000000000000" pitchFamily="34" charset="-128"/>
                <a:ea typeface="BIZ UDPGothic" panose="020B0400000000000000" pitchFamily="34" charset="-128"/>
              </a:rPr>
              <a:t>+</a:t>
            </a:r>
          </a:p>
        </p:txBody>
      </p:sp>
      <p:sp>
        <p:nvSpPr>
          <p:cNvPr id="11" name="Right Brace 10">
            <a:extLst>
              <a:ext uri="{FF2B5EF4-FFF2-40B4-BE49-F238E27FC236}">
                <a16:creationId xmlns:a16="http://schemas.microsoft.com/office/drawing/2014/main" id="{77EE693C-985F-09E0-55C1-67B4D54AEC9E}"/>
              </a:ext>
            </a:extLst>
          </p:cNvPr>
          <p:cNvSpPr/>
          <p:nvPr/>
        </p:nvSpPr>
        <p:spPr>
          <a:xfrm>
            <a:off x="5435212" y="1749139"/>
            <a:ext cx="962815" cy="4006278"/>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TextBox 11">
            <a:extLst>
              <a:ext uri="{FF2B5EF4-FFF2-40B4-BE49-F238E27FC236}">
                <a16:creationId xmlns:a16="http://schemas.microsoft.com/office/drawing/2014/main" id="{873E5846-8A78-EF85-A773-68764B9D5B63}"/>
              </a:ext>
            </a:extLst>
          </p:cNvPr>
          <p:cNvSpPr txBox="1"/>
          <p:nvPr/>
        </p:nvSpPr>
        <p:spPr>
          <a:xfrm>
            <a:off x="6398027" y="3398335"/>
            <a:ext cx="2222500" cy="707886"/>
          </a:xfrm>
          <a:prstGeom prst="rect">
            <a:avLst/>
          </a:prstGeom>
          <a:noFill/>
        </p:spPr>
        <p:txBody>
          <a:bodyPr wrap="square" rtlCol="0">
            <a:spAutoFit/>
          </a:bodyPr>
          <a:lstStyle/>
          <a:p>
            <a:r>
              <a:rPr lang="en-US" altLang="ja-JP" sz="4000" dirty="0">
                <a:latin typeface="BIZ UDPGothic" panose="020B0400000000000000" pitchFamily="34" charset="-128"/>
                <a:ea typeface="BIZ UDPGothic" panose="020B0400000000000000" pitchFamily="34" charset="-128"/>
              </a:rPr>
              <a:t>×640</a:t>
            </a:r>
            <a:endParaRPr lang="en-GB" sz="4000" dirty="0">
              <a:latin typeface="BIZ UDPGothic" panose="020B0400000000000000" pitchFamily="34" charset="-128"/>
              <a:ea typeface="BIZ UDPGothic" panose="020B0400000000000000" pitchFamily="34" charset="-128"/>
            </a:endParaRPr>
          </a:p>
        </p:txBody>
      </p:sp>
      <p:sp>
        <p:nvSpPr>
          <p:cNvPr id="13" name="TextBox 12">
            <a:extLst>
              <a:ext uri="{FF2B5EF4-FFF2-40B4-BE49-F238E27FC236}">
                <a16:creationId xmlns:a16="http://schemas.microsoft.com/office/drawing/2014/main" id="{8D71E8D6-D3FD-08A8-9FD2-BF174DABB560}"/>
              </a:ext>
            </a:extLst>
          </p:cNvPr>
          <p:cNvSpPr txBox="1"/>
          <p:nvPr/>
        </p:nvSpPr>
        <p:spPr>
          <a:xfrm>
            <a:off x="707235" y="5831026"/>
            <a:ext cx="4690264" cy="707886"/>
          </a:xfrm>
          <a:prstGeom prst="rect">
            <a:avLst/>
          </a:prstGeom>
          <a:noFill/>
        </p:spPr>
        <p:txBody>
          <a:bodyPr wrap="square" rtlCol="0">
            <a:spAutoFit/>
          </a:bodyPr>
          <a:lstStyle/>
          <a:p>
            <a:pPr algn="ctr"/>
            <a:r>
              <a:rPr lang="en-GB" sz="4000" dirty="0">
                <a:latin typeface="BIZ UDPGothic" panose="020B0400000000000000" pitchFamily="34" charset="-128"/>
                <a:ea typeface="BIZ UDPGothic" panose="020B0400000000000000" pitchFamily="34" charset="-128"/>
              </a:rPr>
              <a:t>Chat GPT</a:t>
            </a:r>
            <a:r>
              <a:rPr lang="ja-JP" altLang="en-US" sz="4000" dirty="0">
                <a:latin typeface="BIZ UDPGothic" panose="020B0400000000000000" pitchFamily="34" charset="-128"/>
                <a:ea typeface="BIZ UDPGothic" panose="020B0400000000000000" pitchFamily="34" charset="-128"/>
              </a:rPr>
              <a:t>で生成</a:t>
            </a:r>
            <a:endParaRPr lang="en-GB" sz="4000" dirty="0">
              <a:latin typeface="BIZ UDPGothic" panose="020B0400000000000000" pitchFamily="34" charset="-128"/>
              <a:ea typeface="BIZ UDPGothic" panose="020B0400000000000000" pitchFamily="34" charset="-128"/>
            </a:endParaRPr>
          </a:p>
        </p:txBody>
      </p:sp>
      <p:sp>
        <p:nvSpPr>
          <p:cNvPr id="14" name="Arrow: Right 13">
            <a:extLst>
              <a:ext uri="{FF2B5EF4-FFF2-40B4-BE49-F238E27FC236}">
                <a16:creationId xmlns:a16="http://schemas.microsoft.com/office/drawing/2014/main" id="{C15BB006-CB35-D2FC-186B-30CA419292EC}"/>
              </a:ext>
            </a:extLst>
          </p:cNvPr>
          <p:cNvSpPr/>
          <p:nvPr/>
        </p:nvSpPr>
        <p:spPr>
          <a:xfrm>
            <a:off x="8225556" y="3557489"/>
            <a:ext cx="770087" cy="389578"/>
          </a:xfrm>
          <a:prstGeom prst="rightArrow">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E7A579BB-BA90-34CB-D06E-A8BDA8CA7730}"/>
              </a:ext>
            </a:extLst>
          </p:cNvPr>
          <p:cNvSpPr txBox="1"/>
          <p:nvPr/>
        </p:nvSpPr>
        <p:spPr>
          <a:xfrm>
            <a:off x="9136513" y="3323721"/>
            <a:ext cx="2997054" cy="830997"/>
          </a:xfrm>
          <a:prstGeom prst="rect">
            <a:avLst/>
          </a:prstGeom>
          <a:noFill/>
          <a:ln w="28575">
            <a:noFill/>
          </a:ln>
        </p:spPr>
        <p:txBody>
          <a:bodyPr wrap="square" rtlCol="0">
            <a:spAutoFit/>
          </a:bodyPr>
          <a:lstStyle/>
          <a:p>
            <a:pPr algn="ctr"/>
            <a:r>
              <a:rPr lang="en-US" altLang="ja-JP" sz="2400" dirty="0">
                <a:latin typeface="BIZ UDPGothic" panose="020B0400000000000000" pitchFamily="34" charset="-128"/>
                <a:ea typeface="BIZ UDPGothic" panose="020B0400000000000000" pitchFamily="34" charset="-128"/>
              </a:rPr>
              <a:t>BERT</a:t>
            </a:r>
            <a:r>
              <a:rPr lang="ja-JP" altLang="en-US" sz="2400" dirty="0">
                <a:latin typeface="BIZ UDPGothic" panose="020B0400000000000000" pitchFamily="34" charset="-128"/>
                <a:ea typeface="BIZ UDPGothic" panose="020B0400000000000000" pitchFamily="34" charset="-128"/>
              </a:rPr>
              <a:t>モデル</a:t>
            </a:r>
            <a:endParaRPr lang="en-GB" altLang="ja-JP" sz="2400" dirty="0">
              <a:latin typeface="BIZ UDPGothic" panose="020B0400000000000000" pitchFamily="34" charset="-128"/>
              <a:ea typeface="BIZ UDPGothic" panose="020B0400000000000000" pitchFamily="34" charset="-128"/>
            </a:endParaRPr>
          </a:p>
          <a:p>
            <a:pPr algn="ctr"/>
            <a:r>
              <a:rPr lang="ja-JP" altLang="en-US" sz="2400" dirty="0">
                <a:latin typeface="BIZ UDPGothic" panose="020B0400000000000000" pitchFamily="34" charset="-128"/>
                <a:ea typeface="BIZ UDPGothic" panose="020B0400000000000000" pitchFamily="34" charset="-128"/>
              </a:rPr>
              <a:t>ファインチューニング</a:t>
            </a:r>
            <a:endParaRPr lang="en-US" altLang="ja-JP" sz="2400" dirty="0">
              <a:latin typeface="BIZ UDPGothic" panose="020B0400000000000000" pitchFamily="34" charset="-128"/>
              <a:ea typeface="BIZ UDPGothic" panose="020B0400000000000000" pitchFamily="34" charset="-128"/>
            </a:endParaRPr>
          </a:p>
        </p:txBody>
      </p:sp>
      <p:sp>
        <p:nvSpPr>
          <p:cNvPr id="17" name="Rectangle: Rounded Corners 16">
            <a:extLst>
              <a:ext uri="{FF2B5EF4-FFF2-40B4-BE49-F238E27FC236}">
                <a16:creationId xmlns:a16="http://schemas.microsoft.com/office/drawing/2014/main" id="{53D75469-0ED9-A60E-9FD9-A8A5EA0E1BA8}"/>
              </a:ext>
            </a:extLst>
          </p:cNvPr>
          <p:cNvSpPr/>
          <p:nvPr/>
        </p:nvSpPr>
        <p:spPr>
          <a:xfrm>
            <a:off x="9199233" y="2832908"/>
            <a:ext cx="2871614" cy="1838739"/>
          </a:xfrm>
          <a:prstGeom prst="roundRect">
            <a:avLst/>
          </a:prstGeom>
          <a:noFill/>
          <a:ln w="381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20254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D488964-915C-6E6C-F0D1-BD92504F8AD7}"/>
              </a:ext>
            </a:extLst>
          </p:cNvPr>
          <p:cNvSpPr txBox="1"/>
          <p:nvPr/>
        </p:nvSpPr>
        <p:spPr>
          <a:xfrm>
            <a:off x="1295464" y="750292"/>
            <a:ext cx="9601066" cy="954107"/>
          </a:xfrm>
          <a:prstGeom prst="rect">
            <a:avLst/>
          </a:prstGeom>
          <a:solidFill>
            <a:schemeClr val="bg2">
              <a:lumMod val="90000"/>
            </a:schemeClr>
          </a:solidFill>
        </p:spPr>
        <p:txBody>
          <a:bodyPr wrap="square" rtlCol="0">
            <a:spAutoFit/>
          </a:bodyPr>
          <a:lstStyle/>
          <a:p>
            <a:r>
              <a:rPr kumimoji="1" lang="en-US" altLang="ja-JP" sz="2800" b="1" dirty="0">
                <a:latin typeface="BIZ UDPゴシック" panose="020B0400000000000000" pitchFamily="50" charset="-128"/>
                <a:ea typeface="BIZ UDPゴシック" panose="020B0400000000000000" pitchFamily="50" charset="-128"/>
              </a:rPr>
              <a:t>【</a:t>
            </a:r>
            <a:r>
              <a:rPr kumimoji="1" lang="ja-JP" altLang="en-US" sz="2800" b="1" dirty="0">
                <a:latin typeface="BIZ UDPゴシック" panose="020B0400000000000000" pitchFamily="50" charset="-128"/>
                <a:ea typeface="BIZ UDPゴシック" panose="020B0400000000000000" pitchFamily="50" charset="-128"/>
              </a:rPr>
              <a:t>速報</a:t>
            </a:r>
            <a:r>
              <a:rPr kumimoji="1" lang="en-US" altLang="ja-JP" sz="2800" b="1" dirty="0">
                <a:latin typeface="BIZ UDPゴシック" panose="020B0400000000000000" pitchFamily="50" charset="-128"/>
                <a:ea typeface="BIZ UDPゴシック" panose="020B0400000000000000" pitchFamily="50" charset="-128"/>
              </a:rPr>
              <a:t>】</a:t>
            </a:r>
            <a:r>
              <a:rPr kumimoji="1" lang="ja-JP" altLang="en-US" sz="2800" b="1" dirty="0">
                <a:latin typeface="BIZ UDPゴシック" panose="020B0400000000000000" pitchFamily="50" charset="-128"/>
                <a:ea typeface="BIZ UDPゴシック" panose="020B0400000000000000" pitchFamily="50" charset="-128"/>
              </a:rPr>
              <a:t>世界が注目する</a:t>
            </a:r>
            <a:r>
              <a:rPr kumimoji="1" lang="en-US" altLang="ja-JP" sz="2800" b="1" dirty="0">
                <a:latin typeface="BIZ UDPゴシック" panose="020B0400000000000000" pitchFamily="50" charset="-128"/>
                <a:ea typeface="BIZ UDPゴシック" panose="020B0400000000000000" pitchFamily="50" charset="-128"/>
              </a:rPr>
              <a:t>MVIDIA</a:t>
            </a:r>
            <a:r>
              <a:rPr kumimoji="1" lang="ja-JP" altLang="en-US" sz="2800" b="1" dirty="0">
                <a:latin typeface="BIZ UDPゴシック" panose="020B0400000000000000" pitchFamily="50" charset="-128"/>
                <a:ea typeface="BIZ UDPゴシック" panose="020B0400000000000000" pitchFamily="50" charset="-128"/>
              </a:rPr>
              <a:t>が決算発表</a:t>
            </a:r>
            <a:endParaRPr kumimoji="1" lang="en-US" altLang="ja-JP" sz="2800" b="1" dirty="0">
              <a:latin typeface="BIZ UDPゴシック" panose="020B0400000000000000" pitchFamily="50" charset="-128"/>
              <a:ea typeface="BIZ UDPゴシック" panose="020B0400000000000000" pitchFamily="50" charset="-128"/>
            </a:endParaRPr>
          </a:p>
          <a:p>
            <a:r>
              <a:rPr kumimoji="1" lang="ja-JP" altLang="en-US" sz="2800" b="1" dirty="0">
                <a:latin typeface="BIZ UDPゴシック" panose="020B0400000000000000" pitchFamily="50" charset="-128"/>
                <a:ea typeface="BIZ UDPゴシック" panose="020B0400000000000000" pitchFamily="50" charset="-128"/>
              </a:rPr>
              <a:t>「最終的な利益 前年比</a:t>
            </a:r>
            <a:r>
              <a:rPr kumimoji="1" lang="en-US" altLang="ja-JP" sz="2800" b="1" dirty="0">
                <a:latin typeface="BIZ UDPゴシック" panose="020B0400000000000000" pitchFamily="50" charset="-128"/>
                <a:ea typeface="BIZ UDPゴシック" panose="020B0400000000000000" pitchFamily="50" charset="-128"/>
              </a:rPr>
              <a:t>7.3</a:t>
            </a:r>
            <a:r>
              <a:rPr kumimoji="1" lang="ja-JP" altLang="en-US" sz="2800" b="1" dirty="0">
                <a:latin typeface="BIZ UDPゴシック" panose="020B0400000000000000" pitchFamily="50" charset="-128"/>
                <a:ea typeface="BIZ UDPゴシック" panose="020B0400000000000000" pitchFamily="50" charset="-128"/>
              </a:rPr>
              <a:t>倍</a:t>
            </a:r>
            <a:r>
              <a:rPr kumimoji="1" lang="en-US" altLang="ja-JP" sz="2800" b="1" dirty="0">
                <a:latin typeface="BIZ UDPゴシック" panose="020B0400000000000000" pitchFamily="50" charset="-128"/>
                <a:ea typeface="BIZ UDPゴシック" panose="020B0400000000000000" pitchFamily="50" charset="-128"/>
              </a:rPr>
              <a:t>2</a:t>
            </a:r>
            <a:r>
              <a:rPr kumimoji="1" lang="ja-JP" altLang="en-US" sz="2800" b="1" dirty="0">
                <a:latin typeface="BIZ UDPゴシック" panose="020B0400000000000000" pitchFamily="50" charset="-128"/>
                <a:ea typeface="BIZ UDPゴシック" panose="020B0400000000000000" pitchFamily="50" charset="-128"/>
              </a:rPr>
              <a:t>兆</a:t>
            </a:r>
            <a:r>
              <a:rPr kumimoji="1" lang="en-US" altLang="ja-JP" sz="2800" b="1" dirty="0">
                <a:latin typeface="BIZ UDPゴシック" panose="020B0400000000000000" pitchFamily="50" charset="-128"/>
                <a:ea typeface="BIZ UDPゴシック" panose="020B0400000000000000" pitchFamily="50" charset="-128"/>
              </a:rPr>
              <a:t>3300</a:t>
            </a:r>
            <a:r>
              <a:rPr kumimoji="1" lang="ja-JP" altLang="en-US" sz="2800" b="1" dirty="0">
                <a:latin typeface="BIZ UDPゴシック" panose="020B0400000000000000" pitchFamily="50" charset="-128"/>
                <a:ea typeface="BIZ UDPゴシック" panose="020B0400000000000000" pitchFamily="50" charset="-128"/>
              </a:rPr>
              <a:t>億円」勢い止まらず</a:t>
            </a:r>
          </a:p>
        </p:txBody>
      </p:sp>
      <p:graphicFrame>
        <p:nvGraphicFramePr>
          <p:cNvPr id="5" name="表 4">
            <a:extLst>
              <a:ext uri="{FF2B5EF4-FFF2-40B4-BE49-F238E27FC236}">
                <a16:creationId xmlns:a16="http://schemas.microsoft.com/office/drawing/2014/main" id="{F24F8378-CC85-A514-95DA-3CBDBFA1AA1E}"/>
              </a:ext>
            </a:extLst>
          </p:cNvPr>
          <p:cNvGraphicFramePr>
            <a:graphicFrameLocks noGrp="1"/>
          </p:cNvGraphicFramePr>
          <p:nvPr>
            <p:extLst>
              <p:ext uri="{D42A27DB-BD31-4B8C-83A1-F6EECF244321}">
                <p14:modId xmlns:p14="http://schemas.microsoft.com/office/powerpoint/2010/main" val="3952216372"/>
              </p:ext>
            </p:extLst>
          </p:nvPr>
        </p:nvGraphicFramePr>
        <p:xfrm>
          <a:off x="1509717" y="2413305"/>
          <a:ext cx="9256820" cy="1053424"/>
        </p:xfrm>
        <a:graphic>
          <a:graphicData uri="http://schemas.openxmlformats.org/drawingml/2006/table">
            <a:tbl>
              <a:tblPr>
                <a:tableStyleId>{5C22544A-7EE6-4342-B048-85BDC9FD1C3A}</a:tableStyleId>
              </a:tblPr>
              <a:tblGrid>
                <a:gridCol w="1851364">
                  <a:extLst>
                    <a:ext uri="{9D8B030D-6E8A-4147-A177-3AD203B41FA5}">
                      <a16:colId xmlns:a16="http://schemas.microsoft.com/office/drawing/2014/main" val="893344366"/>
                    </a:ext>
                  </a:extLst>
                </a:gridCol>
                <a:gridCol w="1851364">
                  <a:extLst>
                    <a:ext uri="{9D8B030D-6E8A-4147-A177-3AD203B41FA5}">
                      <a16:colId xmlns:a16="http://schemas.microsoft.com/office/drawing/2014/main" val="3337786240"/>
                    </a:ext>
                  </a:extLst>
                </a:gridCol>
                <a:gridCol w="1851364">
                  <a:extLst>
                    <a:ext uri="{9D8B030D-6E8A-4147-A177-3AD203B41FA5}">
                      <a16:colId xmlns:a16="http://schemas.microsoft.com/office/drawing/2014/main" val="832829902"/>
                    </a:ext>
                  </a:extLst>
                </a:gridCol>
                <a:gridCol w="1851364">
                  <a:extLst>
                    <a:ext uri="{9D8B030D-6E8A-4147-A177-3AD203B41FA5}">
                      <a16:colId xmlns:a16="http://schemas.microsoft.com/office/drawing/2014/main" val="3318059863"/>
                    </a:ext>
                  </a:extLst>
                </a:gridCol>
                <a:gridCol w="1851364">
                  <a:extLst>
                    <a:ext uri="{9D8B030D-6E8A-4147-A177-3AD203B41FA5}">
                      <a16:colId xmlns:a16="http://schemas.microsoft.com/office/drawing/2014/main" val="2909980776"/>
                    </a:ext>
                  </a:extLst>
                </a:gridCol>
              </a:tblGrid>
              <a:tr h="526712">
                <a:tc>
                  <a:txBody>
                    <a:bodyPr/>
                    <a:lstStyle/>
                    <a:p>
                      <a:pPr algn="ctr"/>
                      <a:r>
                        <a:rPr kumimoji="1" lang="ja-JP" altLang="en-US" sz="2400" b="1" dirty="0"/>
                        <a:t>失望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楽観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懸念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興奮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安定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2857899"/>
                  </a:ext>
                </a:extLst>
              </a:tr>
              <a:tr h="526712">
                <a:tc>
                  <a:txBody>
                    <a:bodyPr/>
                    <a:lstStyle/>
                    <a:p>
                      <a:pPr algn="ctr"/>
                      <a:r>
                        <a:rPr kumimoji="1" lang="en-US" altLang="ja-JP" sz="1800" b="0" i="0" kern="1200" dirty="0">
                          <a:solidFill>
                            <a:schemeClr val="dk1"/>
                          </a:solidFill>
                          <a:effectLst/>
                          <a:latin typeface="BIZ UDPゴシック" panose="020B0400000000000000" pitchFamily="50" charset="-128"/>
                          <a:ea typeface="BIZ UDPゴシック" panose="020B0400000000000000" pitchFamily="50" charset="-128"/>
                          <a:cs typeface="+mn-cs"/>
                        </a:rPr>
                        <a:t>0.053</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800" b="0" i="0" kern="1200" dirty="0">
                          <a:solidFill>
                            <a:schemeClr val="dk1"/>
                          </a:solidFill>
                          <a:effectLst/>
                          <a:latin typeface="BIZ UDPゴシック" panose="020B0400000000000000" pitchFamily="50" charset="-128"/>
                          <a:ea typeface="BIZ UDPゴシック" panose="020B0400000000000000" pitchFamily="50" charset="-128"/>
                          <a:cs typeface="+mn-cs"/>
                        </a:rPr>
                        <a:t>0.395</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800" b="0" i="0" kern="1200" dirty="0">
                          <a:solidFill>
                            <a:schemeClr val="dk1"/>
                          </a:solidFill>
                          <a:effectLst/>
                          <a:latin typeface="BIZ UDPゴシック" panose="020B0400000000000000" pitchFamily="50" charset="-128"/>
                          <a:ea typeface="BIZ UDPゴシック" panose="020B0400000000000000" pitchFamily="50" charset="-128"/>
                          <a:cs typeface="+mn-cs"/>
                        </a:rPr>
                        <a:t>0.108</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800" b="0" i="0" kern="1200" dirty="0">
                          <a:solidFill>
                            <a:schemeClr val="dk1"/>
                          </a:solidFill>
                          <a:effectLst/>
                          <a:latin typeface="BIZ UDPゴシック" panose="020B0400000000000000" pitchFamily="50" charset="-128"/>
                          <a:ea typeface="BIZ UDPゴシック" panose="020B0400000000000000" pitchFamily="50" charset="-128"/>
                          <a:cs typeface="+mn-cs"/>
                        </a:rPr>
                        <a:t>0.230</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800" b="0" i="0" kern="1200" dirty="0">
                          <a:solidFill>
                            <a:schemeClr val="dk1"/>
                          </a:solidFill>
                          <a:effectLst/>
                          <a:latin typeface="BIZ UDPゴシック" panose="020B0400000000000000" pitchFamily="50" charset="-128"/>
                          <a:ea typeface="BIZ UDPゴシック" panose="020B0400000000000000" pitchFamily="50" charset="-128"/>
                          <a:cs typeface="+mn-cs"/>
                        </a:rPr>
                        <a:t>0.211</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647180"/>
                  </a:ext>
                </a:extLst>
              </a:tr>
            </a:tbl>
          </a:graphicData>
        </a:graphic>
      </p:graphicFrame>
      <p:sp>
        <p:nvSpPr>
          <p:cNvPr id="6" name="矢印: 右 5">
            <a:extLst>
              <a:ext uri="{FF2B5EF4-FFF2-40B4-BE49-F238E27FC236}">
                <a16:creationId xmlns:a16="http://schemas.microsoft.com/office/drawing/2014/main" id="{FE552BB2-68B2-A754-9873-6C9CCA112BAF}"/>
              </a:ext>
            </a:extLst>
          </p:cNvPr>
          <p:cNvSpPr/>
          <p:nvPr/>
        </p:nvSpPr>
        <p:spPr>
          <a:xfrm rot="5400000">
            <a:off x="5889753" y="1619841"/>
            <a:ext cx="496748" cy="865988"/>
          </a:xfrm>
          <a:prstGeom prst="rightArrow">
            <a:avLst>
              <a:gd name="adj1" fmla="val 43878"/>
              <a:gd name="adj2" fmla="val 50000"/>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A641FF4C-5FAB-F878-4A92-E6D6A5042C27}"/>
              </a:ext>
            </a:extLst>
          </p:cNvPr>
          <p:cNvSpPr txBox="1"/>
          <p:nvPr/>
        </p:nvSpPr>
        <p:spPr>
          <a:xfrm>
            <a:off x="0" y="-51841"/>
            <a:ext cx="4159250" cy="769441"/>
          </a:xfrm>
          <a:prstGeom prst="rect">
            <a:avLst/>
          </a:prstGeom>
          <a:noFill/>
        </p:spPr>
        <p:txBody>
          <a:bodyPr wrap="square" rtlCol="0">
            <a:spAutoFit/>
          </a:bodyPr>
          <a:lstStyle/>
          <a:p>
            <a:r>
              <a:rPr kumimoji="1" lang="ja-JP" altLang="en-US" sz="4400" b="1" dirty="0">
                <a:ln w="19050">
                  <a:solidFill>
                    <a:srgbClr val="00B0F0"/>
                  </a:solidFill>
                </a:ln>
                <a:noFill/>
                <a:latin typeface="BIZ UDPゴシック" panose="020B0400000000000000" pitchFamily="50" charset="-128"/>
                <a:ea typeface="BIZ UDPゴシック" panose="020B0400000000000000" pitchFamily="50" charset="-128"/>
              </a:rPr>
              <a:t>プラスの文章例</a:t>
            </a:r>
          </a:p>
        </p:txBody>
      </p:sp>
      <p:sp>
        <p:nvSpPr>
          <p:cNvPr id="8" name="テキスト ボックス 7">
            <a:extLst>
              <a:ext uri="{FF2B5EF4-FFF2-40B4-BE49-F238E27FC236}">
                <a16:creationId xmlns:a16="http://schemas.microsoft.com/office/drawing/2014/main" id="{1874DD5A-7179-D0A8-DB3A-87CEC1C94AC9}"/>
              </a:ext>
            </a:extLst>
          </p:cNvPr>
          <p:cNvSpPr txBox="1"/>
          <p:nvPr/>
        </p:nvSpPr>
        <p:spPr>
          <a:xfrm>
            <a:off x="0" y="3496233"/>
            <a:ext cx="4622800" cy="769441"/>
          </a:xfrm>
          <a:prstGeom prst="rect">
            <a:avLst/>
          </a:prstGeom>
          <a:noFill/>
        </p:spPr>
        <p:txBody>
          <a:bodyPr wrap="square" rtlCol="0">
            <a:spAutoFit/>
          </a:bodyPr>
          <a:lstStyle/>
          <a:p>
            <a:r>
              <a:rPr kumimoji="1" lang="ja-JP" altLang="en-US" sz="4400" b="1" dirty="0">
                <a:ln w="19050">
                  <a:solidFill>
                    <a:srgbClr val="FF0000"/>
                  </a:solidFill>
                </a:ln>
                <a:noFill/>
                <a:latin typeface="BIZ UDPゴシック" panose="020B0400000000000000" pitchFamily="50" charset="-128"/>
                <a:ea typeface="BIZ UDPゴシック" panose="020B0400000000000000" pitchFamily="50" charset="-128"/>
              </a:rPr>
              <a:t>マイナスの</a:t>
            </a:r>
            <a:r>
              <a:rPr kumimoji="1" lang="ja-JP" altLang="en-US" sz="4400" b="1">
                <a:ln w="19050">
                  <a:solidFill>
                    <a:srgbClr val="FF0000"/>
                  </a:solidFill>
                </a:ln>
                <a:noFill/>
                <a:latin typeface="BIZ UDPゴシック" panose="020B0400000000000000" pitchFamily="50" charset="-128"/>
                <a:ea typeface="BIZ UDPゴシック" panose="020B0400000000000000" pitchFamily="50" charset="-128"/>
              </a:rPr>
              <a:t>文章例</a:t>
            </a:r>
            <a:endParaRPr kumimoji="1" lang="ja-JP" altLang="en-US" sz="4400" b="1" dirty="0">
              <a:ln w="19050">
                <a:solidFill>
                  <a:srgbClr val="FF0000"/>
                </a:solidFill>
              </a:ln>
              <a:no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24C0FD34-6511-C116-2464-E48058975BEE}"/>
              </a:ext>
            </a:extLst>
          </p:cNvPr>
          <p:cNvSpPr txBox="1"/>
          <p:nvPr/>
        </p:nvSpPr>
        <p:spPr>
          <a:xfrm>
            <a:off x="1467587" y="4253639"/>
            <a:ext cx="9256820" cy="584775"/>
          </a:xfrm>
          <a:prstGeom prst="rect">
            <a:avLst/>
          </a:prstGeom>
          <a:solidFill>
            <a:schemeClr val="bg2">
              <a:lumMod val="90000"/>
            </a:schemeClr>
          </a:solidFill>
        </p:spPr>
        <p:txBody>
          <a:bodyPr wrap="square" rtlCol="0">
            <a:spAutoFit/>
          </a:bodyPr>
          <a:lstStyle/>
          <a:p>
            <a:r>
              <a:rPr kumimoji="1" lang="en-US" altLang="ja-JP" sz="3200" b="1" dirty="0">
                <a:latin typeface="BIZ UDPゴシック" panose="020B0400000000000000" pitchFamily="50" charset="-128"/>
                <a:ea typeface="BIZ UDPゴシック" panose="020B0400000000000000" pitchFamily="50" charset="-128"/>
              </a:rPr>
              <a:t>UU</a:t>
            </a:r>
            <a:r>
              <a:rPr kumimoji="1" lang="ja-JP" altLang="en-US" sz="3200" b="1" dirty="0">
                <a:latin typeface="BIZ UDPゴシック" panose="020B0400000000000000" pitchFamily="50" charset="-128"/>
                <a:ea typeface="BIZ UDPゴシック" panose="020B0400000000000000" pitchFamily="50" charset="-128"/>
              </a:rPr>
              <a:t>スチール買収計画が窮地に　鉄鉄、訴訟も視野</a:t>
            </a:r>
          </a:p>
        </p:txBody>
      </p:sp>
      <p:graphicFrame>
        <p:nvGraphicFramePr>
          <p:cNvPr id="10" name="表 9">
            <a:extLst>
              <a:ext uri="{FF2B5EF4-FFF2-40B4-BE49-F238E27FC236}">
                <a16:creationId xmlns:a16="http://schemas.microsoft.com/office/drawing/2014/main" id="{7FAE8880-770F-F47F-4C2E-1388C9E8736D}"/>
              </a:ext>
            </a:extLst>
          </p:cNvPr>
          <p:cNvGraphicFramePr>
            <a:graphicFrameLocks noGrp="1"/>
          </p:cNvGraphicFramePr>
          <p:nvPr>
            <p:extLst>
              <p:ext uri="{D42A27DB-BD31-4B8C-83A1-F6EECF244321}">
                <p14:modId xmlns:p14="http://schemas.microsoft.com/office/powerpoint/2010/main" val="2352550782"/>
              </p:ext>
            </p:extLst>
          </p:nvPr>
        </p:nvGraphicFramePr>
        <p:xfrm>
          <a:off x="1567774" y="5637359"/>
          <a:ext cx="9056445" cy="1053424"/>
        </p:xfrm>
        <a:graphic>
          <a:graphicData uri="http://schemas.openxmlformats.org/drawingml/2006/table">
            <a:tbl>
              <a:tblPr>
                <a:tableStyleId>{5C22544A-7EE6-4342-B048-85BDC9FD1C3A}</a:tableStyleId>
              </a:tblPr>
              <a:tblGrid>
                <a:gridCol w="1811289">
                  <a:extLst>
                    <a:ext uri="{9D8B030D-6E8A-4147-A177-3AD203B41FA5}">
                      <a16:colId xmlns:a16="http://schemas.microsoft.com/office/drawing/2014/main" val="893344366"/>
                    </a:ext>
                  </a:extLst>
                </a:gridCol>
                <a:gridCol w="1811289">
                  <a:extLst>
                    <a:ext uri="{9D8B030D-6E8A-4147-A177-3AD203B41FA5}">
                      <a16:colId xmlns:a16="http://schemas.microsoft.com/office/drawing/2014/main" val="3337786240"/>
                    </a:ext>
                  </a:extLst>
                </a:gridCol>
                <a:gridCol w="1811289">
                  <a:extLst>
                    <a:ext uri="{9D8B030D-6E8A-4147-A177-3AD203B41FA5}">
                      <a16:colId xmlns:a16="http://schemas.microsoft.com/office/drawing/2014/main" val="832829902"/>
                    </a:ext>
                  </a:extLst>
                </a:gridCol>
                <a:gridCol w="1811289">
                  <a:extLst>
                    <a:ext uri="{9D8B030D-6E8A-4147-A177-3AD203B41FA5}">
                      <a16:colId xmlns:a16="http://schemas.microsoft.com/office/drawing/2014/main" val="3318059863"/>
                    </a:ext>
                  </a:extLst>
                </a:gridCol>
                <a:gridCol w="1811289">
                  <a:extLst>
                    <a:ext uri="{9D8B030D-6E8A-4147-A177-3AD203B41FA5}">
                      <a16:colId xmlns:a16="http://schemas.microsoft.com/office/drawing/2014/main" val="2909980776"/>
                    </a:ext>
                  </a:extLst>
                </a:gridCol>
              </a:tblGrid>
              <a:tr h="526712">
                <a:tc>
                  <a:txBody>
                    <a:bodyPr/>
                    <a:lstStyle/>
                    <a:p>
                      <a:pPr algn="ctr"/>
                      <a:r>
                        <a:rPr kumimoji="1" lang="ja-JP" altLang="en-US" sz="2400" b="1" dirty="0"/>
                        <a:t>失望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楽観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懸念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興奮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安定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2857899"/>
                  </a:ext>
                </a:extLst>
              </a:tr>
              <a:tr h="526712">
                <a:tc>
                  <a:txBody>
                    <a:bodyPr/>
                    <a:lstStyle/>
                    <a:p>
                      <a:pPr algn="ctr"/>
                      <a:r>
                        <a:rPr kumimoji="1" lang="en-US" altLang="ja-JP" sz="1800" b="0" i="0" kern="1200" dirty="0">
                          <a:solidFill>
                            <a:schemeClr val="dk1"/>
                          </a:solidFill>
                          <a:effectLst/>
                          <a:latin typeface="BIZ UDPゴシック" panose="020B0400000000000000" pitchFamily="50" charset="-128"/>
                          <a:ea typeface="BIZ UDPゴシック" panose="020B0400000000000000" pitchFamily="50" charset="-128"/>
                          <a:cs typeface="+mn-cs"/>
                        </a:rPr>
                        <a:t>0.253</a:t>
                      </a:r>
                      <a:endParaRPr kumimoji="1" lang="ja-JP" altLang="en-US" sz="18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800" b="0" i="0" kern="1200" dirty="0">
                          <a:solidFill>
                            <a:schemeClr val="dk1"/>
                          </a:solidFill>
                          <a:effectLst/>
                          <a:latin typeface="BIZ UDPゴシック" panose="020B0400000000000000" pitchFamily="50" charset="-128"/>
                          <a:ea typeface="BIZ UDPゴシック" panose="020B0400000000000000" pitchFamily="50" charset="-128"/>
                          <a:cs typeface="+mn-cs"/>
                        </a:rPr>
                        <a:t>0.109</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800" b="0" i="0" kern="1200" dirty="0">
                          <a:solidFill>
                            <a:schemeClr val="dk1"/>
                          </a:solidFill>
                          <a:effectLst/>
                          <a:latin typeface="BIZ UDPゴシック" panose="020B0400000000000000" pitchFamily="50" charset="-128"/>
                          <a:ea typeface="BIZ UDPゴシック" panose="020B0400000000000000" pitchFamily="50" charset="-128"/>
                          <a:cs typeface="+mn-cs"/>
                        </a:rPr>
                        <a:t>0.3512</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800" b="0" i="0" kern="1200" dirty="0">
                          <a:solidFill>
                            <a:schemeClr val="dk1"/>
                          </a:solidFill>
                          <a:effectLst/>
                          <a:latin typeface="BIZ UDPゴシック" panose="020B0400000000000000" pitchFamily="50" charset="-128"/>
                          <a:ea typeface="BIZ UDPゴシック" panose="020B0400000000000000" pitchFamily="50" charset="-128"/>
                          <a:cs typeface="+mn-cs"/>
                        </a:rPr>
                        <a:t>0.135</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800" b="0" i="0" kern="1200" dirty="0">
                          <a:solidFill>
                            <a:schemeClr val="dk1"/>
                          </a:solidFill>
                          <a:effectLst/>
                          <a:latin typeface="BIZ UDPゴシック" panose="020B0400000000000000" pitchFamily="50" charset="-128"/>
                          <a:ea typeface="BIZ UDPゴシック" panose="020B0400000000000000" pitchFamily="50" charset="-128"/>
                          <a:cs typeface="+mn-cs"/>
                        </a:rPr>
                        <a:t>0.150</a:t>
                      </a:r>
                      <a:endParaRPr kumimoji="1" lang="ja-JP" altLang="en-US" sz="2000" dirty="0">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647180"/>
                  </a:ext>
                </a:extLst>
              </a:tr>
            </a:tbl>
          </a:graphicData>
        </a:graphic>
      </p:graphicFrame>
      <p:sp>
        <p:nvSpPr>
          <p:cNvPr id="11" name="矢印: 右 10">
            <a:extLst>
              <a:ext uri="{FF2B5EF4-FFF2-40B4-BE49-F238E27FC236}">
                <a16:creationId xmlns:a16="http://schemas.microsoft.com/office/drawing/2014/main" id="{F640684A-1672-4F73-2942-BD161CD5D21D}"/>
              </a:ext>
            </a:extLst>
          </p:cNvPr>
          <p:cNvSpPr/>
          <p:nvPr/>
        </p:nvSpPr>
        <p:spPr>
          <a:xfrm rot="5400000">
            <a:off x="5847623" y="4753856"/>
            <a:ext cx="496748" cy="865988"/>
          </a:xfrm>
          <a:prstGeom prst="rightArrow">
            <a:avLst>
              <a:gd name="adj1" fmla="val 43878"/>
              <a:gd name="adj2" fmla="val 50000"/>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Slide Number Placeholder 1">
            <a:extLst>
              <a:ext uri="{FF2B5EF4-FFF2-40B4-BE49-F238E27FC236}">
                <a16:creationId xmlns:a16="http://schemas.microsoft.com/office/drawing/2014/main" id="{9B84BE9E-90A8-F64A-B49A-608FA4CB1F8B}"/>
              </a:ext>
            </a:extLst>
          </p:cNvPr>
          <p:cNvSpPr>
            <a:spLocks noGrp="1"/>
          </p:cNvSpPr>
          <p:nvPr>
            <p:ph type="sldNum" sz="quarter" idx="12"/>
          </p:nvPr>
        </p:nvSpPr>
        <p:spPr/>
        <p:txBody>
          <a:bodyPr/>
          <a:lstStyle/>
          <a:p>
            <a:fld id="{F42732FB-2277-442C-9711-A45410BE01D8}" type="slidenum">
              <a:rPr kumimoji="1" lang="ja-JP" altLang="en-US" smtClean="0"/>
              <a:t>12</a:t>
            </a:fld>
            <a:endParaRPr kumimoji="1" lang="ja-JP" altLang="en-US"/>
          </a:p>
        </p:txBody>
      </p:sp>
      <p:sp>
        <p:nvSpPr>
          <p:cNvPr id="3" name="Rectangle 2">
            <a:extLst>
              <a:ext uri="{FF2B5EF4-FFF2-40B4-BE49-F238E27FC236}">
                <a16:creationId xmlns:a16="http://schemas.microsoft.com/office/drawing/2014/main" id="{B14A5B02-9DAC-D7D1-501E-B0427CDC7030}"/>
              </a:ext>
            </a:extLst>
          </p:cNvPr>
          <p:cNvSpPr/>
          <p:nvPr/>
        </p:nvSpPr>
        <p:spPr>
          <a:xfrm>
            <a:off x="3329609" y="2413305"/>
            <a:ext cx="1898374" cy="104138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D19BF1C3-C3B5-9F99-DD44-145C01CA2E73}"/>
              </a:ext>
            </a:extLst>
          </p:cNvPr>
          <p:cNvSpPr/>
          <p:nvPr/>
        </p:nvSpPr>
        <p:spPr>
          <a:xfrm>
            <a:off x="7047875" y="2440092"/>
            <a:ext cx="1898374" cy="104138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1B175510-479E-7C99-85DA-AE8E9257B0BF}"/>
              </a:ext>
            </a:extLst>
          </p:cNvPr>
          <p:cNvSpPr/>
          <p:nvPr/>
        </p:nvSpPr>
        <p:spPr>
          <a:xfrm>
            <a:off x="8946249" y="2440092"/>
            <a:ext cx="1819892" cy="104138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60865D0F-7B8B-5C62-33BA-C6B7091C9002}"/>
              </a:ext>
            </a:extLst>
          </p:cNvPr>
          <p:cNvSpPr/>
          <p:nvPr/>
        </p:nvSpPr>
        <p:spPr>
          <a:xfrm>
            <a:off x="1567773" y="5637359"/>
            <a:ext cx="1840317" cy="104138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E27840EE-58A5-B80B-F76A-B283B0B68BDA}"/>
              </a:ext>
            </a:extLst>
          </p:cNvPr>
          <p:cNvSpPr/>
          <p:nvPr/>
        </p:nvSpPr>
        <p:spPr>
          <a:xfrm>
            <a:off x="5175837" y="5649394"/>
            <a:ext cx="1840317" cy="104138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87972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p:bldP spid="8" grpId="0"/>
      <p:bldP spid="9" grpId="0" animBg="1"/>
      <p:bldP spid="11" grpId="0" animBg="1"/>
      <p:bldP spid="3" grpId="0" animBg="1"/>
      <p:bldP spid="12" grpId="0" animBg="1"/>
      <p:bldP spid="13" grpId="0" animBg="1"/>
      <p:bldP spid="14"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D6531B4-3A18-1C3C-991D-5CB8667443BE}"/>
              </a:ext>
            </a:extLst>
          </p:cNvPr>
          <p:cNvSpPr txBox="1"/>
          <p:nvPr/>
        </p:nvSpPr>
        <p:spPr>
          <a:xfrm>
            <a:off x="252970" y="267220"/>
            <a:ext cx="7163829" cy="830997"/>
          </a:xfrm>
          <a:prstGeom prst="rect">
            <a:avLst/>
          </a:prstGeom>
          <a:noFill/>
        </p:spPr>
        <p:txBody>
          <a:bodyPr wrap="square" rtlCol="0">
            <a:spAutoFit/>
          </a:bodyPr>
          <a:lstStyle/>
          <a:p>
            <a:r>
              <a:rPr kumimoji="1" lang="ja-JP" altLang="en-US" sz="4800" b="1" dirty="0">
                <a:latin typeface="BIZ UDPゴシック" panose="020B0400000000000000" pitchFamily="50" charset="-128"/>
                <a:ea typeface="BIZ UDPゴシック" panose="020B0400000000000000" pitchFamily="50" charset="-128"/>
              </a:rPr>
              <a:t>学習の流れ</a:t>
            </a:r>
            <a:r>
              <a:rPr kumimoji="1" lang="en-GB" altLang="ja-JP" sz="4800" b="1" dirty="0">
                <a:latin typeface="BIZ UDPゴシック" panose="020B0400000000000000" pitchFamily="50" charset="-128"/>
                <a:ea typeface="BIZ UDPゴシック" panose="020B0400000000000000" pitchFamily="50" charset="-128"/>
              </a:rPr>
              <a:t>(LSTM</a:t>
            </a:r>
            <a:r>
              <a:rPr kumimoji="1" lang="ja-JP" altLang="en-US" sz="4800" b="1" dirty="0">
                <a:latin typeface="BIZ UDPゴシック" panose="020B0400000000000000" pitchFamily="50" charset="-128"/>
                <a:ea typeface="BIZ UDPゴシック" panose="020B0400000000000000" pitchFamily="50" charset="-128"/>
              </a:rPr>
              <a:t>学習</a:t>
            </a:r>
            <a:r>
              <a:rPr kumimoji="1" lang="en-GB" altLang="ja-JP" sz="4800" b="1" dirty="0">
                <a:latin typeface="BIZ UDPゴシック" panose="020B0400000000000000" pitchFamily="50" charset="-128"/>
                <a:ea typeface="BIZ UDPゴシック" panose="020B0400000000000000" pitchFamily="50" charset="-128"/>
              </a:rPr>
              <a:t>)</a:t>
            </a:r>
            <a:endParaRPr kumimoji="1" lang="ja-JP" altLang="en-US" sz="4800" b="1" dirty="0">
              <a:latin typeface="BIZ UDPゴシック" panose="020B0400000000000000" pitchFamily="50" charset="-128"/>
              <a:ea typeface="BIZ UDPゴシック" panose="020B0400000000000000" pitchFamily="50" charset="-128"/>
            </a:endParaRPr>
          </a:p>
        </p:txBody>
      </p:sp>
      <p:sp>
        <p:nvSpPr>
          <p:cNvPr id="4" name="テキスト ボックス 3">
            <a:extLst>
              <a:ext uri="{FF2B5EF4-FFF2-40B4-BE49-F238E27FC236}">
                <a16:creationId xmlns:a16="http://schemas.microsoft.com/office/drawing/2014/main" id="{1DCE712C-4C50-595F-5051-45347FD39F22}"/>
              </a:ext>
            </a:extLst>
          </p:cNvPr>
          <p:cNvSpPr txBox="1"/>
          <p:nvPr/>
        </p:nvSpPr>
        <p:spPr>
          <a:xfrm>
            <a:off x="402637" y="1598607"/>
            <a:ext cx="2319867" cy="523220"/>
          </a:xfrm>
          <a:prstGeom prst="rect">
            <a:avLst/>
          </a:prstGeom>
          <a:noFill/>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A</a:t>
            </a:r>
            <a:r>
              <a:rPr lang="ja-JP" altLang="en-US" sz="2800" dirty="0">
                <a:latin typeface="BIZ UDPゴシック" panose="020B0400000000000000" pitchFamily="50" charset="-128"/>
                <a:ea typeface="BIZ UDPゴシック" panose="020B0400000000000000" pitchFamily="50" charset="-128"/>
              </a:rPr>
              <a:t>社データ</a:t>
            </a:r>
            <a:endParaRPr kumimoji="1" lang="ja-JP" altLang="en-US" sz="2800"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677B76E5-FF97-9651-DFAE-0C99EE210CFC}"/>
              </a:ext>
            </a:extLst>
          </p:cNvPr>
          <p:cNvSpPr txBox="1"/>
          <p:nvPr/>
        </p:nvSpPr>
        <p:spPr>
          <a:xfrm>
            <a:off x="402637" y="2360607"/>
            <a:ext cx="2319867" cy="523220"/>
          </a:xfrm>
          <a:prstGeom prst="rect">
            <a:avLst/>
          </a:prstGeom>
          <a:noFill/>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B</a:t>
            </a:r>
            <a:r>
              <a:rPr kumimoji="1" lang="ja-JP" altLang="en-US" sz="2800" dirty="0">
                <a:latin typeface="BIZ UDPゴシック" panose="020B0400000000000000" pitchFamily="50" charset="-128"/>
                <a:ea typeface="BIZ UDPゴシック" panose="020B0400000000000000" pitchFamily="50" charset="-128"/>
              </a:rPr>
              <a:t>社データ</a:t>
            </a:r>
          </a:p>
        </p:txBody>
      </p:sp>
      <p:sp>
        <p:nvSpPr>
          <p:cNvPr id="6" name="テキスト ボックス 5">
            <a:extLst>
              <a:ext uri="{FF2B5EF4-FFF2-40B4-BE49-F238E27FC236}">
                <a16:creationId xmlns:a16="http://schemas.microsoft.com/office/drawing/2014/main" id="{39C7F844-16FA-818D-BA56-9E683D0E8AEC}"/>
              </a:ext>
            </a:extLst>
          </p:cNvPr>
          <p:cNvSpPr txBox="1"/>
          <p:nvPr/>
        </p:nvSpPr>
        <p:spPr>
          <a:xfrm>
            <a:off x="507148" y="5425540"/>
            <a:ext cx="2319867" cy="523220"/>
          </a:xfrm>
          <a:prstGeom prst="rect">
            <a:avLst/>
          </a:prstGeom>
          <a:noFill/>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Z</a:t>
            </a:r>
            <a:r>
              <a:rPr kumimoji="1" lang="ja-JP" altLang="en-US" sz="2800" dirty="0">
                <a:latin typeface="BIZ UDPゴシック" panose="020B0400000000000000" pitchFamily="50" charset="-128"/>
                <a:ea typeface="BIZ UDPゴシック" panose="020B0400000000000000" pitchFamily="50" charset="-128"/>
              </a:rPr>
              <a:t>社データ</a:t>
            </a:r>
          </a:p>
        </p:txBody>
      </p:sp>
      <p:sp>
        <p:nvSpPr>
          <p:cNvPr id="7" name="テキスト ボックス 6">
            <a:extLst>
              <a:ext uri="{FF2B5EF4-FFF2-40B4-BE49-F238E27FC236}">
                <a16:creationId xmlns:a16="http://schemas.microsoft.com/office/drawing/2014/main" id="{83B28A71-7F30-150C-4F7C-E9F2E590E73B}"/>
              </a:ext>
            </a:extLst>
          </p:cNvPr>
          <p:cNvSpPr txBox="1"/>
          <p:nvPr/>
        </p:nvSpPr>
        <p:spPr>
          <a:xfrm>
            <a:off x="507147" y="4663540"/>
            <a:ext cx="2319867" cy="523220"/>
          </a:xfrm>
          <a:prstGeom prst="rect">
            <a:avLst/>
          </a:prstGeom>
          <a:noFill/>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Y</a:t>
            </a:r>
            <a:r>
              <a:rPr kumimoji="1" lang="ja-JP" altLang="en-US" sz="2800" dirty="0">
                <a:latin typeface="BIZ UDPゴシック" panose="020B0400000000000000" pitchFamily="50" charset="-128"/>
                <a:ea typeface="BIZ UDPゴシック" panose="020B0400000000000000" pitchFamily="50" charset="-128"/>
              </a:rPr>
              <a:t>社データ</a:t>
            </a:r>
          </a:p>
        </p:txBody>
      </p:sp>
      <p:pic>
        <p:nvPicPr>
          <p:cNvPr id="9" name="図 8" descr="\documentclass{jsarticle}&#10;\usepackage{amsmath}&#10;\usepackage[T1]{fontenc}&#10;\usepackage{lmodern}&#10;\pagestyle{empty}&#10;&#10;\begin{document}&#10;&#10;\begin{align*}&#10;  \vdots&#10;\end{align*}&#10;&#10;\end{document}" title="IguanaTex Bitmap Display">
            <a:extLst>
              <a:ext uri="{FF2B5EF4-FFF2-40B4-BE49-F238E27FC236}">
                <a16:creationId xmlns:a16="http://schemas.microsoft.com/office/drawing/2014/main" id="{FE021233-25A5-71BE-330B-85A9CFDC0323}"/>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514557" y="3421590"/>
            <a:ext cx="96025" cy="704186"/>
          </a:xfrm>
          <a:prstGeom prst="rect">
            <a:avLst/>
          </a:prstGeom>
        </p:spPr>
      </p:pic>
      <p:grpSp>
        <p:nvGrpSpPr>
          <p:cNvPr id="17" name="グループ化 16">
            <a:extLst>
              <a:ext uri="{FF2B5EF4-FFF2-40B4-BE49-F238E27FC236}">
                <a16:creationId xmlns:a16="http://schemas.microsoft.com/office/drawing/2014/main" id="{643E333F-2CD8-FD22-34E8-2272ABF42176}"/>
              </a:ext>
            </a:extLst>
          </p:cNvPr>
          <p:cNvGrpSpPr/>
          <p:nvPr/>
        </p:nvGrpSpPr>
        <p:grpSpPr>
          <a:xfrm>
            <a:off x="4119072" y="2075320"/>
            <a:ext cx="2319867" cy="3396726"/>
            <a:chOff x="3090438" y="2121827"/>
            <a:chExt cx="2319867" cy="3396726"/>
          </a:xfrm>
        </p:grpSpPr>
        <p:sp>
          <p:nvSpPr>
            <p:cNvPr id="10" name="四角形: 角を丸くする 9">
              <a:extLst>
                <a:ext uri="{FF2B5EF4-FFF2-40B4-BE49-F238E27FC236}">
                  <a16:creationId xmlns:a16="http://schemas.microsoft.com/office/drawing/2014/main" id="{C11FB4A4-EF84-B573-F89D-AE8634D1E310}"/>
                </a:ext>
              </a:extLst>
            </p:cNvPr>
            <p:cNvSpPr/>
            <p:nvPr/>
          </p:nvSpPr>
          <p:spPr>
            <a:xfrm>
              <a:off x="3482728" y="2121827"/>
              <a:ext cx="1535289" cy="339672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A39891C7-1D01-41D7-6143-DF0B370F1038}"/>
                </a:ext>
              </a:extLst>
            </p:cNvPr>
            <p:cNvSpPr txBox="1"/>
            <p:nvPr/>
          </p:nvSpPr>
          <p:spPr>
            <a:xfrm>
              <a:off x="3090438" y="3558580"/>
              <a:ext cx="2319867" cy="523220"/>
            </a:xfrm>
            <a:prstGeom prst="rect">
              <a:avLst/>
            </a:prstGeom>
            <a:noFill/>
          </p:spPr>
          <p:txBody>
            <a:bodyPr wrap="square" rtlCol="0">
              <a:spAutoFit/>
            </a:bodyPr>
            <a:lstStyle/>
            <a:p>
              <a:pPr algn="ctr"/>
              <a:r>
                <a:rPr kumimoji="1" lang="en-US" altLang="ja-JP" sz="2800" b="1" dirty="0">
                  <a:solidFill>
                    <a:schemeClr val="bg1"/>
                  </a:solidFill>
                  <a:latin typeface="BIZ UDPゴシック" panose="020B0400000000000000" pitchFamily="50" charset="-128"/>
                  <a:ea typeface="BIZ UDPゴシック" panose="020B0400000000000000" pitchFamily="50" charset="-128"/>
                </a:rPr>
                <a:t>LSTM</a:t>
              </a:r>
              <a:endParaRPr kumimoji="1" lang="ja-JP" altLang="en-US" sz="2800" b="1" dirty="0">
                <a:solidFill>
                  <a:schemeClr val="bg1"/>
                </a:solidFill>
                <a:latin typeface="BIZ UDPゴシック" panose="020B0400000000000000" pitchFamily="50" charset="-128"/>
                <a:ea typeface="BIZ UDPゴシック" panose="020B0400000000000000" pitchFamily="50" charset="-128"/>
              </a:endParaRPr>
            </a:p>
          </p:txBody>
        </p:sp>
      </p:grpSp>
      <p:sp>
        <p:nvSpPr>
          <p:cNvPr id="12" name="テキスト ボックス 11">
            <a:extLst>
              <a:ext uri="{FF2B5EF4-FFF2-40B4-BE49-F238E27FC236}">
                <a16:creationId xmlns:a16="http://schemas.microsoft.com/office/drawing/2014/main" id="{AE680F46-F878-0E9A-42B4-C0BA19430F69}"/>
              </a:ext>
            </a:extLst>
          </p:cNvPr>
          <p:cNvSpPr txBox="1"/>
          <p:nvPr/>
        </p:nvSpPr>
        <p:spPr>
          <a:xfrm>
            <a:off x="8729081" y="1598607"/>
            <a:ext cx="2319867" cy="523220"/>
          </a:xfrm>
          <a:prstGeom prst="rect">
            <a:avLst/>
          </a:prstGeom>
          <a:solidFill>
            <a:schemeClr val="bg1">
              <a:lumMod val="85000"/>
            </a:schemeClr>
          </a:solidFill>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A</a:t>
            </a:r>
            <a:r>
              <a:rPr kumimoji="1" lang="ja-JP" altLang="en-US" sz="2800" dirty="0">
                <a:latin typeface="BIZ UDPゴシック" panose="020B0400000000000000" pitchFamily="50" charset="-128"/>
                <a:ea typeface="BIZ UDPゴシック" panose="020B0400000000000000" pitchFamily="50" charset="-128"/>
              </a:rPr>
              <a:t>社モデル</a:t>
            </a:r>
          </a:p>
        </p:txBody>
      </p:sp>
      <p:sp>
        <p:nvSpPr>
          <p:cNvPr id="13" name="テキスト ボックス 12">
            <a:extLst>
              <a:ext uri="{FF2B5EF4-FFF2-40B4-BE49-F238E27FC236}">
                <a16:creationId xmlns:a16="http://schemas.microsoft.com/office/drawing/2014/main" id="{9C4158F5-9E1A-8EBC-5C7F-9C3FAD8ADCFD}"/>
              </a:ext>
            </a:extLst>
          </p:cNvPr>
          <p:cNvSpPr txBox="1"/>
          <p:nvPr/>
        </p:nvSpPr>
        <p:spPr>
          <a:xfrm>
            <a:off x="8729081" y="2360607"/>
            <a:ext cx="2319867" cy="523220"/>
          </a:xfrm>
          <a:prstGeom prst="rect">
            <a:avLst/>
          </a:prstGeom>
          <a:solidFill>
            <a:schemeClr val="bg1">
              <a:lumMod val="85000"/>
            </a:schemeClr>
          </a:solidFill>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B</a:t>
            </a:r>
            <a:r>
              <a:rPr kumimoji="1" lang="ja-JP" altLang="en-US" sz="2800" dirty="0">
                <a:latin typeface="BIZ UDPゴシック" panose="020B0400000000000000" pitchFamily="50" charset="-128"/>
                <a:ea typeface="BIZ UDPゴシック" panose="020B0400000000000000" pitchFamily="50" charset="-128"/>
              </a:rPr>
              <a:t>社モデル</a:t>
            </a:r>
          </a:p>
        </p:txBody>
      </p:sp>
      <p:sp>
        <p:nvSpPr>
          <p:cNvPr id="14" name="テキスト ボックス 13">
            <a:extLst>
              <a:ext uri="{FF2B5EF4-FFF2-40B4-BE49-F238E27FC236}">
                <a16:creationId xmlns:a16="http://schemas.microsoft.com/office/drawing/2014/main" id="{4E6BEEBE-7C41-493C-A777-03438E7B7E53}"/>
              </a:ext>
            </a:extLst>
          </p:cNvPr>
          <p:cNvSpPr txBox="1"/>
          <p:nvPr/>
        </p:nvSpPr>
        <p:spPr>
          <a:xfrm>
            <a:off x="8559774" y="4663540"/>
            <a:ext cx="2658483" cy="523220"/>
          </a:xfrm>
          <a:prstGeom prst="rect">
            <a:avLst/>
          </a:prstGeom>
          <a:solidFill>
            <a:schemeClr val="bg1">
              <a:lumMod val="85000"/>
            </a:schemeClr>
          </a:solidFill>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Y</a:t>
            </a:r>
            <a:r>
              <a:rPr kumimoji="1" lang="ja-JP" altLang="en-US" sz="2800" dirty="0">
                <a:latin typeface="BIZ UDPゴシック" panose="020B0400000000000000" pitchFamily="50" charset="-128"/>
                <a:ea typeface="BIZ UDPゴシック" panose="020B0400000000000000" pitchFamily="50" charset="-128"/>
              </a:rPr>
              <a:t>社モデル</a:t>
            </a:r>
          </a:p>
        </p:txBody>
      </p:sp>
      <p:sp>
        <p:nvSpPr>
          <p:cNvPr id="15" name="テキスト ボックス 14">
            <a:extLst>
              <a:ext uri="{FF2B5EF4-FFF2-40B4-BE49-F238E27FC236}">
                <a16:creationId xmlns:a16="http://schemas.microsoft.com/office/drawing/2014/main" id="{D2591F03-F1E1-3503-8A3B-BC8BA6F754B5}"/>
              </a:ext>
            </a:extLst>
          </p:cNvPr>
          <p:cNvSpPr txBox="1"/>
          <p:nvPr/>
        </p:nvSpPr>
        <p:spPr>
          <a:xfrm>
            <a:off x="8559774" y="5425540"/>
            <a:ext cx="2658483" cy="523220"/>
          </a:xfrm>
          <a:prstGeom prst="rect">
            <a:avLst/>
          </a:prstGeom>
          <a:solidFill>
            <a:schemeClr val="bg1">
              <a:lumMod val="85000"/>
            </a:schemeClr>
          </a:solidFill>
          <a:ln>
            <a:noFill/>
          </a:ln>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Z</a:t>
            </a:r>
            <a:r>
              <a:rPr kumimoji="1" lang="ja-JP" altLang="en-US" sz="2800" dirty="0">
                <a:latin typeface="BIZ UDPゴシック" panose="020B0400000000000000" pitchFamily="50" charset="-128"/>
                <a:ea typeface="BIZ UDPゴシック" panose="020B0400000000000000" pitchFamily="50" charset="-128"/>
              </a:rPr>
              <a:t>社モデル</a:t>
            </a:r>
          </a:p>
        </p:txBody>
      </p:sp>
      <p:pic>
        <p:nvPicPr>
          <p:cNvPr id="16" name="図 15" descr="\documentclass{jsarticle}&#10;\usepackage{amsmath}&#10;\usepackage[T1]{fontenc}&#10;\usepackage{lmodern}&#10;\pagestyle{empty}&#10;&#10;\begin{document}&#10;&#10;\begin{align*}&#10;  \vdots&#10;\end{align*}&#10;&#10;\end{document}" title="IguanaTex Bitmap Display">
            <a:extLst>
              <a:ext uri="{FF2B5EF4-FFF2-40B4-BE49-F238E27FC236}">
                <a16:creationId xmlns:a16="http://schemas.microsoft.com/office/drawing/2014/main" id="{D159BAF4-EC6F-C83D-8D93-B0E1D7B69D04}"/>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9862761" y="3348302"/>
            <a:ext cx="96025" cy="704186"/>
          </a:xfrm>
          <a:prstGeom prst="rect">
            <a:avLst/>
          </a:prstGeom>
        </p:spPr>
      </p:pic>
      <p:cxnSp>
        <p:nvCxnSpPr>
          <p:cNvPr id="19" name="直線矢印コネクタ 18">
            <a:extLst>
              <a:ext uri="{FF2B5EF4-FFF2-40B4-BE49-F238E27FC236}">
                <a16:creationId xmlns:a16="http://schemas.microsoft.com/office/drawing/2014/main" id="{188714EF-77C7-2114-B45E-6CC4806A59F8}"/>
              </a:ext>
            </a:extLst>
          </p:cNvPr>
          <p:cNvCxnSpPr>
            <a:stCxn id="4" idx="3"/>
          </p:cNvCxnSpPr>
          <p:nvPr/>
        </p:nvCxnSpPr>
        <p:spPr>
          <a:xfrm>
            <a:off x="2722504" y="1860217"/>
            <a:ext cx="1595602" cy="102361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DE96BFA9-F3F3-5355-0E40-502EDBE6B7BD}"/>
              </a:ext>
            </a:extLst>
          </p:cNvPr>
          <p:cNvCxnSpPr>
            <a:cxnSpLocks/>
            <a:stCxn id="5" idx="3"/>
          </p:cNvCxnSpPr>
          <p:nvPr/>
        </p:nvCxnSpPr>
        <p:spPr>
          <a:xfrm>
            <a:off x="2722504" y="2622217"/>
            <a:ext cx="1595602" cy="651076"/>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15319763-667A-EBAF-E317-D71BF015D39E}"/>
              </a:ext>
            </a:extLst>
          </p:cNvPr>
          <p:cNvCxnSpPr>
            <a:cxnSpLocks/>
            <a:stCxn id="7" idx="3"/>
          </p:cNvCxnSpPr>
          <p:nvPr/>
        </p:nvCxnSpPr>
        <p:spPr>
          <a:xfrm flipV="1">
            <a:off x="2827014" y="4320580"/>
            <a:ext cx="1491091" cy="60457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D0E1C771-D7B3-DC62-9F5A-875AC8EDEA5F}"/>
              </a:ext>
            </a:extLst>
          </p:cNvPr>
          <p:cNvCxnSpPr>
            <a:cxnSpLocks/>
            <a:stCxn id="6" idx="3"/>
          </p:cNvCxnSpPr>
          <p:nvPr/>
        </p:nvCxnSpPr>
        <p:spPr>
          <a:xfrm flipV="1">
            <a:off x="2827015" y="4663539"/>
            <a:ext cx="1491090" cy="1023611"/>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26C60458-71AC-BDA2-773F-795F55023AB0}"/>
              </a:ext>
            </a:extLst>
          </p:cNvPr>
          <p:cNvCxnSpPr>
            <a:cxnSpLocks/>
            <a:stCxn id="11" idx="3"/>
            <a:endCxn id="12" idx="1"/>
          </p:cNvCxnSpPr>
          <p:nvPr/>
        </p:nvCxnSpPr>
        <p:spPr>
          <a:xfrm flipV="1">
            <a:off x="6438939" y="1860217"/>
            <a:ext cx="2290142" cy="1913466"/>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DEB2DFCF-6A22-811A-7EAA-EEED0BA23C8B}"/>
              </a:ext>
            </a:extLst>
          </p:cNvPr>
          <p:cNvCxnSpPr>
            <a:cxnSpLocks/>
            <a:stCxn id="11" idx="3"/>
            <a:endCxn id="13" idx="1"/>
          </p:cNvCxnSpPr>
          <p:nvPr/>
        </p:nvCxnSpPr>
        <p:spPr>
          <a:xfrm flipV="1">
            <a:off x="6438939" y="2622217"/>
            <a:ext cx="2290142" cy="1151466"/>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52B9AD35-9347-8A91-1610-98022D3C6658}"/>
              </a:ext>
            </a:extLst>
          </p:cNvPr>
          <p:cNvCxnSpPr>
            <a:cxnSpLocks/>
            <a:stCxn id="11" idx="3"/>
            <a:endCxn id="14" idx="1"/>
          </p:cNvCxnSpPr>
          <p:nvPr/>
        </p:nvCxnSpPr>
        <p:spPr>
          <a:xfrm>
            <a:off x="6438939" y="3773683"/>
            <a:ext cx="2120835" cy="1151467"/>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E457FE57-F919-E74D-55D6-E2DAF818DE68}"/>
              </a:ext>
            </a:extLst>
          </p:cNvPr>
          <p:cNvCxnSpPr>
            <a:cxnSpLocks/>
            <a:stCxn id="11" idx="3"/>
            <a:endCxn id="15" idx="1"/>
          </p:cNvCxnSpPr>
          <p:nvPr/>
        </p:nvCxnSpPr>
        <p:spPr>
          <a:xfrm>
            <a:off x="6438939" y="3773683"/>
            <a:ext cx="2120835" cy="1913467"/>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532A6F81-7FEA-7AC8-85A1-7712F29F222F}"/>
              </a:ext>
            </a:extLst>
          </p:cNvPr>
          <p:cNvSpPr>
            <a:spLocks noGrp="1"/>
          </p:cNvSpPr>
          <p:nvPr>
            <p:ph type="sldNum" sz="quarter" idx="12"/>
          </p:nvPr>
        </p:nvSpPr>
        <p:spPr/>
        <p:txBody>
          <a:bodyPr/>
          <a:lstStyle/>
          <a:p>
            <a:fld id="{F42732FB-2277-442C-9711-A45410BE01D8}" type="slidenum">
              <a:rPr kumimoji="1" lang="ja-JP" altLang="en-US" smtClean="0"/>
              <a:t>13</a:t>
            </a:fld>
            <a:endParaRPr kumimoji="1" lang="ja-JP" altLang="en-US"/>
          </a:p>
        </p:txBody>
      </p:sp>
    </p:spTree>
    <p:extLst>
      <p:ext uri="{BB962C8B-B14F-4D97-AF65-F5344CB8AC3E}">
        <p14:creationId xmlns:p14="http://schemas.microsoft.com/office/powerpoint/2010/main" val="130408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3" grpId="0" animBg="1"/>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6ABE1-0EE4-AA30-E884-13F68BC7E98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7792FB0-087C-90A2-E438-A96E613CE537}"/>
              </a:ext>
            </a:extLst>
          </p:cNvPr>
          <p:cNvSpPr txBox="1"/>
          <p:nvPr/>
        </p:nvSpPr>
        <p:spPr>
          <a:xfrm>
            <a:off x="298126" y="48985"/>
            <a:ext cx="4113100" cy="1107996"/>
          </a:xfrm>
          <a:prstGeom prst="rect">
            <a:avLst/>
          </a:prstGeom>
          <a:noFill/>
        </p:spPr>
        <p:txBody>
          <a:bodyPr wrap="square" rtlCol="0">
            <a:spAutoFit/>
          </a:bodyPr>
          <a:lstStyle/>
          <a:p>
            <a:r>
              <a:rPr lang="ja-JP" altLang="en-US" sz="6600" b="1" dirty="0">
                <a:latin typeface="BIZ UDPゴシック" panose="020B0400000000000000" pitchFamily="50" charset="-128"/>
                <a:ea typeface="BIZ UDPゴシック" panose="020B0400000000000000" pitchFamily="50" charset="-128"/>
              </a:rPr>
              <a:t>学習</a:t>
            </a:r>
            <a:r>
              <a:rPr kumimoji="1" lang="ja-JP" altLang="en-US" sz="6600" b="1" dirty="0">
                <a:latin typeface="BIZ UDPゴシック" panose="020B0400000000000000" pitchFamily="50" charset="-128"/>
                <a:ea typeface="BIZ UDPゴシック" panose="020B0400000000000000" pitchFamily="50" charset="-128"/>
              </a:rPr>
              <a:t>結果</a:t>
            </a:r>
          </a:p>
        </p:txBody>
      </p:sp>
      <p:sp>
        <p:nvSpPr>
          <p:cNvPr id="3" name="テキスト ボックス 2">
            <a:extLst>
              <a:ext uri="{FF2B5EF4-FFF2-40B4-BE49-F238E27FC236}">
                <a16:creationId xmlns:a16="http://schemas.microsoft.com/office/drawing/2014/main" id="{00BBE3D0-CF30-C730-33EC-EE11FA36302F}"/>
              </a:ext>
            </a:extLst>
          </p:cNvPr>
          <p:cNvSpPr txBox="1"/>
          <p:nvPr/>
        </p:nvSpPr>
        <p:spPr>
          <a:xfrm>
            <a:off x="914053" y="3742186"/>
            <a:ext cx="10217131" cy="1077218"/>
          </a:xfrm>
          <a:prstGeom prst="rect">
            <a:avLst/>
          </a:prstGeom>
          <a:noFill/>
        </p:spPr>
        <p:txBody>
          <a:bodyPr wrap="square" rtlCol="0">
            <a:spAutoFit/>
          </a:bodyPr>
          <a:lstStyle/>
          <a:p>
            <a:pPr algn="ctr"/>
            <a:r>
              <a:rPr kumimoji="1" lang="ja-JP" altLang="en-US" sz="3200" dirty="0">
                <a:latin typeface="BIZ UDPゴシック" panose="020B0400000000000000" pitchFamily="50" charset="-128"/>
                <a:ea typeface="BIZ UDPゴシック" panose="020B0400000000000000" pitchFamily="50" charset="-128"/>
              </a:rPr>
              <a:t>約</a:t>
            </a:r>
            <a:r>
              <a:rPr kumimoji="1" lang="en-GB" altLang="ja-JP" sz="3200" dirty="0">
                <a:latin typeface="BIZ UDPゴシック" panose="020B0400000000000000" pitchFamily="50" charset="-128"/>
                <a:ea typeface="BIZ UDPゴシック" panose="020B0400000000000000" pitchFamily="50" charset="-128"/>
              </a:rPr>
              <a:t>500</a:t>
            </a:r>
            <a:r>
              <a:rPr kumimoji="1" lang="ja-JP" altLang="en-US" sz="3200" dirty="0">
                <a:latin typeface="BIZ UDPゴシック" panose="020B0400000000000000" pitchFamily="50" charset="-128"/>
                <a:ea typeface="BIZ UDPゴシック" panose="020B0400000000000000" pitchFamily="50" charset="-128"/>
              </a:rPr>
              <a:t>社のデータを個別に学習したモデルの</a:t>
            </a:r>
            <a:endParaRPr kumimoji="1" lang="en-GB" altLang="ja-JP" sz="3200" dirty="0">
              <a:latin typeface="BIZ UDPゴシック" panose="020B0400000000000000" pitchFamily="50" charset="-128"/>
              <a:ea typeface="BIZ UDPゴシック" panose="020B0400000000000000" pitchFamily="50" charset="-128"/>
            </a:endParaRPr>
          </a:p>
          <a:p>
            <a:pPr algn="ctr"/>
            <a:r>
              <a:rPr kumimoji="1" lang="en-US" altLang="ja-JP" sz="3200" dirty="0">
                <a:latin typeface="BIZ UDPゴシック" panose="020B0400000000000000" pitchFamily="50" charset="-128"/>
                <a:ea typeface="BIZ UDPゴシック" panose="020B0400000000000000" pitchFamily="50" charset="-128"/>
              </a:rPr>
              <a:t>MAE(Mean Absolute Error)</a:t>
            </a:r>
            <a:r>
              <a:rPr kumimoji="1" lang="ja-JP" altLang="en-US" sz="3200" dirty="0">
                <a:latin typeface="BIZ UDPゴシック" panose="020B0400000000000000" pitchFamily="50" charset="-128"/>
                <a:ea typeface="BIZ UDPゴシック" panose="020B0400000000000000" pitchFamily="50" charset="-128"/>
              </a:rPr>
              <a:t>の分布</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4" name="Slide Number Placeholder 3">
            <a:extLst>
              <a:ext uri="{FF2B5EF4-FFF2-40B4-BE49-F238E27FC236}">
                <a16:creationId xmlns:a16="http://schemas.microsoft.com/office/drawing/2014/main" id="{1922CA4F-A94D-4C90-8005-D1AB95274464}"/>
              </a:ext>
            </a:extLst>
          </p:cNvPr>
          <p:cNvSpPr>
            <a:spLocks noGrp="1"/>
          </p:cNvSpPr>
          <p:nvPr>
            <p:ph type="sldNum" sz="quarter" idx="12"/>
          </p:nvPr>
        </p:nvSpPr>
        <p:spPr/>
        <p:txBody>
          <a:bodyPr/>
          <a:lstStyle/>
          <a:p>
            <a:fld id="{F42732FB-2277-442C-9711-A45410BE01D8}" type="slidenum">
              <a:rPr kumimoji="1" lang="ja-JP" altLang="en-US" smtClean="0"/>
              <a:t>14</a:t>
            </a:fld>
            <a:endParaRPr kumimoji="1" lang="ja-JP" altLang="en-US"/>
          </a:p>
        </p:txBody>
      </p:sp>
      <p:pic>
        <p:nvPicPr>
          <p:cNvPr id="6" name="Picture 5" descr="A graph of a graph of a graph&#10;&#10;Description automatically generated with medium confidence">
            <a:extLst>
              <a:ext uri="{FF2B5EF4-FFF2-40B4-BE49-F238E27FC236}">
                <a16:creationId xmlns:a16="http://schemas.microsoft.com/office/drawing/2014/main" id="{C78D9671-9FF2-65C8-F660-E99B4ED6F1C2}"/>
              </a:ext>
            </a:extLst>
          </p:cNvPr>
          <p:cNvPicPr>
            <a:picLocks noChangeAspect="1"/>
          </p:cNvPicPr>
          <p:nvPr/>
        </p:nvPicPr>
        <p:blipFill>
          <a:blip r:embed="rId3">
            <a:extLst>
              <a:ext uri="{28A0092B-C50C-407E-A947-70E740481C1C}">
                <a14:useLocalDpi xmlns:a14="http://schemas.microsoft.com/office/drawing/2010/main" val="0"/>
              </a:ext>
            </a:extLst>
          </a:blip>
          <a:srcRect t="48110"/>
          <a:stretch/>
        </p:blipFill>
        <p:spPr>
          <a:xfrm>
            <a:off x="1653009" y="1295337"/>
            <a:ext cx="8739221" cy="2246767"/>
          </a:xfrm>
          <a:prstGeom prst="rect">
            <a:avLst/>
          </a:prstGeom>
          <a:ln w="19050">
            <a:solidFill>
              <a:schemeClr val="bg2">
                <a:lumMod val="50000"/>
              </a:schemeClr>
            </a:solidFill>
          </a:ln>
        </p:spPr>
      </p:pic>
      <p:pic>
        <p:nvPicPr>
          <p:cNvPr id="7" name="Picture 6" descr="A graph of a graph of a graph&#10;&#10;Description automatically generated with medium confidence">
            <a:extLst>
              <a:ext uri="{FF2B5EF4-FFF2-40B4-BE49-F238E27FC236}">
                <a16:creationId xmlns:a16="http://schemas.microsoft.com/office/drawing/2014/main" id="{0DA8F4BB-E2A4-48ED-32FD-E67A9DA13C38}"/>
              </a:ext>
            </a:extLst>
          </p:cNvPr>
          <p:cNvPicPr>
            <a:picLocks noChangeAspect="1"/>
          </p:cNvPicPr>
          <p:nvPr/>
        </p:nvPicPr>
        <p:blipFill>
          <a:blip r:embed="rId3">
            <a:extLst>
              <a:ext uri="{28A0092B-C50C-407E-A947-70E740481C1C}">
                <a14:useLocalDpi xmlns:a14="http://schemas.microsoft.com/office/drawing/2010/main" val="0"/>
              </a:ext>
            </a:extLst>
          </a:blip>
          <a:srcRect l="8729" b="59321"/>
          <a:stretch/>
        </p:blipFill>
        <p:spPr>
          <a:xfrm>
            <a:off x="2415819" y="1371807"/>
            <a:ext cx="7976411" cy="1761347"/>
          </a:xfrm>
          <a:prstGeom prst="rect">
            <a:avLst/>
          </a:prstGeom>
          <a:ln w="19050">
            <a:noFill/>
          </a:ln>
        </p:spPr>
      </p:pic>
      <p:sp>
        <p:nvSpPr>
          <p:cNvPr id="9" name="テキスト ボックス 2">
            <a:extLst>
              <a:ext uri="{FF2B5EF4-FFF2-40B4-BE49-F238E27FC236}">
                <a16:creationId xmlns:a16="http://schemas.microsoft.com/office/drawing/2014/main" id="{590A570B-5C60-7326-111B-4F955BA28B78}"/>
              </a:ext>
            </a:extLst>
          </p:cNvPr>
          <p:cNvSpPr txBox="1"/>
          <p:nvPr/>
        </p:nvSpPr>
        <p:spPr>
          <a:xfrm>
            <a:off x="1464326" y="5296969"/>
            <a:ext cx="9263347" cy="1384995"/>
          </a:xfrm>
          <a:prstGeom prst="rect">
            <a:avLst/>
          </a:prstGeom>
          <a:noFill/>
        </p:spPr>
        <p:txBody>
          <a:bodyPr wrap="square" rtlCol="0">
            <a:spAutoFit/>
          </a:bodyPr>
          <a:lstStyle/>
          <a:p>
            <a:pPr marL="457200" indent="-457200">
              <a:buFont typeface="Arial" panose="020B0604020202020204" pitchFamily="34" charset="0"/>
              <a:buChar char="•"/>
            </a:pPr>
            <a:r>
              <a:rPr lang="ja-JP" altLang="en-US" sz="2800" dirty="0">
                <a:latin typeface="BIZ UDPゴシック" panose="020B0400000000000000" pitchFamily="50" charset="-128"/>
                <a:ea typeface="BIZ UDPゴシック" panose="020B0400000000000000" pitchFamily="50" charset="-128"/>
              </a:rPr>
              <a:t>データ数が少なく</a:t>
            </a:r>
            <a:r>
              <a:rPr lang="en-GB" altLang="ja-JP" sz="2800" dirty="0">
                <a:latin typeface="BIZ UDPゴシック" panose="020B0400000000000000" pitchFamily="50" charset="-128"/>
                <a:ea typeface="BIZ UDPゴシック" panose="020B0400000000000000" pitchFamily="50" charset="-128"/>
              </a:rPr>
              <a:t>,</a:t>
            </a:r>
            <a:r>
              <a:rPr lang="ja-JP" altLang="en-US" sz="2800" dirty="0">
                <a:latin typeface="BIZ UDPゴシック" panose="020B0400000000000000" pitchFamily="50" charset="-128"/>
                <a:ea typeface="BIZ UDPゴシック" panose="020B0400000000000000" pitchFamily="50" charset="-128"/>
              </a:rPr>
              <a:t>かつ全体的に上昇傾向にあったため</a:t>
            </a:r>
            <a:r>
              <a:rPr lang="en-GB" altLang="ja-JP" sz="2800" dirty="0">
                <a:latin typeface="BIZ UDPゴシック" panose="020B0400000000000000" pitchFamily="50" charset="-128"/>
                <a:ea typeface="BIZ UDPゴシック" panose="020B0400000000000000" pitchFamily="50" charset="-128"/>
              </a:rPr>
              <a:t>,</a:t>
            </a:r>
            <a:r>
              <a:rPr lang="ja-JP" altLang="en-US" sz="2800" dirty="0">
                <a:latin typeface="BIZ UDPゴシック" panose="020B0400000000000000" pitchFamily="50" charset="-128"/>
                <a:ea typeface="BIZ UDPゴシック" panose="020B0400000000000000" pitchFamily="50" charset="-128"/>
              </a:rPr>
              <a:t>過学習の可能性がある</a:t>
            </a:r>
            <a:r>
              <a:rPr lang="en-GB" altLang="ja-JP" sz="2800" dirty="0">
                <a:latin typeface="BIZ UDPゴシック" panose="020B0400000000000000" pitchFamily="50" charset="-128"/>
                <a:ea typeface="BIZ UDPゴシック" panose="020B0400000000000000" pitchFamily="50" charset="-128"/>
              </a:rPr>
              <a:t>.</a:t>
            </a:r>
          </a:p>
          <a:p>
            <a:pPr marL="457200" indent="-457200">
              <a:buFont typeface="Arial" panose="020B0604020202020204" pitchFamily="34" charset="0"/>
              <a:buChar char="•"/>
            </a:pPr>
            <a:endParaRPr lang="en-GB" altLang="ja-JP" sz="28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3398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07B6D98-7411-4207-928D-F280120069EE}"/>
              </a:ext>
            </a:extLst>
          </p:cNvPr>
          <p:cNvSpPr txBox="1"/>
          <p:nvPr/>
        </p:nvSpPr>
        <p:spPr>
          <a:xfrm>
            <a:off x="298126" y="48985"/>
            <a:ext cx="3041421" cy="1107996"/>
          </a:xfrm>
          <a:prstGeom prst="rect">
            <a:avLst/>
          </a:prstGeom>
          <a:noFill/>
        </p:spPr>
        <p:txBody>
          <a:bodyPr wrap="square" rtlCol="0">
            <a:spAutoFit/>
          </a:bodyPr>
          <a:lstStyle/>
          <a:p>
            <a:r>
              <a:rPr kumimoji="1" lang="ja-JP" altLang="en-US" sz="6600" b="1" dirty="0">
                <a:latin typeface="BIZ UDPゴシック" panose="020B0400000000000000" pitchFamily="50" charset="-128"/>
                <a:ea typeface="BIZ UDPゴシック" panose="020B0400000000000000" pitchFamily="50" charset="-128"/>
              </a:rPr>
              <a:t>まとめ</a:t>
            </a:r>
          </a:p>
        </p:txBody>
      </p:sp>
      <p:sp>
        <p:nvSpPr>
          <p:cNvPr id="3" name="テキスト ボックス 2">
            <a:extLst>
              <a:ext uri="{FF2B5EF4-FFF2-40B4-BE49-F238E27FC236}">
                <a16:creationId xmlns:a16="http://schemas.microsoft.com/office/drawing/2014/main" id="{39D3EC1E-C4A1-4AF1-BDD9-62B1B818B87B}"/>
              </a:ext>
            </a:extLst>
          </p:cNvPr>
          <p:cNvSpPr txBox="1"/>
          <p:nvPr/>
        </p:nvSpPr>
        <p:spPr>
          <a:xfrm>
            <a:off x="248478" y="2068372"/>
            <a:ext cx="11695043" cy="3416320"/>
          </a:xfrm>
          <a:prstGeom prst="rect">
            <a:avLst/>
          </a:prstGeom>
          <a:noFill/>
        </p:spPr>
        <p:txBody>
          <a:bodyPr wrap="square" rtlCol="0">
            <a:spAutoFit/>
          </a:bodyPr>
          <a:lstStyle/>
          <a:p>
            <a:pPr marL="457200" indent="-457200">
              <a:buFont typeface="Arial" panose="020B0604020202020204" pitchFamily="34" charset="0"/>
              <a:buChar char="•"/>
            </a:pPr>
            <a:r>
              <a:rPr kumimoji="1" lang="ja-JP" altLang="en-US" sz="3600" dirty="0">
                <a:latin typeface="BIZ UDPゴシック" panose="020B0400000000000000" pitchFamily="50" charset="-128"/>
                <a:ea typeface="BIZ UDPゴシック" panose="020B0400000000000000" pitchFamily="50" charset="-128"/>
              </a:rPr>
              <a:t>今回は身近かつ自分がやりたかった株の予測</a:t>
            </a:r>
            <a:r>
              <a:rPr lang="ja-JP" altLang="en-US" sz="3600" dirty="0">
                <a:latin typeface="BIZ UDPゴシック" panose="020B0400000000000000" pitchFamily="50" charset="-128"/>
                <a:ea typeface="BIZ UDPゴシック" panose="020B0400000000000000" pitchFamily="50" charset="-128"/>
              </a:rPr>
              <a:t>を行った</a:t>
            </a:r>
            <a:r>
              <a:rPr lang="en-GB" altLang="ja-JP" sz="3600" dirty="0">
                <a:latin typeface="BIZ UDPゴシック" panose="020B0400000000000000" pitchFamily="50" charset="-128"/>
                <a:ea typeface="BIZ UDPゴシック" panose="020B0400000000000000" pitchFamily="50" charset="-128"/>
              </a:rPr>
              <a:t>.</a:t>
            </a:r>
            <a:endParaRPr lang="en-US" altLang="ja-JP" sz="3600" dirty="0">
              <a:latin typeface="BIZ UDPゴシック" panose="020B0400000000000000" pitchFamily="50" charset="-128"/>
              <a:ea typeface="BIZ UDPゴシック" panose="020B0400000000000000" pitchFamily="50" charset="-128"/>
            </a:endParaRPr>
          </a:p>
          <a:p>
            <a:pPr marL="457200" indent="-457200">
              <a:buFont typeface="Arial" panose="020B0604020202020204" pitchFamily="34" charset="0"/>
              <a:buChar char="•"/>
            </a:pPr>
            <a:endParaRPr kumimoji="1" lang="en-GB" altLang="ja-JP" sz="3600" dirty="0">
              <a:latin typeface="BIZ UDPゴシック" panose="020B0400000000000000" pitchFamily="50" charset="-128"/>
              <a:ea typeface="BIZ UDPゴシック" panose="020B0400000000000000" pitchFamily="50" charset="-128"/>
            </a:endParaRPr>
          </a:p>
          <a:p>
            <a:pPr marL="457200" indent="-457200">
              <a:buFont typeface="Arial" panose="020B0604020202020204" pitchFamily="34" charset="0"/>
              <a:buChar char="•"/>
            </a:pPr>
            <a:r>
              <a:rPr kumimoji="1" lang="ja-JP" altLang="en-US" sz="3600" dirty="0">
                <a:latin typeface="BIZ UDPゴシック" panose="020B0400000000000000" pitchFamily="50" charset="-128"/>
                <a:ea typeface="BIZ UDPゴシック" panose="020B0400000000000000" pitchFamily="50" charset="-128"/>
              </a:rPr>
              <a:t>ニュースからほぼ自動で感情パラメータに変換して</a:t>
            </a:r>
            <a:r>
              <a:rPr kumimoji="1" lang="en-US" altLang="ja-JP" sz="3600" dirty="0">
                <a:latin typeface="BIZ UDPゴシック" panose="020B0400000000000000" pitchFamily="50" charset="-128"/>
                <a:ea typeface="BIZ UDPゴシック" panose="020B0400000000000000" pitchFamily="50" charset="-128"/>
              </a:rPr>
              <a:t>DB</a:t>
            </a:r>
            <a:r>
              <a:rPr kumimoji="1" lang="ja-JP" altLang="en-US" sz="3600" dirty="0">
                <a:latin typeface="BIZ UDPゴシック" panose="020B0400000000000000" pitchFamily="50" charset="-128"/>
                <a:ea typeface="BIZ UDPゴシック" panose="020B0400000000000000" pitchFamily="50" charset="-128"/>
              </a:rPr>
              <a:t>に保存しておくシステムはできた</a:t>
            </a:r>
            <a:endParaRPr kumimoji="1" lang="en-GB" altLang="ja-JP" sz="3600" dirty="0">
              <a:latin typeface="BIZ UDPゴシック" panose="020B0400000000000000" pitchFamily="50" charset="-128"/>
              <a:ea typeface="BIZ UDPゴシック" panose="020B0400000000000000" pitchFamily="50" charset="-128"/>
            </a:endParaRPr>
          </a:p>
          <a:p>
            <a:pPr marL="457200" indent="-457200">
              <a:buFont typeface="Arial" panose="020B0604020202020204" pitchFamily="34" charset="0"/>
              <a:buChar char="•"/>
            </a:pPr>
            <a:endParaRPr lang="en-GB" altLang="ja-JP" sz="3600" dirty="0">
              <a:latin typeface="BIZ UDPゴシック" panose="020B0400000000000000" pitchFamily="50" charset="-128"/>
              <a:ea typeface="BIZ UDPゴシック" panose="020B0400000000000000" pitchFamily="50" charset="-128"/>
            </a:endParaRPr>
          </a:p>
          <a:p>
            <a:pPr marL="457200" indent="-457200">
              <a:buFont typeface="Arial" panose="020B0604020202020204" pitchFamily="34" charset="0"/>
              <a:buChar char="•"/>
            </a:pPr>
            <a:r>
              <a:rPr lang="ja-JP" altLang="en-US" sz="3600" dirty="0">
                <a:latin typeface="BIZ UDPゴシック" panose="020B0400000000000000" pitchFamily="50" charset="-128"/>
                <a:ea typeface="BIZ UDPゴシック" panose="020B0400000000000000" pitchFamily="50" charset="-128"/>
              </a:rPr>
              <a:t>時系列予測はまだまだこれから</a:t>
            </a:r>
            <a:endParaRPr lang="en-GB" altLang="ja-JP" sz="3600" dirty="0">
              <a:latin typeface="BIZ UDPゴシック" panose="020B0400000000000000" pitchFamily="50" charset="-128"/>
              <a:ea typeface="BIZ UDPゴシック" panose="020B0400000000000000" pitchFamily="50" charset="-128"/>
            </a:endParaRPr>
          </a:p>
        </p:txBody>
      </p:sp>
      <p:sp>
        <p:nvSpPr>
          <p:cNvPr id="4" name="Slide Number Placeholder 3">
            <a:extLst>
              <a:ext uri="{FF2B5EF4-FFF2-40B4-BE49-F238E27FC236}">
                <a16:creationId xmlns:a16="http://schemas.microsoft.com/office/drawing/2014/main" id="{355EB941-6778-8315-B81E-3264D20B7972}"/>
              </a:ext>
            </a:extLst>
          </p:cNvPr>
          <p:cNvSpPr>
            <a:spLocks noGrp="1"/>
          </p:cNvSpPr>
          <p:nvPr>
            <p:ph type="sldNum" sz="quarter" idx="12"/>
          </p:nvPr>
        </p:nvSpPr>
        <p:spPr/>
        <p:txBody>
          <a:bodyPr/>
          <a:lstStyle/>
          <a:p>
            <a:fld id="{F42732FB-2277-442C-9711-A45410BE01D8}" type="slidenum">
              <a:rPr kumimoji="1" lang="ja-JP" altLang="en-US" smtClean="0"/>
              <a:t>15</a:t>
            </a:fld>
            <a:endParaRPr kumimoji="1" lang="ja-JP" altLang="en-US"/>
          </a:p>
        </p:txBody>
      </p:sp>
    </p:spTree>
    <p:extLst>
      <p:ext uri="{BB962C8B-B14F-4D97-AF65-F5344CB8AC3E}">
        <p14:creationId xmlns:p14="http://schemas.microsoft.com/office/powerpoint/2010/main" val="3621478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9BFB8CC-4628-6A53-78DB-42414068CD17}"/>
              </a:ext>
            </a:extLst>
          </p:cNvPr>
          <p:cNvSpPr txBox="1"/>
          <p:nvPr/>
        </p:nvSpPr>
        <p:spPr>
          <a:xfrm>
            <a:off x="298126" y="48985"/>
            <a:ext cx="3041421" cy="1107996"/>
          </a:xfrm>
          <a:prstGeom prst="rect">
            <a:avLst/>
          </a:prstGeom>
          <a:noFill/>
        </p:spPr>
        <p:txBody>
          <a:bodyPr wrap="square" rtlCol="0">
            <a:spAutoFit/>
          </a:bodyPr>
          <a:lstStyle/>
          <a:p>
            <a:r>
              <a:rPr kumimoji="1" lang="ja-JP" altLang="en-US" sz="6600" b="1" dirty="0">
                <a:latin typeface="BIZ UDPゴシック" panose="020B0400000000000000" pitchFamily="50" charset="-128"/>
                <a:ea typeface="BIZ UDPゴシック" panose="020B0400000000000000" pitchFamily="50" charset="-128"/>
              </a:rPr>
              <a:t>今後</a:t>
            </a:r>
          </a:p>
        </p:txBody>
      </p:sp>
      <p:sp>
        <p:nvSpPr>
          <p:cNvPr id="2" name="Slide Number Placeholder 1">
            <a:extLst>
              <a:ext uri="{FF2B5EF4-FFF2-40B4-BE49-F238E27FC236}">
                <a16:creationId xmlns:a16="http://schemas.microsoft.com/office/drawing/2014/main" id="{CCA16D35-C3A1-BD4F-E262-C89D02049492}"/>
              </a:ext>
            </a:extLst>
          </p:cNvPr>
          <p:cNvSpPr>
            <a:spLocks noGrp="1"/>
          </p:cNvSpPr>
          <p:nvPr>
            <p:ph type="sldNum" sz="quarter" idx="12"/>
          </p:nvPr>
        </p:nvSpPr>
        <p:spPr/>
        <p:txBody>
          <a:bodyPr/>
          <a:lstStyle/>
          <a:p>
            <a:fld id="{F42732FB-2277-442C-9711-A45410BE01D8}" type="slidenum">
              <a:rPr kumimoji="1" lang="ja-JP" altLang="en-US" smtClean="0"/>
              <a:t>16</a:t>
            </a:fld>
            <a:endParaRPr kumimoji="1" lang="ja-JP" altLang="en-US"/>
          </a:p>
        </p:txBody>
      </p:sp>
      <p:sp>
        <p:nvSpPr>
          <p:cNvPr id="3" name="テキスト ボックス 4">
            <a:extLst>
              <a:ext uri="{FF2B5EF4-FFF2-40B4-BE49-F238E27FC236}">
                <a16:creationId xmlns:a16="http://schemas.microsoft.com/office/drawing/2014/main" id="{7AF25458-AC57-37BB-03F2-DDC67EC6C975}"/>
              </a:ext>
            </a:extLst>
          </p:cNvPr>
          <p:cNvSpPr txBox="1"/>
          <p:nvPr/>
        </p:nvSpPr>
        <p:spPr>
          <a:xfrm>
            <a:off x="477725" y="2074783"/>
            <a:ext cx="11236549" cy="2708434"/>
          </a:xfrm>
          <a:prstGeom prst="rect">
            <a:avLst/>
          </a:prstGeom>
          <a:noFill/>
        </p:spPr>
        <p:txBody>
          <a:bodyPr wrap="square" rtlCol="0">
            <a:spAutoFit/>
          </a:bodyPr>
          <a:lstStyle/>
          <a:p>
            <a:pPr marL="571500" indent="-571500">
              <a:buFont typeface="Arial" panose="020B0604020202020204" pitchFamily="34" charset="0"/>
              <a:buChar char="•"/>
            </a:pPr>
            <a:r>
              <a:rPr lang="ja-JP" altLang="en-US" sz="3800" dirty="0">
                <a:latin typeface="BIZ UDPゴシック" panose="020B0400000000000000" pitchFamily="50" charset="-128"/>
                <a:ea typeface="BIZ UDPゴシック" panose="020B0400000000000000" pitchFamily="50" charset="-128"/>
              </a:rPr>
              <a:t>この手法を用いれば株価の予測だけでなく</a:t>
            </a:r>
            <a:r>
              <a:rPr lang="en-GB" altLang="ja-JP" sz="3800" dirty="0">
                <a:latin typeface="BIZ UDPゴシック" panose="020B0400000000000000" pitchFamily="50" charset="-128"/>
                <a:ea typeface="BIZ UDPゴシック" panose="020B0400000000000000" pitchFamily="50" charset="-128"/>
              </a:rPr>
              <a:t>,</a:t>
            </a:r>
          </a:p>
          <a:p>
            <a:r>
              <a:rPr lang="ja-JP" altLang="en-US" sz="3800" dirty="0">
                <a:latin typeface="BIZ UDPゴシック" panose="020B0400000000000000" pitchFamily="50" charset="-128"/>
                <a:ea typeface="BIZ UDPゴシック" panose="020B0400000000000000" pitchFamily="50" charset="-128"/>
              </a:rPr>
              <a:t>　　広告の効果予測等にも応用できると考える</a:t>
            </a:r>
            <a:r>
              <a:rPr lang="en-GB" altLang="ja-JP" sz="3800" dirty="0">
                <a:latin typeface="BIZ UDPゴシック" panose="020B0400000000000000" pitchFamily="50" charset="-128"/>
                <a:ea typeface="BIZ UDPゴシック" panose="020B0400000000000000" pitchFamily="50" charset="-128"/>
              </a:rPr>
              <a:t>.</a:t>
            </a:r>
          </a:p>
          <a:p>
            <a:pPr marL="571500" indent="-571500">
              <a:buFont typeface="Arial" panose="020B0604020202020204" pitchFamily="34" charset="0"/>
              <a:buChar char="•"/>
            </a:pPr>
            <a:endParaRPr lang="en-GB" altLang="ja-JP" sz="2800" dirty="0">
              <a:latin typeface="BIZ UDPゴシック" panose="020B0400000000000000" pitchFamily="50" charset="-128"/>
              <a:ea typeface="BIZ UDPゴシック" panose="020B0400000000000000" pitchFamily="50" charset="-128"/>
            </a:endParaRPr>
          </a:p>
          <a:p>
            <a:pPr marL="571500" indent="-571500">
              <a:buFont typeface="Arial" panose="020B0604020202020204" pitchFamily="34" charset="0"/>
              <a:buChar char="•"/>
            </a:pPr>
            <a:r>
              <a:rPr lang="ja-JP" altLang="en-US" sz="3800" dirty="0">
                <a:latin typeface="BIZ UDPゴシック" panose="020B0400000000000000" pitchFamily="50" charset="-128"/>
                <a:ea typeface="BIZ UDPゴシック" panose="020B0400000000000000" pitchFamily="50" charset="-128"/>
              </a:rPr>
              <a:t>システム全体の評価方法の検討をする必要がある</a:t>
            </a:r>
            <a:endParaRPr lang="en-GB" altLang="ja-JP" sz="3800" dirty="0">
              <a:latin typeface="BIZ UDPゴシック" panose="020B0400000000000000" pitchFamily="50" charset="-128"/>
              <a:ea typeface="BIZ UDPゴシック" panose="020B0400000000000000" pitchFamily="50" charset="-128"/>
            </a:endParaRPr>
          </a:p>
          <a:p>
            <a:pPr marL="571500" indent="-571500">
              <a:buFont typeface="Arial" panose="020B0604020202020204" pitchFamily="34" charset="0"/>
              <a:buChar char="•"/>
            </a:pPr>
            <a:endParaRPr kumimoji="1" lang="en-GB" altLang="ja-JP" sz="28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100003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3ACF9-C5D8-BA6E-D0D7-8FE46812F403}"/>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6312DA4-A18F-BBFD-D5DC-FBBAA6C3E773}"/>
              </a:ext>
            </a:extLst>
          </p:cNvPr>
          <p:cNvSpPr txBox="1"/>
          <p:nvPr/>
        </p:nvSpPr>
        <p:spPr>
          <a:xfrm>
            <a:off x="-11289" y="2413337"/>
            <a:ext cx="12214578" cy="1015663"/>
          </a:xfrm>
          <a:prstGeom prst="rect">
            <a:avLst/>
          </a:prstGeom>
          <a:noFill/>
        </p:spPr>
        <p:txBody>
          <a:bodyPr wrap="square" rtlCol="0">
            <a:spAutoFit/>
          </a:bodyPr>
          <a:lstStyle/>
          <a:p>
            <a:pPr algn="ctr"/>
            <a:r>
              <a:rPr kumimoji="1" lang="ja-JP" altLang="en-US" sz="6000" dirty="0">
                <a:latin typeface="BIZ UDPゴシック" panose="020B0400000000000000" pitchFamily="50" charset="-128"/>
                <a:ea typeface="BIZ UDPゴシック" panose="020B0400000000000000" pitchFamily="50" charset="-128"/>
              </a:rPr>
              <a:t>ご清聴ありがとうございました</a:t>
            </a:r>
          </a:p>
        </p:txBody>
      </p:sp>
      <p:sp>
        <p:nvSpPr>
          <p:cNvPr id="4" name="Slide Number Placeholder 3">
            <a:extLst>
              <a:ext uri="{FF2B5EF4-FFF2-40B4-BE49-F238E27FC236}">
                <a16:creationId xmlns:a16="http://schemas.microsoft.com/office/drawing/2014/main" id="{5B2A093B-0B65-8F59-EED0-A24B4E4F5708}"/>
              </a:ext>
            </a:extLst>
          </p:cNvPr>
          <p:cNvSpPr>
            <a:spLocks noGrp="1"/>
          </p:cNvSpPr>
          <p:nvPr>
            <p:ph type="sldNum" sz="quarter" idx="12"/>
          </p:nvPr>
        </p:nvSpPr>
        <p:spPr/>
        <p:txBody>
          <a:bodyPr/>
          <a:lstStyle/>
          <a:p>
            <a:fld id="{F42732FB-2277-442C-9711-A45410BE01D8}" type="slidenum">
              <a:rPr kumimoji="1" lang="ja-JP" altLang="en-US" smtClean="0"/>
              <a:t>17</a:t>
            </a:fld>
            <a:endParaRPr kumimoji="1" lang="ja-JP" altLang="en-US"/>
          </a:p>
        </p:txBody>
      </p:sp>
    </p:spTree>
    <p:extLst>
      <p:ext uri="{BB962C8B-B14F-4D97-AF65-F5344CB8AC3E}">
        <p14:creationId xmlns:p14="http://schemas.microsoft.com/office/powerpoint/2010/main" val="988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291A1A2-535D-B6C0-D2AE-F3CB525FDEF3}"/>
              </a:ext>
            </a:extLst>
          </p:cNvPr>
          <p:cNvSpPr txBox="1"/>
          <p:nvPr/>
        </p:nvSpPr>
        <p:spPr>
          <a:xfrm>
            <a:off x="298127" y="48985"/>
            <a:ext cx="2528888" cy="1200329"/>
          </a:xfrm>
          <a:prstGeom prst="rect">
            <a:avLst/>
          </a:prstGeom>
          <a:noFill/>
        </p:spPr>
        <p:txBody>
          <a:bodyPr wrap="square" rtlCol="0">
            <a:spAutoFit/>
          </a:bodyPr>
          <a:lstStyle/>
          <a:p>
            <a:r>
              <a:rPr kumimoji="1" lang="ja-JP" altLang="en-US" sz="7200" b="1" dirty="0">
                <a:latin typeface="BIZ UDPゴシック" panose="020B0400000000000000" pitchFamily="50" charset="-128"/>
                <a:ea typeface="BIZ UDPゴシック" panose="020B0400000000000000" pitchFamily="50" charset="-128"/>
              </a:rPr>
              <a:t>結果</a:t>
            </a:r>
          </a:p>
        </p:txBody>
      </p:sp>
      <p:pic>
        <p:nvPicPr>
          <p:cNvPr id="5" name="図 4">
            <a:extLst>
              <a:ext uri="{FF2B5EF4-FFF2-40B4-BE49-F238E27FC236}">
                <a16:creationId xmlns:a16="http://schemas.microsoft.com/office/drawing/2014/main" id="{2183BB85-7A49-4C3A-8E62-6BD215B244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127" y="1886336"/>
            <a:ext cx="4632671" cy="3085328"/>
          </a:xfrm>
          <a:prstGeom prst="rect">
            <a:avLst/>
          </a:prstGeom>
          <a:ln>
            <a:solidFill>
              <a:schemeClr val="bg2">
                <a:lumMod val="75000"/>
              </a:schemeClr>
            </a:solidFill>
          </a:ln>
        </p:spPr>
      </p:pic>
      <p:pic>
        <p:nvPicPr>
          <p:cNvPr id="8" name="図 7">
            <a:extLst>
              <a:ext uri="{FF2B5EF4-FFF2-40B4-BE49-F238E27FC236}">
                <a16:creationId xmlns:a16="http://schemas.microsoft.com/office/drawing/2014/main" id="{CCD6FE68-DCEC-445A-92F3-97D014EAEB69}"/>
              </a:ext>
            </a:extLst>
          </p:cNvPr>
          <p:cNvPicPr>
            <a:picLocks noChangeAspect="1"/>
          </p:cNvPicPr>
          <p:nvPr/>
        </p:nvPicPr>
        <p:blipFill>
          <a:blip r:embed="rId4"/>
          <a:stretch>
            <a:fillRect/>
          </a:stretch>
        </p:blipFill>
        <p:spPr>
          <a:xfrm>
            <a:off x="5252551" y="1886336"/>
            <a:ext cx="2165205" cy="1435926"/>
          </a:xfrm>
          <a:prstGeom prst="rect">
            <a:avLst/>
          </a:prstGeom>
          <a:ln>
            <a:solidFill>
              <a:schemeClr val="bg2">
                <a:lumMod val="75000"/>
              </a:schemeClr>
            </a:solidFill>
          </a:ln>
        </p:spPr>
      </p:pic>
      <p:pic>
        <p:nvPicPr>
          <p:cNvPr id="9" name="図 8">
            <a:extLst>
              <a:ext uri="{FF2B5EF4-FFF2-40B4-BE49-F238E27FC236}">
                <a16:creationId xmlns:a16="http://schemas.microsoft.com/office/drawing/2014/main" id="{DDEDD262-FDDA-4D13-BF03-1C1E9838AC62}"/>
              </a:ext>
            </a:extLst>
          </p:cNvPr>
          <p:cNvPicPr>
            <a:picLocks noChangeAspect="1"/>
          </p:cNvPicPr>
          <p:nvPr/>
        </p:nvPicPr>
        <p:blipFill>
          <a:blip r:embed="rId5"/>
          <a:stretch>
            <a:fillRect/>
          </a:stretch>
        </p:blipFill>
        <p:spPr>
          <a:xfrm>
            <a:off x="7588396" y="1886336"/>
            <a:ext cx="2064446" cy="1435926"/>
          </a:xfrm>
          <a:prstGeom prst="rect">
            <a:avLst/>
          </a:prstGeom>
          <a:ln>
            <a:solidFill>
              <a:schemeClr val="bg2">
                <a:lumMod val="75000"/>
              </a:schemeClr>
            </a:solidFill>
          </a:ln>
        </p:spPr>
      </p:pic>
      <p:pic>
        <p:nvPicPr>
          <p:cNvPr id="10" name="図 9">
            <a:extLst>
              <a:ext uri="{FF2B5EF4-FFF2-40B4-BE49-F238E27FC236}">
                <a16:creationId xmlns:a16="http://schemas.microsoft.com/office/drawing/2014/main" id="{3EC321C0-8B3F-4145-96CC-959C7BD3B9A9}"/>
              </a:ext>
            </a:extLst>
          </p:cNvPr>
          <p:cNvPicPr>
            <a:picLocks noChangeAspect="1"/>
          </p:cNvPicPr>
          <p:nvPr/>
        </p:nvPicPr>
        <p:blipFill>
          <a:blip r:embed="rId6"/>
          <a:stretch>
            <a:fillRect/>
          </a:stretch>
        </p:blipFill>
        <p:spPr>
          <a:xfrm>
            <a:off x="9823482" y="1886336"/>
            <a:ext cx="2165205" cy="1463729"/>
          </a:xfrm>
          <a:prstGeom prst="rect">
            <a:avLst/>
          </a:prstGeom>
          <a:ln>
            <a:solidFill>
              <a:schemeClr val="bg2">
                <a:lumMod val="75000"/>
              </a:schemeClr>
            </a:solidFill>
          </a:ln>
        </p:spPr>
      </p:pic>
      <p:pic>
        <p:nvPicPr>
          <p:cNvPr id="11" name="図 10">
            <a:extLst>
              <a:ext uri="{FF2B5EF4-FFF2-40B4-BE49-F238E27FC236}">
                <a16:creationId xmlns:a16="http://schemas.microsoft.com/office/drawing/2014/main" id="{D2887D6E-AFDA-4115-8B3E-4B9A03D8FF13}"/>
              </a:ext>
            </a:extLst>
          </p:cNvPr>
          <p:cNvPicPr>
            <a:picLocks noChangeAspect="1"/>
          </p:cNvPicPr>
          <p:nvPr/>
        </p:nvPicPr>
        <p:blipFill>
          <a:blip r:embed="rId7"/>
          <a:stretch>
            <a:fillRect/>
          </a:stretch>
        </p:blipFill>
        <p:spPr>
          <a:xfrm>
            <a:off x="5252551" y="3535738"/>
            <a:ext cx="2119584" cy="1435926"/>
          </a:xfrm>
          <a:prstGeom prst="rect">
            <a:avLst/>
          </a:prstGeom>
          <a:ln>
            <a:solidFill>
              <a:schemeClr val="bg2">
                <a:lumMod val="75000"/>
              </a:schemeClr>
            </a:solidFill>
          </a:ln>
        </p:spPr>
      </p:pic>
      <p:pic>
        <p:nvPicPr>
          <p:cNvPr id="12" name="図 11">
            <a:extLst>
              <a:ext uri="{FF2B5EF4-FFF2-40B4-BE49-F238E27FC236}">
                <a16:creationId xmlns:a16="http://schemas.microsoft.com/office/drawing/2014/main" id="{A785E63C-8A48-4C58-822A-9577DC65557A}"/>
              </a:ext>
            </a:extLst>
          </p:cNvPr>
          <p:cNvPicPr>
            <a:picLocks noChangeAspect="1"/>
          </p:cNvPicPr>
          <p:nvPr/>
        </p:nvPicPr>
        <p:blipFill>
          <a:blip r:embed="rId8"/>
          <a:stretch>
            <a:fillRect/>
          </a:stretch>
        </p:blipFill>
        <p:spPr>
          <a:xfrm>
            <a:off x="7588396" y="3507937"/>
            <a:ext cx="2064446" cy="1464640"/>
          </a:xfrm>
          <a:prstGeom prst="rect">
            <a:avLst/>
          </a:prstGeom>
          <a:ln>
            <a:solidFill>
              <a:schemeClr val="bg2">
                <a:lumMod val="75000"/>
              </a:schemeClr>
            </a:solidFill>
          </a:ln>
        </p:spPr>
      </p:pic>
      <p:pic>
        <p:nvPicPr>
          <p:cNvPr id="13" name="図 12">
            <a:extLst>
              <a:ext uri="{FF2B5EF4-FFF2-40B4-BE49-F238E27FC236}">
                <a16:creationId xmlns:a16="http://schemas.microsoft.com/office/drawing/2014/main" id="{9CDFC703-0735-4B0A-9320-F7032AA96662}"/>
              </a:ext>
            </a:extLst>
          </p:cNvPr>
          <p:cNvPicPr>
            <a:picLocks noChangeAspect="1"/>
          </p:cNvPicPr>
          <p:nvPr/>
        </p:nvPicPr>
        <p:blipFill>
          <a:blip r:embed="rId9"/>
          <a:stretch>
            <a:fillRect/>
          </a:stretch>
        </p:blipFill>
        <p:spPr>
          <a:xfrm>
            <a:off x="9823482" y="3507936"/>
            <a:ext cx="2165205" cy="1483566"/>
          </a:xfrm>
          <a:prstGeom prst="rect">
            <a:avLst/>
          </a:prstGeom>
          <a:ln>
            <a:solidFill>
              <a:schemeClr val="bg2">
                <a:lumMod val="75000"/>
              </a:schemeClr>
            </a:solidFill>
          </a:ln>
        </p:spPr>
      </p:pic>
      <p:sp>
        <p:nvSpPr>
          <p:cNvPr id="14" name="テキスト ボックス 13">
            <a:extLst>
              <a:ext uri="{FF2B5EF4-FFF2-40B4-BE49-F238E27FC236}">
                <a16:creationId xmlns:a16="http://schemas.microsoft.com/office/drawing/2014/main" id="{9329E0B2-8473-4C6B-A9A2-A955F00B7B03}"/>
              </a:ext>
            </a:extLst>
          </p:cNvPr>
          <p:cNvSpPr txBox="1"/>
          <p:nvPr/>
        </p:nvSpPr>
        <p:spPr>
          <a:xfrm>
            <a:off x="671562" y="5285520"/>
            <a:ext cx="3885800" cy="646331"/>
          </a:xfrm>
          <a:prstGeom prst="rect">
            <a:avLst/>
          </a:prstGeom>
          <a:noFill/>
        </p:spPr>
        <p:txBody>
          <a:bodyPr wrap="square" rtlCol="0">
            <a:spAutoFit/>
          </a:bodyPr>
          <a:lstStyle/>
          <a:p>
            <a:pPr algn="ctr"/>
            <a:r>
              <a:rPr kumimoji="1" lang="ja-JP" altLang="en-US" sz="3600" dirty="0">
                <a:latin typeface="BIZ UDPゴシック" panose="020B0400000000000000" pitchFamily="50" charset="-128"/>
                <a:ea typeface="BIZ UDPゴシック" panose="020B0400000000000000" pitchFamily="50" charset="-128"/>
              </a:rPr>
              <a:t>予測結果</a:t>
            </a:r>
            <a:r>
              <a:rPr kumimoji="1" lang="en-US" altLang="ja-JP" sz="3600" dirty="0">
                <a:latin typeface="BIZ UDPゴシック" panose="020B0400000000000000" pitchFamily="50" charset="-128"/>
                <a:ea typeface="BIZ UDPゴシック" panose="020B0400000000000000" pitchFamily="50" charset="-128"/>
              </a:rPr>
              <a:t>(20</a:t>
            </a:r>
            <a:r>
              <a:rPr kumimoji="1" lang="ja-JP" altLang="en-US" sz="3600" dirty="0">
                <a:latin typeface="BIZ UDPゴシック" panose="020B0400000000000000" pitchFamily="50" charset="-128"/>
                <a:ea typeface="BIZ UDPゴシック" panose="020B0400000000000000" pitchFamily="50" charset="-128"/>
              </a:rPr>
              <a:t>日</a:t>
            </a:r>
            <a:r>
              <a:rPr kumimoji="1" lang="en-US" altLang="ja-JP" sz="3600" dirty="0">
                <a:latin typeface="BIZ UDPゴシック" panose="020B0400000000000000" pitchFamily="50" charset="-128"/>
                <a:ea typeface="BIZ UDPゴシック" panose="020B0400000000000000" pitchFamily="50" charset="-128"/>
              </a:rPr>
              <a:t>)</a:t>
            </a:r>
            <a:endParaRPr kumimoji="1" lang="ja-JP" altLang="en-US" sz="3600"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F4647E47-834F-4ABB-A121-2C1B9551752A}"/>
              </a:ext>
            </a:extLst>
          </p:cNvPr>
          <p:cNvSpPr txBox="1"/>
          <p:nvPr/>
        </p:nvSpPr>
        <p:spPr>
          <a:xfrm>
            <a:off x="6403504" y="5285520"/>
            <a:ext cx="4434229" cy="646331"/>
          </a:xfrm>
          <a:prstGeom prst="rect">
            <a:avLst/>
          </a:prstGeom>
          <a:noFill/>
        </p:spPr>
        <p:txBody>
          <a:bodyPr wrap="square" rtlCol="0">
            <a:spAutoFit/>
          </a:bodyPr>
          <a:lstStyle/>
          <a:p>
            <a:pPr algn="ctr"/>
            <a:r>
              <a:rPr kumimoji="1" lang="ja-JP" altLang="en-US" sz="3600" dirty="0">
                <a:latin typeface="BIZ UDPゴシック" panose="020B0400000000000000" pitchFamily="50" charset="-128"/>
                <a:ea typeface="BIZ UDPゴシック" panose="020B0400000000000000" pitchFamily="50" charset="-128"/>
              </a:rPr>
              <a:t>実際の株価</a:t>
            </a:r>
            <a:r>
              <a:rPr kumimoji="1" lang="en-US" altLang="ja-JP" sz="3600" dirty="0">
                <a:latin typeface="BIZ UDPゴシック" panose="020B0400000000000000" pitchFamily="50" charset="-128"/>
                <a:ea typeface="BIZ UDPゴシック" panose="020B0400000000000000" pitchFamily="50" charset="-128"/>
              </a:rPr>
              <a:t>(1</a:t>
            </a:r>
            <a:r>
              <a:rPr kumimoji="1" lang="ja-JP" altLang="en-US" sz="3600" dirty="0">
                <a:latin typeface="BIZ UDPゴシック" panose="020B0400000000000000" pitchFamily="50" charset="-128"/>
                <a:ea typeface="BIZ UDPゴシック" panose="020B0400000000000000" pitchFamily="50" charset="-128"/>
              </a:rPr>
              <a:t>か月</a:t>
            </a:r>
            <a:r>
              <a:rPr kumimoji="1" lang="en-US" altLang="ja-JP" sz="3600" dirty="0">
                <a:latin typeface="BIZ UDPゴシック" panose="020B0400000000000000" pitchFamily="50" charset="-128"/>
                <a:ea typeface="BIZ UDPゴシック" panose="020B0400000000000000" pitchFamily="50" charset="-128"/>
              </a:rPr>
              <a:t>)</a:t>
            </a:r>
            <a:endParaRPr kumimoji="1" lang="ja-JP" altLang="en-US" sz="3600" dirty="0">
              <a:latin typeface="BIZ UDPゴシック" panose="020B0400000000000000" pitchFamily="50" charset="-128"/>
              <a:ea typeface="BIZ UDPゴシック" panose="020B0400000000000000" pitchFamily="50" charset="-128"/>
            </a:endParaRPr>
          </a:p>
        </p:txBody>
      </p:sp>
      <p:sp>
        <p:nvSpPr>
          <p:cNvPr id="3" name="Slide Number Placeholder 2">
            <a:extLst>
              <a:ext uri="{FF2B5EF4-FFF2-40B4-BE49-F238E27FC236}">
                <a16:creationId xmlns:a16="http://schemas.microsoft.com/office/drawing/2014/main" id="{AE2FB37F-3186-4D2E-6D85-16D7E92518C6}"/>
              </a:ext>
            </a:extLst>
          </p:cNvPr>
          <p:cNvSpPr>
            <a:spLocks noGrp="1"/>
          </p:cNvSpPr>
          <p:nvPr>
            <p:ph type="sldNum" sz="quarter" idx="12"/>
          </p:nvPr>
        </p:nvSpPr>
        <p:spPr/>
        <p:txBody>
          <a:bodyPr/>
          <a:lstStyle/>
          <a:p>
            <a:fld id="{F42732FB-2277-442C-9711-A45410BE01D8}" type="slidenum">
              <a:rPr kumimoji="1" lang="ja-JP" altLang="en-US" smtClean="0"/>
              <a:t>18</a:t>
            </a:fld>
            <a:endParaRPr kumimoji="1" lang="ja-JP" altLang="en-US"/>
          </a:p>
        </p:txBody>
      </p:sp>
    </p:spTree>
    <p:extLst>
      <p:ext uri="{BB962C8B-B14F-4D97-AF65-F5344CB8AC3E}">
        <p14:creationId xmlns:p14="http://schemas.microsoft.com/office/powerpoint/2010/main" val="3105356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FB4A2B06-BFE0-C3CD-DACE-BB624ABC5B5B}"/>
              </a:ext>
            </a:extLst>
          </p:cNvPr>
          <p:cNvSpPr txBox="1"/>
          <p:nvPr/>
        </p:nvSpPr>
        <p:spPr>
          <a:xfrm>
            <a:off x="507148" y="3302135"/>
            <a:ext cx="2319867" cy="523220"/>
          </a:xfrm>
          <a:prstGeom prst="rect">
            <a:avLst/>
          </a:prstGeom>
          <a:noFill/>
        </p:spPr>
        <p:txBody>
          <a:bodyPr wrap="square" rtlCol="0">
            <a:spAutoFit/>
          </a:bodyPr>
          <a:lstStyle/>
          <a:p>
            <a:pPr algn="ctr"/>
            <a:r>
              <a:rPr lang="en-US" altLang="ja-JP" sz="2800" dirty="0">
                <a:latin typeface="BIZ UDPゴシック" panose="020B0400000000000000" pitchFamily="50" charset="-128"/>
                <a:ea typeface="BIZ UDPゴシック" panose="020B0400000000000000" pitchFamily="50" charset="-128"/>
              </a:rPr>
              <a:t>A</a:t>
            </a:r>
            <a:r>
              <a:rPr lang="ja-JP" altLang="en-US" sz="2800" dirty="0">
                <a:latin typeface="BIZ UDPゴシック" panose="020B0400000000000000" pitchFamily="50" charset="-128"/>
                <a:ea typeface="BIZ UDPゴシック" panose="020B0400000000000000" pitchFamily="50" charset="-128"/>
              </a:rPr>
              <a:t>社データ</a:t>
            </a:r>
            <a:endParaRPr kumimoji="1" lang="ja-JP" altLang="en-US" sz="2800" dirty="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3D01874B-417E-278E-FEFE-63D100789D38}"/>
              </a:ext>
            </a:extLst>
          </p:cNvPr>
          <p:cNvSpPr txBox="1"/>
          <p:nvPr/>
        </p:nvSpPr>
        <p:spPr>
          <a:xfrm>
            <a:off x="4777970" y="1598607"/>
            <a:ext cx="2319867" cy="523220"/>
          </a:xfrm>
          <a:prstGeom prst="rect">
            <a:avLst/>
          </a:prstGeom>
          <a:solidFill>
            <a:schemeClr val="bg1">
              <a:lumMod val="85000"/>
            </a:schemeClr>
          </a:solidFill>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A</a:t>
            </a:r>
            <a:r>
              <a:rPr kumimoji="1" lang="ja-JP" altLang="en-US" sz="2800" dirty="0">
                <a:latin typeface="BIZ UDPゴシック" panose="020B0400000000000000" pitchFamily="50" charset="-128"/>
                <a:ea typeface="BIZ UDPゴシック" panose="020B0400000000000000" pitchFamily="50" charset="-128"/>
              </a:rPr>
              <a:t>社モデル</a:t>
            </a:r>
          </a:p>
        </p:txBody>
      </p:sp>
      <p:sp>
        <p:nvSpPr>
          <p:cNvPr id="17" name="テキスト ボックス 16">
            <a:extLst>
              <a:ext uri="{FF2B5EF4-FFF2-40B4-BE49-F238E27FC236}">
                <a16:creationId xmlns:a16="http://schemas.microsoft.com/office/drawing/2014/main" id="{2B111A8F-9BBC-B06B-A059-DAECD640948D}"/>
              </a:ext>
            </a:extLst>
          </p:cNvPr>
          <p:cNvSpPr txBox="1"/>
          <p:nvPr/>
        </p:nvSpPr>
        <p:spPr>
          <a:xfrm>
            <a:off x="4777970" y="2360607"/>
            <a:ext cx="2319867" cy="523220"/>
          </a:xfrm>
          <a:prstGeom prst="rect">
            <a:avLst/>
          </a:prstGeom>
          <a:solidFill>
            <a:schemeClr val="bg1">
              <a:lumMod val="85000"/>
            </a:schemeClr>
          </a:solidFill>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B</a:t>
            </a:r>
            <a:r>
              <a:rPr kumimoji="1" lang="ja-JP" altLang="en-US" sz="2800" dirty="0">
                <a:latin typeface="BIZ UDPゴシック" panose="020B0400000000000000" pitchFamily="50" charset="-128"/>
                <a:ea typeface="BIZ UDPゴシック" panose="020B0400000000000000" pitchFamily="50" charset="-128"/>
              </a:rPr>
              <a:t>社モデル</a:t>
            </a:r>
          </a:p>
        </p:txBody>
      </p:sp>
      <p:sp>
        <p:nvSpPr>
          <p:cNvPr id="18" name="テキスト ボックス 17">
            <a:extLst>
              <a:ext uri="{FF2B5EF4-FFF2-40B4-BE49-F238E27FC236}">
                <a16:creationId xmlns:a16="http://schemas.microsoft.com/office/drawing/2014/main" id="{12435374-9831-2B61-02BD-5297A14E52A6}"/>
              </a:ext>
            </a:extLst>
          </p:cNvPr>
          <p:cNvSpPr txBox="1"/>
          <p:nvPr/>
        </p:nvSpPr>
        <p:spPr>
          <a:xfrm>
            <a:off x="4608663" y="4663540"/>
            <a:ext cx="2658483" cy="523220"/>
          </a:xfrm>
          <a:prstGeom prst="rect">
            <a:avLst/>
          </a:prstGeom>
          <a:solidFill>
            <a:schemeClr val="bg1">
              <a:lumMod val="85000"/>
            </a:schemeClr>
          </a:solidFill>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Y</a:t>
            </a:r>
            <a:r>
              <a:rPr kumimoji="1" lang="ja-JP" altLang="en-US" sz="2800" dirty="0">
                <a:latin typeface="BIZ UDPゴシック" panose="020B0400000000000000" pitchFamily="50" charset="-128"/>
                <a:ea typeface="BIZ UDPゴシック" panose="020B0400000000000000" pitchFamily="50" charset="-128"/>
              </a:rPr>
              <a:t>社モデル</a:t>
            </a:r>
          </a:p>
        </p:txBody>
      </p:sp>
      <p:sp>
        <p:nvSpPr>
          <p:cNvPr id="19" name="テキスト ボックス 18">
            <a:extLst>
              <a:ext uri="{FF2B5EF4-FFF2-40B4-BE49-F238E27FC236}">
                <a16:creationId xmlns:a16="http://schemas.microsoft.com/office/drawing/2014/main" id="{02720E41-E50D-2375-75CE-27AFED40C13A}"/>
              </a:ext>
            </a:extLst>
          </p:cNvPr>
          <p:cNvSpPr txBox="1"/>
          <p:nvPr/>
        </p:nvSpPr>
        <p:spPr>
          <a:xfrm>
            <a:off x="4608663" y="5425540"/>
            <a:ext cx="2658483" cy="523220"/>
          </a:xfrm>
          <a:prstGeom prst="rect">
            <a:avLst/>
          </a:prstGeom>
          <a:solidFill>
            <a:schemeClr val="bg1">
              <a:lumMod val="85000"/>
            </a:schemeClr>
          </a:solidFill>
          <a:ln>
            <a:noFill/>
          </a:ln>
        </p:spPr>
        <p:txBody>
          <a:bodyPr wrap="square" rtlCol="0">
            <a:spAutoFit/>
          </a:bodyPr>
          <a:lstStyle/>
          <a:p>
            <a:pPr algn="ctr"/>
            <a:r>
              <a:rPr kumimoji="1" lang="en-US" altLang="ja-JP" sz="2800" dirty="0">
                <a:latin typeface="BIZ UDPゴシック" panose="020B0400000000000000" pitchFamily="50" charset="-128"/>
                <a:ea typeface="BIZ UDPゴシック" panose="020B0400000000000000" pitchFamily="50" charset="-128"/>
              </a:rPr>
              <a:t>Z</a:t>
            </a:r>
            <a:r>
              <a:rPr kumimoji="1" lang="ja-JP" altLang="en-US" sz="2800">
                <a:latin typeface="BIZ UDPゴシック" panose="020B0400000000000000" pitchFamily="50" charset="-128"/>
                <a:ea typeface="BIZ UDPゴシック" panose="020B0400000000000000" pitchFamily="50" charset="-128"/>
              </a:rPr>
              <a:t>社モデル</a:t>
            </a:r>
            <a:endParaRPr kumimoji="1" lang="ja-JP" altLang="en-US" sz="2800" dirty="0">
              <a:latin typeface="BIZ UDPゴシック" panose="020B0400000000000000" pitchFamily="50" charset="-128"/>
              <a:ea typeface="BIZ UDPゴシック" panose="020B0400000000000000" pitchFamily="50" charset="-128"/>
            </a:endParaRPr>
          </a:p>
        </p:txBody>
      </p:sp>
      <p:pic>
        <p:nvPicPr>
          <p:cNvPr id="20" name="図 19" descr="\documentclass{jsarticle}&#10;\usepackage{amsmath}&#10;\usepackage[T1]{fontenc}&#10;\usepackage{lmodern}&#10;\pagestyle{empty}&#10;&#10;\begin{document}&#10;&#10;\begin{align*}&#10;  \vdots&#10;\end{align*}&#10;&#10;\end{document}" title="IguanaTex Bitmap Display">
            <a:extLst>
              <a:ext uri="{FF2B5EF4-FFF2-40B4-BE49-F238E27FC236}">
                <a16:creationId xmlns:a16="http://schemas.microsoft.com/office/drawing/2014/main" id="{B03FA855-A5B7-D4AF-5BDC-9BB4B50B46D0}"/>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5911650" y="3348302"/>
            <a:ext cx="96025" cy="704186"/>
          </a:xfrm>
          <a:prstGeom prst="rect">
            <a:avLst/>
          </a:prstGeom>
        </p:spPr>
      </p:pic>
      <p:cxnSp>
        <p:nvCxnSpPr>
          <p:cNvPr id="22" name="直線矢印コネクタ 21">
            <a:extLst>
              <a:ext uri="{FF2B5EF4-FFF2-40B4-BE49-F238E27FC236}">
                <a16:creationId xmlns:a16="http://schemas.microsoft.com/office/drawing/2014/main" id="{F1613ECA-820F-733D-380C-5F5A60E5DC1A}"/>
              </a:ext>
            </a:extLst>
          </p:cNvPr>
          <p:cNvCxnSpPr>
            <a:stCxn id="5" idx="3"/>
            <a:endCxn id="16" idx="1"/>
          </p:cNvCxnSpPr>
          <p:nvPr/>
        </p:nvCxnSpPr>
        <p:spPr>
          <a:xfrm flipV="1">
            <a:off x="2827015" y="1860217"/>
            <a:ext cx="1950955" cy="1703528"/>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F39607EA-3B8F-5332-1605-B2601FE08C75}"/>
              </a:ext>
            </a:extLst>
          </p:cNvPr>
          <p:cNvCxnSpPr>
            <a:cxnSpLocks/>
            <a:stCxn id="5" idx="3"/>
            <a:endCxn id="17" idx="1"/>
          </p:cNvCxnSpPr>
          <p:nvPr/>
        </p:nvCxnSpPr>
        <p:spPr>
          <a:xfrm flipV="1">
            <a:off x="2827015" y="2622217"/>
            <a:ext cx="1950955" cy="941528"/>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EAF34522-6B1C-4E15-FCB7-C6E511858915}"/>
              </a:ext>
            </a:extLst>
          </p:cNvPr>
          <p:cNvCxnSpPr>
            <a:cxnSpLocks/>
            <a:stCxn id="5" idx="3"/>
            <a:endCxn id="18" idx="1"/>
          </p:cNvCxnSpPr>
          <p:nvPr/>
        </p:nvCxnSpPr>
        <p:spPr>
          <a:xfrm>
            <a:off x="2827015" y="3563745"/>
            <a:ext cx="1781648" cy="1361405"/>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92491357-8A5B-3372-120A-E736209262BD}"/>
              </a:ext>
            </a:extLst>
          </p:cNvPr>
          <p:cNvCxnSpPr>
            <a:cxnSpLocks/>
            <a:stCxn id="5" idx="3"/>
            <a:endCxn id="19" idx="1"/>
          </p:cNvCxnSpPr>
          <p:nvPr/>
        </p:nvCxnSpPr>
        <p:spPr>
          <a:xfrm>
            <a:off x="2827015" y="3563745"/>
            <a:ext cx="1781648" cy="2123405"/>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FBE4BD73-3A16-5483-2014-278E00B420B6}"/>
              </a:ext>
            </a:extLst>
          </p:cNvPr>
          <p:cNvCxnSpPr>
            <a:cxnSpLocks/>
            <a:stCxn id="16" idx="3"/>
          </p:cNvCxnSpPr>
          <p:nvPr/>
        </p:nvCxnSpPr>
        <p:spPr>
          <a:xfrm>
            <a:off x="7097837" y="1860217"/>
            <a:ext cx="2055466"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6BC9B407-1C7C-C2E4-DF09-01403910BF57}"/>
              </a:ext>
            </a:extLst>
          </p:cNvPr>
          <p:cNvCxnSpPr>
            <a:cxnSpLocks/>
          </p:cNvCxnSpPr>
          <p:nvPr/>
        </p:nvCxnSpPr>
        <p:spPr>
          <a:xfrm>
            <a:off x="7097837" y="2622217"/>
            <a:ext cx="2055466"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DB200BE9-C6A2-D44A-B4A3-F64657C96AE4}"/>
              </a:ext>
            </a:extLst>
          </p:cNvPr>
          <p:cNvCxnSpPr>
            <a:cxnSpLocks/>
          </p:cNvCxnSpPr>
          <p:nvPr/>
        </p:nvCxnSpPr>
        <p:spPr>
          <a:xfrm>
            <a:off x="7267146" y="4925150"/>
            <a:ext cx="1886157"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164CFCB7-0191-2F71-9BDB-B1A00A29C85A}"/>
              </a:ext>
            </a:extLst>
          </p:cNvPr>
          <p:cNvCxnSpPr>
            <a:cxnSpLocks/>
          </p:cNvCxnSpPr>
          <p:nvPr/>
        </p:nvCxnSpPr>
        <p:spPr>
          <a:xfrm>
            <a:off x="7267146" y="5687150"/>
            <a:ext cx="1886157"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45A88E52-C242-6164-D418-DE23E59C0913}"/>
              </a:ext>
            </a:extLst>
          </p:cNvPr>
          <p:cNvSpPr txBox="1"/>
          <p:nvPr/>
        </p:nvSpPr>
        <p:spPr>
          <a:xfrm>
            <a:off x="9414282" y="3348302"/>
            <a:ext cx="2319867" cy="954107"/>
          </a:xfrm>
          <a:prstGeom prst="rect">
            <a:avLst/>
          </a:prstGeom>
          <a:noFill/>
        </p:spPr>
        <p:txBody>
          <a:bodyPr wrap="square" rtlCol="0">
            <a:spAutoFit/>
          </a:bodyPr>
          <a:lstStyle/>
          <a:p>
            <a:pPr algn="ctr"/>
            <a:r>
              <a:rPr kumimoji="1" lang="ja-JP" altLang="en-US" sz="2800" dirty="0">
                <a:latin typeface="BIZ UDPゴシック" panose="020B0400000000000000" pitchFamily="50" charset="-128"/>
                <a:ea typeface="BIZ UDPゴシック" panose="020B0400000000000000" pitchFamily="50" charset="-128"/>
              </a:rPr>
              <a:t>予測データの平均をとる</a:t>
            </a:r>
          </a:p>
        </p:txBody>
      </p:sp>
      <p:sp>
        <p:nvSpPr>
          <p:cNvPr id="39" name="四角形: 角を丸くする 38">
            <a:extLst>
              <a:ext uri="{FF2B5EF4-FFF2-40B4-BE49-F238E27FC236}">
                <a16:creationId xmlns:a16="http://schemas.microsoft.com/office/drawing/2014/main" id="{81E4DDB3-EF89-E6D1-08EA-9D19F7317983}"/>
              </a:ext>
            </a:extLst>
          </p:cNvPr>
          <p:cNvSpPr/>
          <p:nvPr/>
        </p:nvSpPr>
        <p:spPr>
          <a:xfrm>
            <a:off x="9311844" y="1212998"/>
            <a:ext cx="2395964" cy="5270442"/>
          </a:xfrm>
          <a:prstGeom prst="roundRect">
            <a:avLst/>
          </a:prstGeom>
          <a:noFill/>
          <a:ln w="285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Slide Number Placeholder 1">
            <a:extLst>
              <a:ext uri="{FF2B5EF4-FFF2-40B4-BE49-F238E27FC236}">
                <a16:creationId xmlns:a16="http://schemas.microsoft.com/office/drawing/2014/main" id="{70CFBE39-1A33-8269-F3C0-1EA7D62E9110}"/>
              </a:ext>
            </a:extLst>
          </p:cNvPr>
          <p:cNvSpPr>
            <a:spLocks noGrp="1"/>
          </p:cNvSpPr>
          <p:nvPr>
            <p:ph type="sldNum" sz="quarter" idx="12"/>
          </p:nvPr>
        </p:nvSpPr>
        <p:spPr/>
        <p:txBody>
          <a:bodyPr/>
          <a:lstStyle/>
          <a:p>
            <a:fld id="{F42732FB-2277-442C-9711-A45410BE01D8}" type="slidenum">
              <a:rPr kumimoji="1" lang="ja-JP" altLang="en-US" smtClean="0"/>
              <a:t>19</a:t>
            </a:fld>
            <a:endParaRPr kumimoji="1" lang="ja-JP" altLang="en-US"/>
          </a:p>
        </p:txBody>
      </p:sp>
      <p:sp>
        <p:nvSpPr>
          <p:cNvPr id="3" name="テキスト ボックス 1">
            <a:extLst>
              <a:ext uri="{FF2B5EF4-FFF2-40B4-BE49-F238E27FC236}">
                <a16:creationId xmlns:a16="http://schemas.microsoft.com/office/drawing/2014/main" id="{2C3DF06D-A95E-9463-1B13-8F5B2E716B02}"/>
              </a:ext>
            </a:extLst>
          </p:cNvPr>
          <p:cNvSpPr txBox="1"/>
          <p:nvPr/>
        </p:nvSpPr>
        <p:spPr>
          <a:xfrm>
            <a:off x="252970" y="267220"/>
            <a:ext cx="7163829" cy="830997"/>
          </a:xfrm>
          <a:prstGeom prst="rect">
            <a:avLst/>
          </a:prstGeom>
          <a:noFill/>
        </p:spPr>
        <p:txBody>
          <a:bodyPr wrap="square" rtlCol="0">
            <a:spAutoFit/>
          </a:bodyPr>
          <a:lstStyle/>
          <a:p>
            <a:r>
              <a:rPr kumimoji="1" lang="ja-JP" altLang="en-US" sz="4800" b="1" dirty="0">
                <a:latin typeface="BIZ UDPゴシック" panose="020B0400000000000000" pitchFamily="50" charset="-128"/>
                <a:ea typeface="BIZ UDPゴシック" panose="020B0400000000000000" pitchFamily="50" charset="-128"/>
              </a:rPr>
              <a:t>学習の流れ</a:t>
            </a:r>
            <a:r>
              <a:rPr kumimoji="1" lang="en-GB" altLang="ja-JP" sz="4800" b="1" dirty="0">
                <a:latin typeface="BIZ UDPゴシック" panose="020B0400000000000000" pitchFamily="50" charset="-128"/>
                <a:ea typeface="BIZ UDPゴシック" panose="020B0400000000000000" pitchFamily="50" charset="-128"/>
              </a:rPr>
              <a:t>(LSTM</a:t>
            </a:r>
            <a:r>
              <a:rPr lang="ja-JP" altLang="en-US" sz="4800" b="1" dirty="0">
                <a:latin typeface="BIZ UDPゴシック" panose="020B0400000000000000" pitchFamily="50" charset="-128"/>
                <a:ea typeface="BIZ UDPゴシック" panose="020B0400000000000000" pitchFamily="50" charset="-128"/>
              </a:rPr>
              <a:t>推論</a:t>
            </a:r>
            <a:r>
              <a:rPr kumimoji="1" lang="en-GB" altLang="ja-JP" sz="4800" b="1" dirty="0">
                <a:latin typeface="BIZ UDPゴシック" panose="020B0400000000000000" pitchFamily="50" charset="-128"/>
                <a:ea typeface="BIZ UDPゴシック" panose="020B0400000000000000" pitchFamily="50" charset="-128"/>
              </a:rPr>
              <a:t>)</a:t>
            </a:r>
            <a:endParaRPr kumimoji="1" lang="ja-JP" altLang="en-US" sz="4800" b="1"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262311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C346C83-1902-42D5-B622-093593ED705F}"/>
              </a:ext>
            </a:extLst>
          </p:cNvPr>
          <p:cNvSpPr txBox="1"/>
          <p:nvPr/>
        </p:nvSpPr>
        <p:spPr>
          <a:xfrm>
            <a:off x="298127" y="48985"/>
            <a:ext cx="2528888" cy="1200329"/>
          </a:xfrm>
          <a:prstGeom prst="rect">
            <a:avLst/>
          </a:prstGeom>
          <a:noFill/>
        </p:spPr>
        <p:txBody>
          <a:bodyPr wrap="square" rtlCol="0">
            <a:spAutoFit/>
          </a:bodyPr>
          <a:lstStyle/>
          <a:p>
            <a:r>
              <a:rPr kumimoji="1" lang="ja-JP" altLang="en-US" sz="7200" b="1" dirty="0">
                <a:latin typeface="BIZ UDPゴシック" panose="020B0400000000000000" pitchFamily="50" charset="-128"/>
                <a:ea typeface="BIZ UDPゴシック" panose="020B0400000000000000" pitchFamily="50" charset="-128"/>
              </a:rPr>
              <a:t>目的</a:t>
            </a:r>
          </a:p>
        </p:txBody>
      </p:sp>
      <p:sp>
        <p:nvSpPr>
          <p:cNvPr id="3" name="テキスト ボックス 2">
            <a:extLst>
              <a:ext uri="{FF2B5EF4-FFF2-40B4-BE49-F238E27FC236}">
                <a16:creationId xmlns:a16="http://schemas.microsoft.com/office/drawing/2014/main" id="{E641EA13-434D-8A34-7124-0E3753FA25E9}"/>
              </a:ext>
            </a:extLst>
          </p:cNvPr>
          <p:cNvSpPr txBox="1"/>
          <p:nvPr/>
        </p:nvSpPr>
        <p:spPr>
          <a:xfrm>
            <a:off x="1035758" y="5858754"/>
            <a:ext cx="4291344" cy="523220"/>
          </a:xfrm>
          <a:prstGeom prst="rect">
            <a:avLst/>
          </a:prstGeom>
          <a:noFill/>
        </p:spPr>
        <p:txBody>
          <a:bodyPr wrap="square" rtlCol="0">
            <a:spAutoFit/>
          </a:bodyPr>
          <a:lstStyle/>
          <a:p>
            <a:pPr algn="ctr"/>
            <a:r>
              <a:rPr kumimoji="1" lang="ja-JP" altLang="en-US" sz="2800" dirty="0">
                <a:latin typeface="BIZ UDPゴシック" panose="020B0400000000000000" pitchFamily="50" charset="-128"/>
                <a:ea typeface="BIZ UDPゴシック" panose="020B0400000000000000" pitchFamily="50" charset="-128"/>
              </a:rPr>
              <a:t>現在の金融資産構成比率</a:t>
            </a:r>
          </a:p>
        </p:txBody>
      </p:sp>
      <p:grpSp>
        <p:nvGrpSpPr>
          <p:cNvPr id="8" name="グループ化 7">
            <a:extLst>
              <a:ext uri="{FF2B5EF4-FFF2-40B4-BE49-F238E27FC236}">
                <a16:creationId xmlns:a16="http://schemas.microsoft.com/office/drawing/2014/main" id="{8812F55E-6C73-2C2E-2E3A-510BD7711EE5}"/>
              </a:ext>
            </a:extLst>
          </p:cNvPr>
          <p:cNvGrpSpPr/>
          <p:nvPr/>
        </p:nvGrpSpPr>
        <p:grpSpPr>
          <a:xfrm>
            <a:off x="83811" y="1273501"/>
            <a:ext cx="6195238" cy="4310997"/>
            <a:chOff x="325924" y="1984972"/>
            <a:chExt cx="5469802" cy="3672699"/>
          </a:xfrm>
        </p:grpSpPr>
        <p:graphicFrame>
          <p:nvGraphicFramePr>
            <p:cNvPr id="4" name="グラフ 3">
              <a:extLst>
                <a:ext uri="{FF2B5EF4-FFF2-40B4-BE49-F238E27FC236}">
                  <a16:creationId xmlns:a16="http://schemas.microsoft.com/office/drawing/2014/main" id="{2172DE30-313C-DCDC-19BA-E2EAFE897149}"/>
                </a:ext>
              </a:extLst>
            </p:cNvPr>
            <p:cNvGraphicFramePr>
              <a:graphicFrameLocks/>
            </p:cNvGraphicFramePr>
            <p:nvPr>
              <p:extLst>
                <p:ext uri="{D42A27DB-BD31-4B8C-83A1-F6EECF244321}">
                  <p14:modId xmlns:p14="http://schemas.microsoft.com/office/powerpoint/2010/main" val="333648918"/>
                </p:ext>
              </p:extLst>
            </p:nvPr>
          </p:nvGraphicFramePr>
          <p:xfrm>
            <a:off x="325924" y="1984972"/>
            <a:ext cx="5469802" cy="3672699"/>
          </p:xfrm>
          <a:graphic>
            <a:graphicData uri="http://schemas.openxmlformats.org/drawingml/2006/chart">
              <c:chart xmlns:c="http://schemas.openxmlformats.org/drawingml/2006/chart" xmlns:r="http://schemas.openxmlformats.org/officeDocument/2006/relationships" r:id="rId3"/>
            </a:graphicData>
          </a:graphic>
        </p:graphicFrame>
        <p:sp>
          <p:nvSpPr>
            <p:cNvPr id="5" name="テキスト ボックス 4">
              <a:extLst>
                <a:ext uri="{FF2B5EF4-FFF2-40B4-BE49-F238E27FC236}">
                  <a16:creationId xmlns:a16="http://schemas.microsoft.com/office/drawing/2014/main" id="{B224302E-BC48-D66A-4F27-92C1E2D23288}"/>
                </a:ext>
              </a:extLst>
            </p:cNvPr>
            <p:cNvSpPr txBox="1"/>
            <p:nvPr/>
          </p:nvSpPr>
          <p:spPr>
            <a:xfrm>
              <a:off x="1826937" y="4290029"/>
              <a:ext cx="1522492" cy="846386"/>
            </a:xfrm>
            <a:prstGeom prst="rect">
              <a:avLst/>
            </a:prstGeom>
            <a:noFill/>
          </p:spPr>
          <p:txBody>
            <a:bodyPr wrap="square" rtlCol="0">
              <a:spAutoFit/>
            </a:bodyPr>
            <a:lstStyle/>
            <a:p>
              <a:pPr algn="ctr"/>
              <a:r>
                <a:rPr kumimoji="1" lang="ja-JP" altLang="en-US" sz="2450" b="1" dirty="0">
                  <a:ln w="3175">
                    <a:noFill/>
                  </a:ln>
                  <a:solidFill>
                    <a:schemeClr val="bg1"/>
                  </a:solidFill>
                  <a:latin typeface="BIZ UDPゴシック" panose="020B0400000000000000" pitchFamily="50" charset="-128"/>
                  <a:ea typeface="BIZ UDPゴシック" panose="020B0400000000000000" pitchFamily="50" charset="-128"/>
                </a:rPr>
                <a:t>投資信託</a:t>
              </a:r>
              <a:endParaRPr kumimoji="1" lang="en-US" altLang="ja-JP" sz="2450" b="1" dirty="0">
                <a:ln w="3175">
                  <a:noFill/>
                </a:ln>
                <a:solidFill>
                  <a:schemeClr val="bg1"/>
                </a:solidFill>
                <a:latin typeface="BIZ UDPゴシック" panose="020B0400000000000000" pitchFamily="50" charset="-128"/>
                <a:ea typeface="BIZ UDPゴシック" panose="020B0400000000000000" pitchFamily="50" charset="-128"/>
              </a:endParaRPr>
            </a:p>
            <a:p>
              <a:pPr algn="ctr"/>
              <a:r>
                <a:rPr kumimoji="1" lang="en-US" altLang="ja-JP" sz="2450" b="1" dirty="0">
                  <a:ln w="3175">
                    <a:noFill/>
                  </a:ln>
                  <a:solidFill>
                    <a:schemeClr val="bg1"/>
                  </a:solidFill>
                  <a:latin typeface="BIZ UDPゴシック" panose="020B0400000000000000" pitchFamily="50" charset="-128"/>
                  <a:ea typeface="BIZ UDPゴシック" panose="020B0400000000000000" pitchFamily="50" charset="-128"/>
                </a:rPr>
                <a:t>25.6%</a:t>
              </a:r>
              <a:endParaRPr kumimoji="1" lang="ja-JP" altLang="en-US" sz="2450" b="1" dirty="0">
                <a:ln w="3175">
                  <a:noFill/>
                </a:ln>
                <a:solidFill>
                  <a:schemeClr val="bg1"/>
                </a:solidFill>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2360758D-8F4F-006A-BCD7-54D6B9BFED00}"/>
                </a:ext>
              </a:extLst>
            </p:cNvPr>
            <p:cNvSpPr txBox="1"/>
            <p:nvPr/>
          </p:nvSpPr>
          <p:spPr>
            <a:xfrm>
              <a:off x="1600180" y="2844224"/>
              <a:ext cx="1522492" cy="846386"/>
            </a:xfrm>
            <a:prstGeom prst="rect">
              <a:avLst/>
            </a:prstGeom>
            <a:noFill/>
          </p:spPr>
          <p:txBody>
            <a:bodyPr wrap="square" rtlCol="0">
              <a:spAutoFit/>
            </a:bodyPr>
            <a:lstStyle/>
            <a:p>
              <a:pPr algn="ctr"/>
              <a:r>
                <a:rPr lang="ja-JP" altLang="en-US" sz="2450" b="1" dirty="0">
                  <a:ln w="3175">
                    <a:noFill/>
                  </a:ln>
                  <a:solidFill>
                    <a:schemeClr val="bg1"/>
                  </a:solidFill>
                  <a:latin typeface="BIZ UDPゴシック" panose="020B0400000000000000" pitchFamily="50" charset="-128"/>
                  <a:ea typeface="BIZ UDPゴシック" panose="020B0400000000000000" pitchFamily="50" charset="-128"/>
                </a:rPr>
                <a:t>国内株式</a:t>
              </a:r>
              <a:endParaRPr lang="en-US" altLang="ja-JP" sz="2450" b="1" dirty="0">
                <a:ln w="3175">
                  <a:noFill/>
                </a:ln>
                <a:solidFill>
                  <a:schemeClr val="bg1"/>
                </a:solidFill>
                <a:latin typeface="BIZ UDPゴシック" panose="020B0400000000000000" pitchFamily="50" charset="-128"/>
                <a:ea typeface="BIZ UDPゴシック" panose="020B0400000000000000" pitchFamily="50" charset="-128"/>
              </a:endParaRPr>
            </a:p>
            <a:p>
              <a:pPr algn="ctr"/>
              <a:r>
                <a:rPr lang="en-US" altLang="ja-JP" sz="2450" b="1" dirty="0">
                  <a:ln w="3175">
                    <a:noFill/>
                  </a:ln>
                  <a:solidFill>
                    <a:schemeClr val="bg1"/>
                  </a:solidFill>
                  <a:latin typeface="BIZ UDPゴシック" panose="020B0400000000000000" pitchFamily="50" charset="-128"/>
                  <a:ea typeface="BIZ UDPゴシック" panose="020B0400000000000000" pitchFamily="50" charset="-128"/>
                </a:rPr>
                <a:t>33.8</a:t>
              </a:r>
              <a:r>
                <a:rPr kumimoji="1" lang="en-US" altLang="ja-JP" sz="2450" b="1" dirty="0">
                  <a:ln w="3175">
                    <a:noFill/>
                  </a:ln>
                  <a:solidFill>
                    <a:schemeClr val="bg1"/>
                  </a:solidFill>
                  <a:latin typeface="BIZ UDPゴシック" panose="020B0400000000000000" pitchFamily="50" charset="-128"/>
                  <a:ea typeface="BIZ UDPゴシック" panose="020B0400000000000000" pitchFamily="50" charset="-128"/>
                </a:rPr>
                <a:t>%</a:t>
              </a:r>
              <a:endParaRPr kumimoji="1" lang="ja-JP" altLang="en-US" sz="2450" b="1" dirty="0">
                <a:ln w="3175">
                  <a:noFill/>
                </a:ln>
                <a:solidFill>
                  <a:schemeClr val="bg1"/>
                </a:solidFill>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0551C6D1-6133-6CD6-C857-C613C8C56C88}"/>
                </a:ext>
              </a:extLst>
            </p:cNvPr>
            <p:cNvSpPr txBox="1"/>
            <p:nvPr/>
          </p:nvSpPr>
          <p:spPr>
            <a:xfrm>
              <a:off x="3149861" y="3398128"/>
              <a:ext cx="1522492" cy="846386"/>
            </a:xfrm>
            <a:prstGeom prst="rect">
              <a:avLst/>
            </a:prstGeom>
            <a:noFill/>
          </p:spPr>
          <p:txBody>
            <a:bodyPr wrap="square" rtlCol="0">
              <a:spAutoFit/>
            </a:bodyPr>
            <a:lstStyle/>
            <a:p>
              <a:pPr algn="ctr"/>
              <a:r>
                <a:rPr kumimoji="1" lang="ja-JP" altLang="en-US" sz="2450" b="1" dirty="0">
                  <a:ln w="3175">
                    <a:noFill/>
                  </a:ln>
                  <a:solidFill>
                    <a:schemeClr val="bg1"/>
                  </a:solidFill>
                  <a:latin typeface="BIZ UDPゴシック" panose="020B0400000000000000" pitchFamily="50" charset="-128"/>
                  <a:ea typeface="BIZ UDPゴシック" panose="020B0400000000000000" pitchFamily="50" charset="-128"/>
                </a:rPr>
                <a:t>米国株式</a:t>
              </a:r>
              <a:endParaRPr kumimoji="1" lang="en-US" altLang="ja-JP" sz="2450" b="1" dirty="0">
                <a:ln w="3175">
                  <a:noFill/>
                </a:ln>
                <a:solidFill>
                  <a:schemeClr val="bg1"/>
                </a:solidFill>
                <a:latin typeface="BIZ UDPゴシック" panose="020B0400000000000000" pitchFamily="50" charset="-128"/>
                <a:ea typeface="BIZ UDPゴシック" panose="020B0400000000000000" pitchFamily="50" charset="-128"/>
              </a:endParaRPr>
            </a:p>
            <a:p>
              <a:pPr algn="ctr"/>
              <a:r>
                <a:rPr kumimoji="1" lang="en-US" altLang="ja-JP" sz="2450" b="1" dirty="0">
                  <a:ln w="3175">
                    <a:noFill/>
                  </a:ln>
                  <a:solidFill>
                    <a:schemeClr val="bg1"/>
                  </a:solidFill>
                  <a:latin typeface="BIZ UDPゴシック" panose="020B0400000000000000" pitchFamily="50" charset="-128"/>
                  <a:ea typeface="BIZ UDPゴシック" panose="020B0400000000000000" pitchFamily="50" charset="-128"/>
                </a:rPr>
                <a:t>40.5%</a:t>
              </a:r>
              <a:endParaRPr kumimoji="1" lang="ja-JP" altLang="en-US" sz="2450" b="1" dirty="0">
                <a:ln w="3175">
                  <a:noFill/>
                </a:ln>
                <a:solidFill>
                  <a:schemeClr val="bg1"/>
                </a:solidFill>
                <a:latin typeface="BIZ UDPゴシック" panose="020B0400000000000000" pitchFamily="50" charset="-128"/>
                <a:ea typeface="BIZ UDPゴシック" panose="020B0400000000000000" pitchFamily="50" charset="-128"/>
              </a:endParaRPr>
            </a:p>
          </p:txBody>
        </p:sp>
      </p:grpSp>
      <p:sp>
        <p:nvSpPr>
          <p:cNvPr id="10" name="テキスト ボックス 9">
            <a:extLst>
              <a:ext uri="{FF2B5EF4-FFF2-40B4-BE49-F238E27FC236}">
                <a16:creationId xmlns:a16="http://schemas.microsoft.com/office/drawing/2014/main" id="{008ABDC1-7C91-ED9D-C4B7-E4EDB010A677}"/>
              </a:ext>
            </a:extLst>
          </p:cNvPr>
          <p:cNvSpPr txBox="1"/>
          <p:nvPr/>
        </p:nvSpPr>
        <p:spPr>
          <a:xfrm>
            <a:off x="8175118" y="3792547"/>
            <a:ext cx="1906313" cy="1200329"/>
          </a:xfrm>
          <a:prstGeom prst="rect">
            <a:avLst/>
          </a:prstGeom>
          <a:noFill/>
        </p:spPr>
        <p:txBody>
          <a:bodyPr wrap="square" rtlCol="0">
            <a:spAutoFit/>
          </a:bodyPr>
          <a:lstStyle/>
          <a:p>
            <a:pPr algn="ctr"/>
            <a:r>
              <a:rPr kumimoji="1" lang="en-US" altLang="ja-JP" sz="3600" b="1" dirty="0">
                <a:ln w="3175">
                  <a:noFill/>
                </a:ln>
                <a:solidFill>
                  <a:schemeClr val="bg1"/>
                </a:solidFill>
                <a:latin typeface="BIZ UDPゴシック" panose="020B0400000000000000" pitchFamily="50" charset="-128"/>
                <a:ea typeface="BIZ UDPゴシック" panose="020B0400000000000000" pitchFamily="50" charset="-128"/>
              </a:rPr>
              <a:t>NVDA</a:t>
            </a:r>
            <a:br>
              <a:rPr kumimoji="1" lang="en-US" altLang="ja-JP" sz="3600" b="1" dirty="0">
                <a:ln w="3175">
                  <a:noFill/>
                </a:ln>
                <a:solidFill>
                  <a:schemeClr val="bg1"/>
                </a:solidFill>
                <a:latin typeface="BIZ UDPゴシック" panose="020B0400000000000000" pitchFamily="50" charset="-128"/>
                <a:ea typeface="BIZ UDPゴシック" panose="020B0400000000000000" pitchFamily="50" charset="-128"/>
              </a:rPr>
            </a:br>
            <a:r>
              <a:rPr kumimoji="1" lang="en-US" altLang="ja-JP" sz="3600" b="1" dirty="0">
                <a:ln w="3175">
                  <a:noFill/>
                </a:ln>
                <a:solidFill>
                  <a:schemeClr val="bg1"/>
                </a:solidFill>
                <a:latin typeface="BIZ UDPゴシック" panose="020B0400000000000000" pitchFamily="50" charset="-128"/>
                <a:ea typeface="BIZ UDPゴシック" panose="020B0400000000000000" pitchFamily="50" charset="-128"/>
              </a:rPr>
              <a:t>60%</a:t>
            </a:r>
            <a:endParaRPr kumimoji="1" lang="ja-JP" altLang="en-US" sz="3600" b="1" dirty="0">
              <a:ln w="3175">
                <a:noFill/>
              </a:ln>
              <a:solidFill>
                <a:schemeClr val="bg1"/>
              </a:solidFill>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ECFF3A1E-03D8-FA39-D2D9-D3B09F42318D}"/>
              </a:ext>
            </a:extLst>
          </p:cNvPr>
          <p:cNvSpPr txBox="1"/>
          <p:nvPr/>
        </p:nvSpPr>
        <p:spPr>
          <a:xfrm rot="19588948">
            <a:off x="6796960" y="3822433"/>
            <a:ext cx="1382644" cy="400110"/>
          </a:xfrm>
          <a:prstGeom prst="rect">
            <a:avLst/>
          </a:prstGeom>
          <a:noFill/>
        </p:spPr>
        <p:txBody>
          <a:bodyPr wrap="square" rtlCol="0">
            <a:spAutoFit/>
          </a:bodyPr>
          <a:lstStyle/>
          <a:p>
            <a:pPr algn="ctr"/>
            <a:r>
              <a:rPr kumimoji="1" lang="en-US" altLang="ja-JP" sz="2000" b="1" dirty="0">
                <a:ln w="3175">
                  <a:noFill/>
                </a:ln>
                <a:solidFill>
                  <a:schemeClr val="bg1"/>
                </a:solidFill>
                <a:latin typeface="BIZ UDPゴシック" panose="020B0400000000000000" pitchFamily="50" charset="-128"/>
                <a:ea typeface="BIZ UDPゴシック" panose="020B0400000000000000" pitchFamily="50" charset="-128"/>
              </a:rPr>
              <a:t>TSM 7%</a:t>
            </a:r>
            <a:endParaRPr kumimoji="1" lang="ja-JP" altLang="en-US" sz="2000" b="1" dirty="0">
              <a:ln w="3175">
                <a:noFill/>
              </a:ln>
              <a:solidFill>
                <a:schemeClr val="bg1"/>
              </a:solidFill>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ED01B846-E357-5D6C-3A71-5486646F9056}"/>
              </a:ext>
            </a:extLst>
          </p:cNvPr>
          <p:cNvSpPr txBox="1"/>
          <p:nvPr/>
        </p:nvSpPr>
        <p:spPr>
          <a:xfrm rot="21120000">
            <a:off x="6578499" y="3305179"/>
            <a:ext cx="1455027" cy="321404"/>
          </a:xfrm>
          <a:prstGeom prst="rect">
            <a:avLst/>
          </a:prstGeom>
          <a:noFill/>
        </p:spPr>
        <p:txBody>
          <a:bodyPr wrap="square" rtlCol="0">
            <a:spAutoFit/>
          </a:bodyPr>
          <a:lstStyle/>
          <a:p>
            <a:pPr algn="ctr"/>
            <a:r>
              <a:rPr lang="en-US" altLang="ja-JP" b="1" dirty="0">
                <a:ln w="3175">
                  <a:noFill/>
                </a:ln>
                <a:solidFill>
                  <a:schemeClr val="bg1"/>
                </a:solidFill>
                <a:latin typeface="BIZ UDPゴシック" panose="020B0400000000000000" pitchFamily="50" charset="-128"/>
                <a:ea typeface="BIZ UDPゴシック" panose="020B0400000000000000" pitchFamily="50" charset="-128"/>
              </a:rPr>
              <a:t>AMZN </a:t>
            </a:r>
            <a:r>
              <a:rPr kumimoji="1" lang="en-US" altLang="ja-JP" b="1" dirty="0">
                <a:ln w="3175">
                  <a:noFill/>
                </a:ln>
                <a:solidFill>
                  <a:schemeClr val="bg1"/>
                </a:solidFill>
                <a:latin typeface="BIZ UDPゴシック" panose="020B0400000000000000" pitchFamily="50" charset="-128"/>
                <a:ea typeface="BIZ UDPゴシック" panose="020B0400000000000000" pitchFamily="50" charset="-128"/>
              </a:rPr>
              <a:t>4%</a:t>
            </a:r>
            <a:endParaRPr kumimoji="1" lang="ja-JP" altLang="en-US" b="1" dirty="0">
              <a:ln w="3175">
                <a:noFill/>
              </a:ln>
              <a:solidFill>
                <a:schemeClr val="bg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5E053ADE-BE9A-B7B4-3DBB-52DA497F9281}"/>
              </a:ext>
            </a:extLst>
          </p:cNvPr>
          <p:cNvSpPr txBox="1"/>
          <p:nvPr/>
        </p:nvSpPr>
        <p:spPr>
          <a:xfrm>
            <a:off x="7036705" y="2026536"/>
            <a:ext cx="1282761" cy="937428"/>
          </a:xfrm>
          <a:prstGeom prst="rect">
            <a:avLst/>
          </a:prstGeom>
          <a:noFill/>
        </p:spPr>
        <p:txBody>
          <a:bodyPr wrap="square" rtlCol="0">
            <a:spAutoFit/>
          </a:bodyPr>
          <a:lstStyle/>
          <a:p>
            <a:pPr algn="ctr"/>
            <a:r>
              <a:rPr lang="en-US" altLang="ja-JP" sz="3200" b="1" dirty="0">
                <a:ln w="3175">
                  <a:noFill/>
                </a:ln>
                <a:solidFill>
                  <a:schemeClr val="bg1"/>
                </a:solidFill>
                <a:latin typeface="BIZ UDPゴシック" panose="020B0400000000000000" pitchFamily="50" charset="-128"/>
                <a:ea typeface="BIZ UDPゴシック" panose="020B0400000000000000" pitchFamily="50" charset="-128"/>
              </a:rPr>
              <a:t>ARM</a:t>
            </a:r>
          </a:p>
          <a:p>
            <a:pPr algn="ctr"/>
            <a:r>
              <a:rPr lang="en-US" altLang="ja-JP" sz="3200" b="1" dirty="0">
                <a:ln w="3175">
                  <a:noFill/>
                </a:ln>
                <a:solidFill>
                  <a:schemeClr val="bg1"/>
                </a:solidFill>
                <a:latin typeface="BIZ UDPゴシック" panose="020B0400000000000000" pitchFamily="50" charset="-128"/>
                <a:ea typeface="BIZ UDPゴシック" panose="020B0400000000000000" pitchFamily="50" charset="-128"/>
              </a:rPr>
              <a:t>21</a:t>
            </a:r>
            <a:r>
              <a:rPr kumimoji="1" lang="en-US" altLang="ja-JP" sz="3200" b="1" dirty="0">
                <a:ln w="3175">
                  <a:noFill/>
                </a:ln>
                <a:solidFill>
                  <a:schemeClr val="bg1"/>
                </a:solidFill>
                <a:latin typeface="BIZ UDPゴシック" panose="020B0400000000000000" pitchFamily="50" charset="-128"/>
                <a:ea typeface="BIZ UDPゴシック" panose="020B0400000000000000" pitchFamily="50" charset="-128"/>
              </a:rPr>
              <a:t>%</a:t>
            </a:r>
            <a:endParaRPr kumimoji="1" lang="ja-JP" altLang="en-US" sz="3200" b="1" dirty="0">
              <a:ln w="3175">
                <a:noFill/>
              </a:ln>
              <a:solidFill>
                <a:schemeClr val="bg1"/>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9CDEE1CA-FDFC-2D91-31A2-12C85324B0DB}"/>
              </a:ext>
            </a:extLst>
          </p:cNvPr>
          <p:cNvSpPr txBox="1"/>
          <p:nvPr/>
        </p:nvSpPr>
        <p:spPr>
          <a:xfrm rot="17400000">
            <a:off x="8089350" y="2027977"/>
            <a:ext cx="1703171" cy="400110"/>
          </a:xfrm>
          <a:prstGeom prst="rect">
            <a:avLst/>
          </a:prstGeom>
          <a:noFill/>
        </p:spPr>
        <p:txBody>
          <a:bodyPr wrap="square" rtlCol="0">
            <a:spAutoFit/>
          </a:bodyPr>
          <a:lstStyle/>
          <a:p>
            <a:pPr algn="ctr"/>
            <a:r>
              <a:rPr kumimoji="1" lang="en-US" altLang="ja-JP" sz="2000" b="1" dirty="0">
                <a:ln w="3175">
                  <a:noFill/>
                </a:ln>
                <a:solidFill>
                  <a:schemeClr val="bg1"/>
                </a:solidFill>
                <a:latin typeface="BIZ UDPゴシック" panose="020B0400000000000000" pitchFamily="50" charset="-128"/>
                <a:ea typeface="BIZ UDPゴシック" panose="020B0400000000000000" pitchFamily="50" charset="-128"/>
              </a:rPr>
              <a:t>GOOG 8%</a:t>
            </a:r>
            <a:endParaRPr kumimoji="1" lang="ja-JP" altLang="en-US" sz="2000" b="1" dirty="0">
              <a:ln w="3175">
                <a:noFill/>
              </a:ln>
              <a:solidFill>
                <a:schemeClr val="bg1"/>
              </a:solidFill>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087A17E2-F1B2-5D7B-FA68-BB8A2E8EB4FE}"/>
              </a:ext>
            </a:extLst>
          </p:cNvPr>
          <p:cNvSpPr txBox="1"/>
          <p:nvPr/>
        </p:nvSpPr>
        <p:spPr>
          <a:xfrm>
            <a:off x="6538019" y="5837042"/>
            <a:ext cx="4291344" cy="523220"/>
          </a:xfrm>
          <a:prstGeom prst="rect">
            <a:avLst/>
          </a:prstGeom>
          <a:noFill/>
        </p:spPr>
        <p:txBody>
          <a:bodyPr wrap="square" rtlCol="0">
            <a:spAutoFit/>
          </a:bodyPr>
          <a:lstStyle/>
          <a:p>
            <a:pPr algn="ctr"/>
            <a:r>
              <a:rPr kumimoji="1" lang="ja-JP" altLang="en-US" sz="2800" dirty="0">
                <a:latin typeface="BIZ UDPゴシック" panose="020B0400000000000000" pitchFamily="50" charset="-128"/>
                <a:ea typeface="BIZ UDPゴシック" panose="020B0400000000000000" pitchFamily="50" charset="-128"/>
              </a:rPr>
              <a:t>米国株式内訳</a:t>
            </a:r>
          </a:p>
        </p:txBody>
      </p:sp>
      <p:graphicFrame>
        <p:nvGraphicFramePr>
          <p:cNvPr id="16" name="グラフ 5">
            <a:extLst>
              <a:ext uri="{FF2B5EF4-FFF2-40B4-BE49-F238E27FC236}">
                <a16:creationId xmlns:a16="http://schemas.microsoft.com/office/drawing/2014/main" id="{86A9F20E-6AF9-4844-940B-1F7723C7DF6D}"/>
              </a:ext>
            </a:extLst>
          </p:cNvPr>
          <p:cNvGraphicFramePr>
            <a:graphicFrameLocks/>
          </p:cNvGraphicFramePr>
          <p:nvPr>
            <p:extLst>
              <p:ext uri="{D42A27DB-BD31-4B8C-83A1-F6EECF244321}">
                <p14:modId xmlns:p14="http://schemas.microsoft.com/office/powerpoint/2010/main" val="251830499"/>
              </p:ext>
            </p:extLst>
          </p:nvPr>
        </p:nvGraphicFramePr>
        <p:xfrm>
          <a:off x="5350879" y="1366586"/>
          <a:ext cx="6665623" cy="4295474"/>
        </p:xfrm>
        <a:graphic>
          <a:graphicData uri="http://schemas.openxmlformats.org/drawingml/2006/chart">
            <c:chart xmlns:c="http://schemas.openxmlformats.org/drawingml/2006/chart" xmlns:r="http://schemas.openxmlformats.org/officeDocument/2006/relationships" r:id="rId4"/>
          </a:graphicData>
        </a:graphic>
      </p:graphicFrame>
      <p:sp>
        <p:nvSpPr>
          <p:cNvPr id="18" name="テキスト ボックス 9">
            <a:extLst>
              <a:ext uri="{FF2B5EF4-FFF2-40B4-BE49-F238E27FC236}">
                <a16:creationId xmlns:a16="http://schemas.microsoft.com/office/drawing/2014/main" id="{CF17874F-452F-FE3E-1060-153DC28AEA14}"/>
              </a:ext>
            </a:extLst>
          </p:cNvPr>
          <p:cNvSpPr txBox="1"/>
          <p:nvPr/>
        </p:nvSpPr>
        <p:spPr>
          <a:xfrm>
            <a:off x="8714974" y="3103890"/>
            <a:ext cx="1906313" cy="1200329"/>
          </a:xfrm>
          <a:prstGeom prst="rect">
            <a:avLst/>
          </a:prstGeom>
          <a:noFill/>
        </p:spPr>
        <p:txBody>
          <a:bodyPr wrap="square" rtlCol="0">
            <a:spAutoFit/>
          </a:bodyPr>
          <a:lstStyle/>
          <a:p>
            <a:pPr algn="ctr"/>
            <a:r>
              <a:rPr kumimoji="1" lang="en-US" altLang="ja-JP" sz="3600" b="1" dirty="0">
                <a:ln w="3175">
                  <a:noFill/>
                </a:ln>
                <a:solidFill>
                  <a:schemeClr val="bg1"/>
                </a:solidFill>
                <a:latin typeface="BIZ UDPゴシック" panose="020B0400000000000000" pitchFamily="50" charset="-128"/>
                <a:ea typeface="BIZ UDPゴシック" panose="020B0400000000000000" pitchFamily="50" charset="-128"/>
              </a:rPr>
              <a:t>NVIDA</a:t>
            </a:r>
            <a:br>
              <a:rPr kumimoji="1" lang="en-US" altLang="ja-JP" sz="3600" b="1" dirty="0">
                <a:ln w="3175">
                  <a:noFill/>
                </a:ln>
                <a:solidFill>
                  <a:schemeClr val="bg1"/>
                </a:solidFill>
                <a:latin typeface="BIZ UDPゴシック" panose="020B0400000000000000" pitchFamily="50" charset="-128"/>
                <a:ea typeface="BIZ UDPゴシック" panose="020B0400000000000000" pitchFamily="50" charset="-128"/>
              </a:rPr>
            </a:br>
            <a:r>
              <a:rPr kumimoji="1" lang="en-US" altLang="ja-JP" sz="3600" b="1" dirty="0">
                <a:ln w="3175">
                  <a:noFill/>
                </a:ln>
                <a:solidFill>
                  <a:schemeClr val="bg1"/>
                </a:solidFill>
                <a:latin typeface="BIZ UDPゴシック" panose="020B0400000000000000" pitchFamily="50" charset="-128"/>
                <a:ea typeface="BIZ UDPゴシック" panose="020B0400000000000000" pitchFamily="50" charset="-128"/>
              </a:rPr>
              <a:t>6</a:t>
            </a:r>
            <a:r>
              <a:rPr lang="en-US" altLang="ja-JP" sz="3600" b="1" dirty="0">
                <a:ln w="3175">
                  <a:noFill/>
                </a:ln>
                <a:solidFill>
                  <a:schemeClr val="bg1"/>
                </a:solidFill>
                <a:latin typeface="BIZ UDPゴシック" panose="020B0400000000000000" pitchFamily="50" charset="-128"/>
                <a:ea typeface="BIZ UDPゴシック" panose="020B0400000000000000" pitchFamily="50" charset="-128"/>
              </a:rPr>
              <a:t>3</a:t>
            </a:r>
            <a:r>
              <a:rPr kumimoji="1" lang="en-US" altLang="ja-JP" sz="3600" b="1" dirty="0">
                <a:ln w="3175">
                  <a:noFill/>
                </a:ln>
                <a:solidFill>
                  <a:schemeClr val="bg1"/>
                </a:solidFill>
                <a:latin typeface="BIZ UDPゴシック" panose="020B0400000000000000" pitchFamily="50" charset="-128"/>
                <a:ea typeface="BIZ UDPゴシック" panose="020B0400000000000000" pitchFamily="50" charset="-128"/>
              </a:rPr>
              <a:t>%</a:t>
            </a:r>
            <a:endParaRPr kumimoji="1" lang="ja-JP" altLang="en-US" sz="3600" b="1" dirty="0">
              <a:ln w="3175">
                <a:noFill/>
              </a:ln>
              <a:solidFill>
                <a:schemeClr val="bg1"/>
              </a:solidFill>
              <a:latin typeface="BIZ UDPゴシック" panose="020B0400000000000000" pitchFamily="50" charset="-128"/>
              <a:ea typeface="BIZ UDPゴシック" panose="020B0400000000000000" pitchFamily="50" charset="-128"/>
            </a:endParaRPr>
          </a:p>
        </p:txBody>
      </p:sp>
      <p:sp>
        <p:nvSpPr>
          <p:cNvPr id="19" name="テキスト ボックス 12">
            <a:extLst>
              <a:ext uri="{FF2B5EF4-FFF2-40B4-BE49-F238E27FC236}">
                <a16:creationId xmlns:a16="http://schemas.microsoft.com/office/drawing/2014/main" id="{D99FF937-31B6-DD6B-D198-EA3BDEE6CCE7}"/>
              </a:ext>
            </a:extLst>
          </p:cNvPr>
          <p:cNvSpPr txBox="1"/>
          <p:nvPr/>
        </p:nvSpPr>
        <p:spPr>
          <a:xfrm>
            <a:off x="6818734" y="3263504"/>
            <a:ext cx="1282761" cy="1077218"/>
          </a:xfrm>
          <a:prstGeom prst="rect">
            <a:avLst/>
          </a:prstGeom>
          <a:noFill/>
        </p:spPr>
        <p:txBody>
          <a:bodyPr wrap="square" rtlCol="0">
            <a:spAutoFit/>
          </a:bodyPr>
          <a:lstStyle/>
          <a:p>
            <a:pPr algn="ctr"/>
            <a:r>
              <a:rPr lang="en-US" altLang="ja-JP" sz="3200" b="1" dirty="0">
                <a:ln w="3175">
                  <a:noFill/>
                </a:ln>
                <a:solidFill>
                  <a:schemeClr val="bg1"/>
                </a:solidFill>
                <a:latin typeface="BIZ UDPゴシック" panose="020B0400000000000000" pitchFamily="50" charset="-128"/>
                <a:ea typeface="BIZ UDPゴシック" panose="020B0400000000000000" pitchFamily="50" charset="-128"/>
              </a:rPr>
              <a:t>ARM</a:t>
            </a:r>
          </a:p>
          <a:p>
            <a:pPr algn="ctr"/>
            <a:r>
              <a:rPr lang="en-US" altLang="ja-JP" sz="3200" b="1" dirty="0">
                <a:ln w="3175">
                  <a:noFill/>
                </a:ln>
                <a:solidFill>
                  <a:schemeClr val="bg1"/>
                </a:solidFill>
                <a:latin typeface="BIZ UDPゴシック" panose="020B0400000000000000" pitchFamily="50" charset="-128"/>
                <a:ea typeface="BIZ UDPゴシック" panose="020B0400000000000000" pitchFamily="50" charset="-128"/>
              </a:rPr>
              <a:t>22</a:t>
            </a:r>
            <a:r>
              <a:rPr kumimoji="1" lang="en-US" altLang="ja-JP" sz="3200" b="1" dirty="0">
                <a:ln w="3175">
                  <a:noFill/>
                </a:ln>
                <a:solidFill>
                  <a:schemeClr val="bg1"/>
                </a:solidFill>
                <a:latin typeface="BIZ UDPゴシック" panose="020B0400000000000000" pitchFamily="50" charset="-128"/>
                <a:ea typeface="BIZ UDPゴシック" panose="020B0400000000000000" pitchFamily="50" charset="-128"/>
              </a:rPr>
              <a:t>%</a:t>
            </a:r>
            <a:endParaRPr kumimoji="1" lang="ja-JP" altLang="en-US" sz="3200" b="1" dirty="0">
              <a:ln w="3175">
                <a:noFill/>
              </a:ln>
              <a:solidFill>
                <a:schemeClr val="bg1"/>
              </a:solidFill>
              <a:latin typeface="BIZ UDPゴシック" panose="020B0400000000000000" pitchFamily="50" charset="-128"/>
              <a:ea typeface="BIZ UDPゴシック" panose="020B0400000000000000" pitchFamily="50" charset="-128"/>
            </a:endParaRPr>
          </a:p>
        </p:txBody>
      </p:sp>
      <p:sp>
        <p:nvSpPr>
          <p:cNvPr id="21" name="テキスト ボックス 13">
            <a:extLst>
              <a:ext uri="{FF2B5EF4-FFF2-40B4-BE49-F238E27FC236}">
                <a16:creationId xmlns:a16="http://schemas.microsoft.com/office/drawing/2014/main" id="{2ADBBB2C-723B-13A6-CCEC-F3EDB702E0C5}"/>
              </a:ext>
            </a:extLst>
          </p:cNvPr>
          <p:cNvSpPr txBox="1"/>
          <p:nvPr/>
        </p:nvSpPr>
        <p:spPr>
          <a:xfrm rot="1405424">
            <a:off x="6673075" y="2745053"/>
            <a:ext cx="2047357" cy="384721"/>
          </a:xfrm>
          <a:prstGeom prst="rect">
            <a:avLst/>
          </a:prstGeom>
          <a:noFill/>
        </p:spPr>
        <p:txBody>
          <a:bodyPr wrap="square" rtlCol="0">
            <a:spAutoFit/>
          </a:bodyPr>
          <a:lstStyle/>
          <a:p>
            <a:pPr algn="ctr"/>
            <a:r>
              <a:rPr kumimoji="1" lang="en-US" altLang="ja-JP" sz="1900" b="1" dirty="0">
                <a:ln w="3175">
                  <a:noFill/>
                </a:ln>
                <a:solidFill>
                  <a:schemeClr val="bg1"/>
                </a:solidFill>
                <a:latin typeface="BIZ UDPゴシック" panose="020B0400000000000000" pitchFamily="50" charset="-128"/>
                <a:ea typeface="BIZ UDPゴシック" panose="020B0400000000000000" pitchFamily="50" charset="-128"/>
              </a:rPr>
              <a:t>GOOGLE 8</a:t>
            </a:r>
            <a:r>
              <a:rPr kumimoji="1" lang="en-US" altLang="ja-JP" b="1" dirty="0">
                <a:ln w="3175">
                  <a:noFill/>
                </a:ln>
                <a:solidFill>
                  <a:schemeClr val="bg1"/>
                </a:solidFill>
                <a:latin typeface="BIZ UDPゴシック" panose="020B0400000000000000" pitchFamily="50" charset="-128"/>
                <a:ea typeface="BIZ UDPゴシック" panose="020B0400000000000000" pitchFamily="50" charset="-128"/>
              </a:rPr>
              <a:t>%</a:t>
            </a:r>
            <a:endParaRPr kumimoji="1" lang="ja-JP" altLang="en-US" sz="1900" b="1" dirty="0">
              <a:ln w="3175">
                <a:noFill/>
              </a:ln>
              <a:solidFill>
                <a:schemeClr val="bg1"/>
              </a:solidFill>
              <a:latin typeface="BIZ UDPゴシック" panose="020B0400000000000000" pitchFamily="50" charset="-128"/>
              <a:ea typeface="BIZ UDPゴシック" panose="020B0400000000000000" pitchFamily="50" charset="-128"/>
            </a:endParaRPr>
          </a:p>
        </p:txBody>
      </p:sp>
      <p:sp>
        <p:nvSpPr>
          <p:cNvPr id="22" name="テキスト ボックス 10">
            <a:extLst>
              <a:ext uri="{FF2B5EF4-FFF2-40B4-BE49-F238E27FC236}">
                <a16:creationId xmlns:a16="http://schemas.microsoft.com/office/drawing/2014/main" id="{0530EC4D-7048-7936-5459-B968708C23A3}"/>
              </a:ext>
            </a:extLst>
          </p:cNvPr>
          <p:cNvSpPr txBox="1"/>
          <p:nvPr/>
        </p:nvSpPr>
        <p:spPr>
          <a:xfrm rot="2988170">
            <a:off x="7153136" y="2207475"/>
            <a:ext cx="1693955" cy="400110"/>
          </a:xfrm>
          <a:prstGeom prst="rect">
            <a:avLst/>
          </a:prstGeom>
          <a:noFill/>
        </p:spPr>
        <p:txBody>
          <a:bodyPr wrap="square" rtlCol="0">
            <a:spAutoFit/>
          </a:bodyPr>
          <a:lstStyle/>
          <a:p>
            <a:pPr algn="ctr"/>
            <a:r>
              <a:rPr kumimoji="1" lang="en-US" altLang="ja-JP" sz="2000" b="1" dirty="0">
                <a:ln w="3175">
                  <a:noFill/>
                </a:ln>
                <a:solidFill>
                  <a:schemeClr val="bg1"/>
                </a:solidFill>
                <a:latin typeface="BIZ UDPゴシック" panose="020B0400000000000000" pitchFamily="50" charset="-128"/>
                <a:ea typeface="BIZ UDPゴシック" panose="020B0400000000000000" pitchFamily="50" charset="-128"/>
              </a:rPr>
              <a:t>TSMC 7%</a:t>
            </a:r>
            <a:endParaRPr kumimoji="1" lang="ja-JP" altLang="en-US" sz="2000" b="1" dirty="0">
              <a:ln w="3175">
                <a:noFill/>
              </a:ln>
              <a:solidFill>
                <a:schemeClr val="bg1"/>
              </a:solidFill>
              <a:latin typeface="BIZ UDPゴシック" panose="020B0400000000000000" pitchFamily="50" charset="-128"/>
              <a:ea typeface="BIZ UDPゴシック" panose="020B0400000000000000" pitchFamily="50" charset="-128"/>
            </a:endParaRPr>
          </a:p>
        </p:txBody>
      </p:sp>
      <p:sp>
        <p:nvSpPr>
          <p:cNvPr id="23" name="テキスト ボックス 11">
            <a:extLst>
              <a:ext uri="{FF2B5EF4-FFF2-40B4-BE49-F238E27FC236}">
                <a16:creationId xmlns:a16="http://schemas.microsoft.com/office/drawing/2014/main" id="{4B52C7DA-B941-3049-728B-66E5FE3A5C21}"/>
              </a:ext>
            </a:extLst>
          </p:cNvPr>
          <p:cNvSpPr txBox="1"/>
          <p:nvPr/>
        </p:nvSpPr>
        <p:spPr>
          <a:xfrm rot="4554037">
            <a:off x="7502047" y="2138096"/>
            <a:ext cx="1979146" cy="338554"/>
          </a:xfrm>
          <a:prstGeom prst="rect">
            <a:avLst/>
          </a:prstGeom>
          <a:noFill/>
        </p:spPr>
        <p:txBody>
          <a:bodyPr wrap="square" rtlCol="0">
            <a:spAutoFit/>
          </a:bodyPr>
          <a:lstStyle/>
          <a:p>
            <a:pPr algn="ctr"/>
            <a:r>
              <a:rPr lang="en-US" altLang="ja-JP" sz="1600" b="1" dirty="0">
                <a:ln w="3175">
                  <a:noFill/>
                </a:ln>
                <a:solidFill>
                  <a:schemeClr val="bg1"/>
                </a:solidFill>
                <a:latin typeface="BIZ UDPゴシック" panose="020B0400000000000000" pitchFamily="50" charset="-128"/>
                <a:ea typeface="BIZ UDPゴシック" panose="020B0400000000000000" pitchFamily="50" charset="-128"/>
              </a:rPr>
              <a:t>AMAZON </a:t>
            </a:r>
            <a:r>
              <a:rPr kumimoji="1" lang="en-US" altLang="ja-JP" sz="1600" b="1" dirty="0">
                <a:ln w="3175">
                  <a:noFill/>
                </a:ln>
                <a:solidFill>
                  <a:schemeClr val="bg1"/>
                </a:solidFill>
                <a:latin typeface="BIZ UDPゴシック" panose="020B0400000000000000" pitchFamily="50" charset="-128"/>
                <a:ea typeface="BIZ UDPゴシック" panose="020B0400000000000000" pitchFamily="50" charset="-128"/>
              </a:rPr>
              <a:t>4%</a:t>
            </a:r>
            <a:endParaRPr kumimoji="1" lang="ja-JP" altLang="en-US" sz="1600" b="1" dirty="0">
              <a:ln w="3175">
                <a:noFill/>
              </a:ln>
              <a:solidFill>
                <a:schemeClr val="bg1"/>
              </a:solidFill>
              <a:latin typeface="BIZ UDPゴシック" panose="020B0400000000000000" pitchFamily="50" charset="-128"/>
              <a:ea typeface="BIZ UDPゴシック" panose="020B0400000000000000" pitchFamily="50" charset="-128"/>
            </a:endParaRPr>
          </a:p>
        </p:txBody>
      </p:sp>
      <p:sp>
        <p:nvSpPr>
          <p:cNvPr id="27" name="Slide Number Placeholder 26">
            <a:extLst>
              <a:ext uri="{FF2B5EF4-FFF2-40B4-BE49-F238E27FC236}">
                <a16:creationId xmlns:a16="http://schemas.microsoft.com/office/drawing/2014/main" id="{10FF139D-DBDF-2EC0-96F9-9C4EB65E857C}"/>
              </a:ext>
            </a:extLst>
          </p:cNvPr>
          <p:cNvSpPr>
            <a:spLocks noGrp="1"/>
          </p:cNvSpPr>
          <p:nvPr>
            <p:ph type="sldNum" sz="quarter" idx="12"/>
          </p:nvPr>
        </p:nvSpPr>
        <p:spPr/>
        <p:txBody>
          <a:bodyPr/>
          <a:lstStyle/>
          <a:p>
            <a:fld id="{F42732FB-2277-442C-9711-A45410BE01D8}" type="slidenum">
              <a:rPr kumimoji="1" lang="ja-JP" altLang="en-US" smtClean="0"/>
              <a:t>20</a:t>
            </a:fld>
            <a:endParaRPr kumimoji="1" lang="ja-JP" altLang="en-US"/>
          </a:p>
        </p:txBody>
      </p:sp>
    </p:spTree>
    <p:extLst>
      <p:ext uri="{BB962C8B-B14F-4D97-AF65-F5344CB8AC3E}">
        <p14:creationId xmlns:p14="http://schemas.microsoft.com/office/powerpoint/2010/main" val="4140306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4966BF6-826A-CA25-6F06-BECB0C6D2ADC}"/>
              </a:ext>
            </a:extLst>
          </p:cNvPr>
          <p:cNvSpPr txBox="1"/>
          <p:nvPr/>
        </p:nvSpPr>
        <p:spPr>
          <a:xfrm>
            <a:off x="298127" y="48985"/>
            <a:ext cx="2528888" cy="1200329"/>
          </a:xfrm>
          <a:prstGeom prst="rect">
            <a:avLst/>
          </a:prstGeom>
          <a:noFill/>
        </p:spPr>
        <p:txBody>
          <a:bodyPr wrap="square" rtlCol="0">
            <a:spAutoFit/>
          </a:bodyPr>
          <a:lstStyle/>
          <a:p>
            <a:r>
              <a:rPr lang="ja-JP" altLang="en-US" sz="7200" b="1" dirty="0">
                <a:latin typeface="BIZ UDPゴシック" panose="020B0400000000000000" pitchFamily="50" charset="-128"/>
                <a:ea typeface="BIZ UDPゴシック" panose="020B0400000000000000" pitchFamily="50" charset="-128"/>
              </a:rPr>
              <a:t>概要</a:t>
            </a:r>
            <a:endParaRPr kumimoji="1" lang="ja-JP" altLang="en-US" sz="72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D4D9287B-69AC-5AC8-4D6D-B72599E75D67}"/>
              </a:ext>
            </a:extLst>
          </p:cNvPr>
          <p:cNvSpPr txBox="1"/>
          <p:nvPr/>
        </p:nvSpPr>
        <p:spPr>
          <a:xfrm>
            <a:off x="1366096" y="1519591"/>
            <a:ext cx="9905469" cy="1138773"/>
          </a:xfrm>
          <a:prstGeom prst="rect">
            <a:avLst/>
          </a:prstGeom>
          <a:noFill/>
        </p:spPr>
        <p:txBody>
          <a:bodyPr wrap="square" rtlCol="0">
            <a:spAutoFit/>
          </a:bodyPr>
          <a:lstStyle/>
          <a:p>
            <a:r>
              <a:rPr kumimoji="1" lang="ja-JP" altLang="en-US" sz="4000" dirty="0">
                <a:latin typeface="BIZ UDPゴシック" panose="020B0400000000000000" pitchFamily="50" charset="-128"/>
                <a:ea typeface="BIZ UDPゴシック" panose="020B0400000000000000" pitchFamily="50" charset="-128"/>
              </a:rPr>
              <a:t>投資家は何を指標に株を買っているのか</a:t>
            </a:r>
            <a:r>
              <a:rPr kumimoji="1" lang="en-US" altLang="ja-JP" sz="4000" dirty="0">
                <a:latin typeface="BIZ UDPゴシック" panose="020B0400000000000000" pitchFamily="50" charset="-128"/>
                <a:ea typeface="BIZ UDPゴシック" panose="020B0400000000000000" pitchFamily="50" charset="-128"/>
              </a:rPr>
              <a:t>?</a:t>
            </a:r>
          </a:p>
          <a:p>
            <a:r>
              <a:rPr kumimoji="1" lang="en-US" altLang="ja-JP" sz="2800" dirty="0">
                <a:latin typeface="BIZ UDPゴシック" panose="020B0400000000000000" pitchFamily="50" charset="-128"/>
                <a:ea typeface="BIZ UDPゴシック" panose="020B0400000000000000" pitchFamily="50" charset="-128"/>
              </a:rPr>
              <a:t>(</a:t>
            </a:r>
            <a:r>
              <a:rPr kumimoji="1" lang="ja-JP" altLang="en-US" sz="2800" dirty="0">
                <a:latin typeface="BIZ UDPゴシック" panose="020B0400000000000000" pitchFamily="50" charset="-128"/>
                <a:ea typeface="BIZ UDPゴシック" panose="020B0400000000000000" pitchFamily="50" charset="-128"/>
              </a:rPr>
              <a:t>⇩こんな感じ</a:t>
            </a:r>
            <a:r>
              <a:rPr kumimoji="1" lang="ja-JP" altLang="en-US" sz="2800" dirty="0" err="1">
                <a:latin typeface="BIZ UDPゴシック" panose="020B0400000000000000" pitchFamily="50" charset="-128"/>
                <a:ea typeface="BIZ UDPゴシック" panose="020B0400000000000000" pitchFamily="50" charset="-128"/>
              </a:rPr>
              <a:t>な</a:t>
            </a:r>
            <a:r>
              <a:rPr kumimoji="1" lang="ja-JP" altLang="en-US" sz="2800" dirty="0">
                <a:latin typeface="BIZ UDPゴシック" panose="020B0400000000000000" pitchFamily="50" charset="-128"/>
                <a:ea typeface="BIZ UDPゴシック" panose="020B0400000000000000" pitchFamily="50" charset="-128"/>
              </a:rPr>
              <a:t>グラフとにらめっこだけしてるわけではない</a:t>
            </a:r>
            <a:r>
              <a:rPr kumimoji="1" lang="en-US" altLang="ja-JP" sz="2800" dirty="0">
                <a:latin typeface="BIZ UDPゴシック" panose="020B0400000000000000" pitchFamily="50" charset="-128"/>
                <a:ea typeface="BIZ UDPゴシック" panose="020B0400000000000000" pitchFamily="50" charset="-128"/>
              </a:rPr>
              <a:t>)</a:t>
            </a:r>
            <a:endParaRPr kumimoji="1" lang="ja-JP" altLang="en-US" sz="2800" dirty="0">
              <a:latin typeface="BIZ UDPゴシック" panose="020B0400000000000000" pitchFamily="50" charset="-128"/>
              <a:ea typeface="BIZ UDPゴシック" panose="020B0400000000000000" pitchFamily="50" charset="-128"/>
            </a:endParaRPr>
          </a:p>
        </p:txBody>
      </p:sp>
      <p:pic>
        <p:nvPicPr>
          <p:cNvPr id="4" name="図 3">
            <a:extLst>
              <a:ext uri="{FF2B5EF4-FFF2-40B4-BE49-F238E27FC236}">
                <a16:creationId xmlns:a16="http://schemas.microsoft.com/office/drawing/2014/main" id="{19D0CEAA-90FA-6892-2C80-15938DC5041F}"/>
              </a:ext>
            </a:extLst>
          </p:cNvPr>
          <p:cNvPicPr>
            <a:picLocks noChangeAspect="1"/>
          </p:cNvPicPr>
          <p:nvPr/>
        </p:nvPicPr>
        <p:blipFill>
          <a:blip r:embed="rId3"/>
          <a:stretch>
            <a:fillRect/>
          </a:stretch>
        </p:blipFill>
        <p:spPr>
          <a:xfrm>
            <a:off x="3425364" y="2928641"/>
            <a:ext cx="5341271" cy="3633517"/>
          </a:xfrm>
          <a:prstGeom prst="rect">
            <a:avLst/>
          </a:prstGeom>
          <a:ln>
            <a:solidFill>
              <a:schemeClr val="bg2">
                <a:lumMod val="75000"/>
              </a:schemeClr>
            </a:solidFill>
          </a:ln>
        </p:spPr>
      </p:pic>
      <p:sp>
        <p:nvSpPr>
          <p:cNvPr id="5" name="Slide Number Placeholder 4">
            <a:extLst>
              <a:ext uri="{FF2B5EF4-FFF2-40B4-BE49-F238E27FC236}">
                <a16:creationId xmlns:a16="http://schemas.microsoft.com/office/drawing/2014/main" id="{406FFDD0-A06A-8AB1-AF65-E2CE5BED7149}"/>
              </a:ext>
            </a:extLst>
          </p:cNvPr>
          <p:cNvSpPr>
            <a:spLocks noGrp="1"/>
          </p:cNvSpPr>
          <p:nvPr>
            <p:ph type="sldNum" sz="quarter" idx="12"/>
          </p:nvPr>
        </p:nvSpPr>
        <p:spPr/>
        <p:txBody>
          <a:bodyPr/>
          <a:lstStyle/>
          <a:p>
            <a:fld id="{F42732FB-2277-442C-9711-A45410BE01D8}" type="slidenum">
              <a:rPr kumimoji="1" lang="ja-JP" altLang="en-US" smtClean="0"/>
              <a:t>21</a:t>
            </a:fld>
            <a:endParaRPr kumimoji="1" lang="ja-JP" altLang="en-US"/>
          </a:p>
        </p:txBody>
      </p:sp>
    </p:spTree>
    <p:extLst>
      <p:ext uri="{BB962C8B-B14F-4D97-AF65-F5344CB8AC3E}">
        <p14:creationId xmlns:p14="http://schemas.microsoft.com/office/powerpoint/2010/main" val="3752831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5C538-6951-58F3-DD15-48A0FA6680F1}"/>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AB57036E-0043-932F-7C1B-508B870A6E6E}"/>
              </a:ext>
            </a:extLst>
          </p:cNvPr>
          <p:cNvSpPr txBox="1"/>
          <p:nvPr/>
        </p:nvSpPr>
        <p:spPr>
          <a:xfrm>
            <a:off x="239598" y="1505396"/>
            <a:ext cx="11712804" cy="4955203"/>
          </a:xfrm>
          <a:prstGeom prst="rect">
            <a:avLst/>
          </a:prstGeom>
          <a:noFill/>
        </p:spPr>
        <p:txBody>
          <a:bodyPr wrap="square" rtlCol="0">
            <a:spAutoFit/>
          </a:bodyPr>
          <a:lstStyle/>
          <a:p>
            <a:pPr marL="571500" indent="-571500">
              <a:buFont typeface="Arial" panose="020B0604020202020204" pitchFamily="34" charset="0"/>
              <a:buChar char="•"/>
            </a:pPr>
            <a:r>
              <a:rPr lang="ja-JP" altLang="en-US" sz="3600" b="0" dirty="0">
                <a:effectLst/>
                <a:latin typeface="BIZ UDPGothic" panose="020B0400000000000000" pitchFamily="34" charset="-128"/>
                <a:ea typeface="BIZ UDPGothic" panose="020B0400000000000000" pitchFamily="34" charset="-128"/>
              </a:rPr>
              <a:t>社会・経済指標などの時系列予測を精度よく行うためには、社会に影響を与える事象をモデルに定量的に入れる必要がある</a:t>
            </a:r>
            <a:endParaRPr lang="en-US" altLang="ja-JP" sz="2800" b="0" dirty="0">
              <a:solidFill>
                <a:schemeClr val="bg2">
                  <a:lumMod val="50000"/>
                </a:schemeClr>
              </a:solidFill>
              <a:effectLst/>
              <a:latin typeface="BIZ UDPゴシック" panose="020B0400000000000000" pitchFamily="50" charset="-128"/>
              <a:ea typeface="BIZ UDPゴシック" panose="020B0400000000000000" pitchFamily="50" charset="-128"/>
            </a:endParaRPr>
          </a:p>
          <a:p>
            <a:pPr marL="571500" indent="-571500">
              <a:buFont typeface="Arial" panose="020B0604020202020204" pitchFamily="34" charset="0"/>
              <a:buChar char="•"/>
            </a:pPr>
            <a:endParaRPr kumimoji="1" lang="en-US" altLang="ja-JP" sz="2800" dirty="0">
              <a:solidFill>
                <a:schemeClr val="bg2">
                  <a:lumMod val="50000"/>
                </a:schemeClr>
              </a:solidFill>
              <a:latin typeface="BIZ UDPゴシック" panose="020B0400000000000000" pitchFamily="50" charset="-128"/>
              <a:ea typeface="BIZ UDPゴシック" panose="020B0400000000000000" pitchFamily="50" charset="-128"/>
            </a:endParaRPr>
          </a:p>
          <a:p>
            <a:pPr marL="571500" indent="-571500">
              <a:buFont typeface="Arial" panose="020B0604020202020204" pitchFamily="34" charset="0"/>
              <a:buChar char="•"/>
            </a:pPr>
            <a:r>
              <a:rPr kumimoji="1" lang="ja-JP" altLang="en-US" sz="3600" dirty="0">
                <a:latin typeface="BIZ UDPGothic" panose="020B0400000000000000" pitchFamily="34" charset="-128"/>
                <a:ea typeface="BIZ UDPGothic" panose="020B0400000000000000" pitchFamily="34" charset="-128"/>
              </a:rPr>
              <a:t>一般によく利用される時系列予測モデルでは、数値を入力とすることが多い半面、社会的な事象の多くは、文章や映像で伝えられるのが事実である</a:t>
            </a:r>
            <a:endParaRPr kumimoji="1" lang="en-GB" altLang="ja-JP" sz="3600" dirty="0">
              <a:latin typeface="BIZ UDPGothic" panose="020B0400000000000000" pitchFamily="34" charset="-128"/>
              <a:ea typeface="BIZ UDPGothic" panose="020B0400000000000000" pitchFamily="34" charset="-128"/>
            </a:endParaRPr>
          </a:p>
          <a:p>
            <a:pPr marL="571500" indent="-571500">
              <a:buFont typeface="Arial" panose="020B0604020202020204" pitchFamily="34" charset="0"/>
              <a:buChar char="•"/>
            </a:pPr>
            <a:endParaRPr lang="en-GB" altLang="ja-JP" sz="3600" dirty="0">
              <a:latin typeface="BIZ UDPGothic" panose="020B0400000000000000" pitchFamily="34" charset="-128"/>
              <a:ea typeface="BIZ UDPGothic" panose="020B0400000000000000" pitchFamily="34" charset="-128"/>
            </a:endParaRPr>
          </a:p>
          <a:p>
            <a:pPr marL="571500" indent="-571500">
              <a:buFont typeface="Arial" panose="020B0604020202020204" pitchFamily="34" charset="0"/>
              <a:buChar char="•"/>
            </a:pPr>
            <a:r>
              <a:rPr kumimoji="1" lang="ja-JP" altLang="en-US" sz="3600" dirty="0">
                <a:latin typeface="BIZ UDPGothic" panose="020B0400000000000000" pitchFamily="34" charset="-128"/>
                <a:ea typeface="BIZ UDPGothic" panose="020B0400000000000000" pitchFamily="34" charset="-128"/>
              </a:rPr>
              <a:t>今回は一例として株価の時系列予測を</a:t>
            </a:r>
            <a:endParaRPr kumimoji="1" lang="en-US" altLang="ja-JP" sz="3600" dirty="0">
              <a:latin typeface="BIZ UDPGothic" panose="020B0400000000000000" pitchFamily="34" charset="-128"/>
              <a:ea typeface="BIZ UDPGothic" panose="020B0400000000000000" pitchFamily="34" charset="-128"/>
            </a:endParaRPr>
          </a:p>
        </p:txBody>
      </p:sp>
      <p:sp>
        <p:nvSpPr>
          <p:cNvPr id="2" name="テキスト ボックス 1">
            <a:extLst>
              <a:ext uri="{FF2B5EF4-FFF2-40B4-BE49-F238E27FC236}">
                <a16:creationId xmlns:a16="http://schemas.microsoft.com/office/drawing/2014/main" id="{E49DC944-E8F4-6FBE-AC99-E18B6A475E2F}"/>
              </a:ext>
            </a:extLst>
          </p:cNvPr>
          <p:cNvSpPr txBox="1"/>
          <p:nvPr/>
        </p:nvSpPr>
        <p:spPr>
          <a:xfrm>
            <a:off x="247327" y="188445"/>
            <a:ext cx="3376406" cy="1200329"/>
          </a:xfrm>
          <a:prstGeom prst="rect">
            <a:avLst/>
          </a:prstGeom>
          <a:noFill/>
        </p:spPr>
        <p:txBody>
          <a:bodyPr wrap="square" rtlCol="0">
            <a:spAutoFit/>
          </a:bodyPr>
          <a:lstStyle/>
          <a:p>
            <a:r>
              <a:rPr kumimoji="1" lang="ja-JP" altLang="en-US" sz="7200" b="1" dirty="0">
                <a:latin typeface="BIZ UDPゴシック" panose="020B0400000000000000" pitchFamily="50" charset="-128"/>
                <a:ea typeface="BIZ UDPゴシック" panose="020B0400000000000000" pitchFamily="50" charset="-128"/>
              </a:rPr>
              <a:t>初めに</a:t>
            </a:r>
          </a:p>
        </p:txBody>
      </p:sp>
      <p:sp>
        <p:nvSpPr>
          <p:cNvPr id="3" name="Slide Number Placeholder 2">
            <a:extLst>
              <a:ext uri="{FF2B5EF4-FFF2-40B4-BE49-F238E27FC236}">
                <a16:creationId xmlns:a16="http://schemas.microsoft.com/office/drawing/2014/main" id="{A40D17C6-D9D6-336E-9C55-56D77DAC3CCA}"/>
              </a:ext>
            </a:extLst>
          </p:cNvPr>
          <p:cNvSpPr>
            <a:spLocks noGrp="1"/>
          </p:cNvSpPr>
          <p:nvPr>
            <p:ph type="sldNum" sz="quarter" idx="12"/>
          </p:nvPr>
        </p:nvSpPr>
        <p:spPr/>
        <p:txBody>
          <a:bodyPr/>
          <a:lstStyle/>
          <a:p>
            <a:fld id="{F42732FB-2277-442C-9711-A45410BE01D8}" type="slidenum">
              <a:rPr kumimoji="1" lang="ja-JP" altLang="en-US" smtClean="0"/>
              <a:t>22</a:t>
            </a:fld>
            <a:endParaRPr kumimoji="1" lang="ja-JP" altLang="en-US"/>
          </a:p>
        </p:txBody>
      </p:sp>
      <p:sp>
        <p:nvSpPr>
          <p:cNvPr id="4" name="テキスト ボックス 1">
            <a:extLst>
              <a:ext uri="{FF2B5EF4-FFF2-40B4-BE49-F238E27FC236}">
                <a16:creationId xmlns:a16="http://schemas.microsoft.com/office/drawing/2014/main" id="{1C1F9EFB-8766-0D43-6B37-77BE1837D277}"/>
              </a:ext>
            </a:extLst>
          </p:cNvPr>
          <p:cNvSpPr txBox="1"/>
          <p:nvPr/>
        </p:nvSpPr>
        <p:spPr>
          <a:xfrm>
            <a:off x="8880505" y="0"/>
            <a:ext cx="3376406" cy="1015663"/>
          </a:xfrm>
          <a:prstGeom prst="rect">
            <a:avLst/>
          </a:prstGeom>
          <a:noFill/>
        </p:spPr>
        <p:txBody>
          <a:bodyPr wrap="square" rtlCol="0">
            <a:spAutoFit/>
          </a:bodyPr>
          <a:lstStyle/>
          <a:p>
            <a:r>
              <a:rPr kumimoji="1" lang="ja-JP" altLang="en-US" sz="6000" dirty="0">
                <a:latin typeface="BIZ UDPゴシック" panose="020B0400000000000000" pitchFamily="50" charset="-128"/>
                <a:ea typeface="BIZ UDPゴシック" panose="020B0400000000000000" pitchFamily="50" charset="-128"/>
              </a:rPr>
              <a:t>要</a:t>
            </a:r>
            <a:r>
              <a:rPr lang="ja-JP" altLang="en-US" sz="6000" dirty="0">
                <a:latin typeface="BIZ UDPゴシック" panose="020B0400000000000000" pitchFamily="50" charset="-128"/>
                <a:ea typeface="BIZ UDPゴシック" panose="020B0400000000000000" pitchFamily="50" charset="-128"/>
              </a:rPr>
              <a:t>　</a:t>
            </a:r>
            <a:r>
              <a:rPr kumimoji="1" lang="ja-JP" altLang="en-US" sz="6000" dirty="0">
                <a:latin typeface="BIZ UDPゴシック" panose="020B0400000000000000" pitchFamily="50" charset="-128"/>
                <a:ea typeface="BIZ UDPゴシック" panose="020B0400000000000000" pitchFamily="50" charset="-128"/>
              </a:rPr>
              <a:t>要約</a:t>
            </a:r>
          </a:p>
        </p:txBody>
      </p:sp>
    </p:spTree>
    <p:extLst>
      <p:ext uri="{BB962C8B-B14F-4D97-AF65-F5344CB8AC3E}">
        <p14:creationId xmlns:p14="http://schemas.microsoft.com/office/powerpoint/2010/main" val="1685123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9816DF4-50D0-78DE-9786-EE01CB92CA08}"/>
              </a:ext>
            </a:extLst>
          </p:cNvPr>
          <p:cNvSpPr txBox="1"/>
          <p:nvPr/>
        </p:nvSpPr>
        <p:spPr>
          <a:xfrm>
            <a:off x="298127" y="48985"/>
            <a:ext cx="2528888" cy="1200329"/>
          </a:xfrm>
          <a:prstGeom prst="rect">
            <a:avLst/>
          </a:prstGeom>
          <a:noFill/>
        </p:spPr>
        <p:txBody>
          <a:bodyPr wrap="square" rtlCol="0">
            <a:spAutoFit/>
          </a:bodyPr>
          <a:lstStyle/>
          <a:p>
            <a:r>
              <a:rPr lang="ja-JP" altLang="en-US" sz="7200" b="1" dirty="0">
                <a:latin typeface="BIZ UDPゴシック" panose="020B0400000000000000" pitchFamily="50" charset="-128"/>
                <a:ea typeface="BIZ UDPゴシック" panose="020B0400000000000000" pitchFamily="50" charset="-128"/>
              </a:rPr>
              <a:t>概要</a:t>
            </a:r>
            <a:endParaRPr kumimoji="1" lang="ja-JP" altLang="en-US" sz="7200" b="1" dirty="0">
              <a:latin typeface="BIZ UDPゴシック" panose="020B0400000000000000" pitchFamily="50" charset="-128"/>
              <a:ea typeface="BIZ UDPゴシック" panose="020B0400000000000000" pitchFamily="50" charset="-128"/>
            </a:endParaRPr>
          </a:p>
        </p:txBody>
      </p:sp>
      <p:pic>
        <p:nvPicPr>
          <p:cNvPr id="7" name="図 6">
            <a:extLst>
              <a:ext uri="{FF2B5EF4-FFF2-40B4-BE49-F238E27FC236}">
                <a16:creationId xmlns:a16="http://schemas.microsoft.com/office/drawing/2014/main" id="{3A9D6835-4D7B-FD26-9937-F89AC4934844}"/>
              </a:ext>
            </a:extLst>
          </p:cNvPr>
          <p:cNvPicPr>
            <a:picLocks noChangeAspect="1"/>
          </p:cNvPicPr>
          <p:nvPr/>
        </p:nvPicPr>
        <p:blipFill>
          <a:blip r:embed="rId3"/>
          <a:stretch>
            <a:fillRect/>
          </a:stretch>
        </p:blipFill>
        <p:spPr>
          <a:xfrm>
            <a:off x="816257" y="2790527"/>
            <a:ext cx="4572968" cy="2893209"/>
          </a:xfrm>
          <a:prstGeom prst="rect">
            <a:avLst/>
          </a:prstGeom>
          <a:ln>
            <a:solidFill>
              <a:schemeClr val="bg2">
                <a:lumMod val="75000"/>
              </a:schemeClr>
            </a:solidFill>
          </a:ln>
        </p:spPr>
      </p:pic>
      <p:sp>
        <p:nvSpPr>
          <p:cNvPr id="14" name="テキスト ボックス 13">
            <a:extLst>
              <a:ext uri="{FF2B5EF4-FFF2-40B4-BE49-F238E27FC236}">
                <a16:creationId xmlns:a16="http://schemas.microsoft.com/office/drawing/2014/main" id="{1EDDC91B-17ED-ED3B-7462-29BEA8064521}"/>
              </a:ext>
            </a:extLst>
          </p:cNvPr>
          <p:cNvSpPr txBox="1"/>
          <p:nvPr/>
        </p:nvSpPr>
        <p:spPr>
          <a:xfrm>
            <a:off x="816257" y="2155227"/>
            <a:ext cx="5190144" cy="523220"/>
          </a:xfrm>
          <a:prstGeom prst="rect">
            <a:avLst/>
          </a:prstGeom>
          <a:noFill/>
        </p:spPr>
        <p:txBody>
          <a:bodyPr wrap="square" rtlCol="0">
            <a:spAutoFit/>
          </a:bodyPr>
          <a:lstStyle/>
          <a:p>
            <a:r>
              <a:rPr kumimoji="1" lang="ja-JP" altLang="en-US" sz="2800" dirty="0">
                <a:latin typeface="BIZ UDPゴシック" panose="020B0400000000000000" pitchFamily="50" charset="-128"/>
                <a:ea typeface="BIZ UDPゴシック" panose="020B0400000000000000" pitchFamily="50" charset="-128"/>
              </a:rPr>
              <a:t>恐怖指数</a:t>
            </a:r>
            <a:r>
              <a:rPr lang="en-US" altLang="ja-JP" sz="2400" dirty="0">
                <a:latin typeface="BIZ UDPゴシック" panose="020B0400000000000000" pitchFamily="50" charset="-128"/>
                <a:ea typeface="BIZ UDPゴシック" panose="020B0400000000000000" pitchFamily="50" charset="-128"/>
              </a:rPr>
              <a:t>(Volatility Index)</a:t>
            </a:r>
            <a:endParaRPr kumimoji="1" lang="ja-JP" altLang="en-US" sz="2800" dirty="0">
              <a:latin typeface="BIZ UDPゴシック" panose="020B0400000000000000" pitchFamily="50" charset="-128"/>
              <a:ea typeface="BIZ UDPゴシック" panose="020B0400000000000000" pitchFamily="50" charset="-128"/>
            </a:endParaRPr>
          </a:p>
        </p:txBody>
      </p:sp>
      <p:pic>
        <p:nvPicPr>
          <p:cNvPr id="4" name="図 3">
            <a:extLst>
              <a:ext uri="{FF2B5EF4-FFF2-40B4-BE49-F238E27FC236}">
                <a16:creationId xmlns:a16="http://schemas.microsoft.com/office/drawing/2014/main" id="{25FFC761-A9F4-37A5-3FEB-B564C9ACE5FC}"/>
              </a:ext>
            </a:extLst>
          </p:cNvPr>
          <p:cNvPicPr>
            <a:picLocks noChangeAspect="1"/>
          </p:cNvPicPr>
          <p:nvPr/>
        </p:nvPicPr>
        <p:blipFill>
          <a:blip r:embed="rId4"/>
          <a:stretch>
            <a:fillRect/>
          </a:stretch>
        </p:blipFill>
        <p:spPr>
          <a:xfrm>
            <a:off x="6454372" y="2790526"/>
            <a:ext cx="4564376" cy="2893209"/>
          </a:xfrm>
          <a:prstGeom prst="rect">
            <a:avLst/>
          </a:prstGeom>
          <a:ln>
            <a:solidFill>
              <a:schemeClr val="bg2">
                <a:lumMod val="75000"/>
              </a:schemeClr>
            </a:solidFill>
          </a:ln>
        </p:spPr>
      </p:pic>
      <p:sp>
        <p:nvSpPr>
          <p:cNvPr id="5" name="テキスト ボックス 4">
            <a:extLst>
              <a:ext uri="{FF2B5EF4-FFF2-40B4-BE49-F238E27FC236}">
                <a16:creationId xmlns:a16="http://schemas.microsoft.com/office/drawing/2014/main" id="{8B5BC4FA-41DF-33E1-05BB-0506A73F38CE}"/>
              </a:ext>
            </a:extLst>
          </p:cNvPr>
          <p:cNvSpPr txBox="1"/>
          <p:nvPr/>
        </p:nvSpPr>
        <p:spPr>
          <a:xfrm>
            <a:off x="507669" y="1276410"/>
            <a:ext cx="5190144" cy="646331"/>
          </a:xfrm>
          <a:prstGeom prst="rect">
            <a:avLst/>
          </a:prstGeom>
          <a:noFill/>
        </p:spPr>
        <p:txBody>
          <a:bodyPr wrap="square" rtlCol="0">
            <a:spAutoFit/>
          </a:bodyPr>
          <a:lstStyle/>
          <a:p>
            <a:r>
              <a:rPr kumimoji="1" lang="en-US" altLang="ja-JP" sz="3600" dirty="0">
                <a:latin typeface="BIZ UDPゴシック" panose="020B0400000000000000" pitchFamily="50" charset="-128"/>
                <a:ea typeface="BIZ UDPゴシック" panose="020B0400000000000000" pitchFamily="50" charset="-128"/>
              </a:rPr>
              <a:t>1. </a:t>
            </a:r>
            <a:r>
              <a:rPr kumimoji="1" lang="ja-JP" altLang="en-US" sz="3600" dirty="0">
                <a:latin typeface="BIZ UDPゴシック" panose="020B0400000000000000" pitchFamily="50" charset="-128"/>
                <a:ea typeface="BIZ UDPゴシック" panose="020B0400000000000000" pitchFamily="50" charset="-128"/>
              </a:rPr>
              <a:t>指数を基準にする</a:t>
            </a:r>
          </a:p>
        </p:txBody>
      </p:sp>
      <p:sp>
        <p:nvSpPr>
          <p:cNvPr id="6" name="テキスト ボックス 5">
            <a:extLst>
              <a:ext uri="{FF2B5EF4-FFF2-40B4-BE49-F238E27FC236}">
                <a16:creationId xmlns:a16="http://schemas.microsoft.com/office/drawing/2014/main" id="{9F9D6AD7-4944-AA38-55B9-16559FF5D830}"/>
              </a:ext>
            </a:extLst>
          </p:cNvPr>
          <p:cNvSpPr txBox="1"/>
          <p:nvPr/>
        </p:nvSpPr>
        <p:spPr>
          <a:xfrm>
            <a:off x="5839420" y="2128569"/>
            <a:ext cx="5794281" cy="523220"/>
          </a:xfrm>
          <a:prstGeom prst="rect">
            <a:avLst/>
          </a:prstGeom>
          <a:noFill/>
        </p:spPr>
        <p:txBody>
          <a:bodyPr wrap="square" rtlCol="0">
            <a:spAutoFit/>
          </a:bodyPr>
          <a:lstStyle/>
          <a:p>
            <a:r>
              <a:rPr kumimoji="1" lang="ja-JP" altLang="en-US" sz="2800" dirty="0">
                <a:latin typeface="BIZ UDPゴシック" panose="020B0400000000000000" pitchFamily="50" charset="-128"/>
                <a:ea typeface="BIZ UDPゴシック" panose="020B0400000000000000" pitchFamily="50" charset="-128"/>
              </a:rPr>
              <a:t>フィラデルフィア半導体指数</a:t>
            </a:r>
            <a:r>
              <a:rPr kumimoji="1" lang="en-US" altLang="ja-JP" sz="2800" dirty="0">
                <a:latin typeface="BIZ UDPゴシック" panose="020B0400000000000000" pitchFamily="50" charset="-128"/>
                <a:ea typeface="BIZ UDPゴシック" panose="020B0400000000000000" pitchFamily="50" charset="-128"/>
              </a:rPr>
              <a:t>(SOX)</a:t>
            </a:r>
            <a:endParaRPr kumimoji="1" lang="ja-JP" altLang="en-US" sz="2800" dirty="0">
              <a:latin typeface="BIZ UDPゴシック" panose="020B0400000000000000" pitchFamily="50" charset="-128"/>
              <a:ea typeface="BIZ UDPゴシック" panose="020B0400000000000000" pitchFamily="50" charset="-128"/>
            </a:endParaRPr>
          </a:p>
        </p:txBody>
      </p:sp>
      <p:sp>
        <p:nvSpPr>
          <p:cNvPr id="3" name="Slide Number Placeholder 2">
            <a:extLst>
              <a:ext uri="{FF2B5EF4-FFF2-40B4-BE49-F238E27FC236}">
                <a16:creationId xmlns:a16="http://schemas.microsoft.com/office/drawing/2014/main" id="{2477CA47-1D1F-39A6-3F26-D14FCE8C77E0}"/>
              </a:ext>
            </a:extLst>
          </p:cNvPr>
          <p:cNvSpPr>
            <a:spLocks noGrp="1"/>
          </p:cNvSpPr>
          <p:nvPr>
            <p:ph type="sldNum" sz="quarter" idx="12"/>
          </p:nvPr>
        </p:nvSpPr>
        <p:spPr/>
        <p:txBody>
          <a:bodyPr/>
          <a:lstStyle/>
          <a:p>
            <a:fld id="{F42732FB-2277-442C-9711-A45410BE01D8}" type="slidenum">
              <a:rPr kumimoji="1" lang="ja-JP" altLang="en-US" smtClean="0"/>
              <a:t>23</a:t>
            </a:fld>
            <a:endParaRPr kumimoji="1" lang="ja-JP" altLang="en-US"/>
          </a:p>
        </p:txBody>
      </p:sp>
    </p:spTree>
    <p:extLst>
      <p:ext uri="{BB962C8B-B14F-4D97-AF65-F5344CB8AC3E}">
        <p14:creationId xmlns:p14="http://schemas.microsoft.com/office/powerpoint/2010/main" val="35027355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グループ化 4">
            <a:extLst>
              <a:ext uri="{FF2B5EF4-FFF2-40B4-BE49-F238E27FC236}">
                <a16:creationId xmlns:a16="http://schemas.microsoft.com/office/drawing/2014/main" id="{2C38A002-A584-D33E-8BFC-B4A146BA26CC}"/>
              </a:ext>
            </a:extLst>
          </p:cNvPr>
          <p:cNvGrpSpPr/>
          <p:nvPr/>
        </p:nvGrpSpPr>
        <p:grpSpPr>
          <a:xfrm>
            <a:off x="8632332" y="2321004"/>
            <a:ext cx="3559668" cy="1357851"/>
            <a:chOff x="8632332" y="2321004"/>
            <a:chExt cx="3559668" cy="1357851"/>
          </a:xfrm>
        </p:grpSpPr>
        <p:sp>
          <p:nvSpPr>
            <p:cNvPr id="10" name="テキスト ボックス 9">
              <a:extLst>
                <a:ext uri="{FF2B5EF4-FFF2-40B4-BE49-F238E27FC236}">
                  <a16:creationId xmlns:a16="http://schemas.microsoft.com/office/drawing/2014/main" id="{339AD40E-995E-E969-2039-4698B1FACBDA}"/>
                </a:ext>
              </a:extLst>
            </p:cNvPr>
            <p:cNvSpPr txBox="1"/>
            <p:nvPr/>
          </p:nvSpPr>
          <p:spPr>
            <a:xfrm>
              <a:off x="8632332" y="2321004"/>
              <a:ext cx="3055691" cy="1107996"/>
            </a:xfrm>
            <a:prstGeom prst="rect">
              <a:avLst/>
            </a:prstGeom>
            <a:noFill/>
          </p:spPr>
          <p:txBody>
            <a:bodyPr wrap="square" rtlCol="0">
              <a:spAutoFit/>
            </a:bodyPr>
            <a:lstStyle/>
            <a:p>
              <a:r>
                <a:rPr lang="ja-JP" altLang="en-US" sz="2400" dirty="0">
                  <a:latin typeface="BIZ UDPゴシック" panose="020B0400000000000000" pitchFamily="50" charset="-128"/>
                  <a:ea typeface="BIZ UDPゴシック" panose="020B0400000000000000" pitchFamily="50" charset="-128"/>
                </a:rPr>
                <a:t>このニュースがプラスだと考えるなら</a:t>
              </a:r>
              <a:r>
                <a:rPr lang="en-US" altLang="ja-JP" sz="2400" dirty="0">
                  <a:latin typeface="BIZ UDPゴシック" panose="020B0400000000000000" pitchFamily="50" charset="-128"/>
                  <a:ea typeface="BIZ UDPゴシック" panose="020B0400000000000000" pitchFamily="50" charset="-128"/>
                </a:rPr>
                <a:t>:</a:t>
              </a:r>
            </a:p>
            <a:p>
              <a:endParaRPr kumimoji="1" lang="ja-JP" altLang="en-US"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4EACC256-DA8A-88A8-0C05-DDC89235CE6D}"/>
                </a:ext>
              </a:extLst>
            </p:cNvPr>
            <p:cNvSpPr txBox="1"/>
            <p:nvPr/>
          </p:nvSpPr>
          <p:spPr>
            <a:xfrm>
              <a:off x="9363636" y="3094080"/>
              <a:ext cx="2828364" cy="584775"/>
            </a:xfrm>
            <a:prstGeom prst="rect">
              <a:avLst/>
            </a:prstGeom>
            <a:noFill/>
          </p:spPr>
          <p:txBody>
            <a:bodyPr wrap="square" rtlCol="0">
              <a:spAutoFit/>
            </a:bodyPr>
            <a:lstStyle/>
            <a:p>
              <a:r>
                <a:rPr kumimoji="1" lang="ja-JP" altLang="en-US" sz="3200" dirty="0">
                  <a:latin typeface="BIZ UDPゴシック" panose="020B0400000000000000" pitchFamily="50" charset="-128"/>
                  <a:ea typeface="BIZ UDPゴシック" panose="020B0400000000000000" pitchFamily="50" charset="-128"/>
                </a:rPr>
                <a:t>株価は上がる</a:t>
              </a:r>
            </a:p>
          </p:txBody>
        </p:sp>
      </p:grpSp>
      <p:grpSp>
        <p:nvGrpSpPr>
          <p:cNvPr id="6" name="グループ化 5">
            <a:extLst>
              <a:ext uri="{FF2B5EF4-FFF2-40B4-BE49-F238E27FC236}">
                <a16:creationId xmlns:a16="http://schemas.microsoft.com/office/drawing/2014/main" id="{1BFE07F2-97A8-131E-D89A-78EE8E9FD3C8}"/>
              </a:ext>
            </a:extLst>
          </p:cNvPr>
          <p:cNvGrpSpPr/>
          <p:nvPr/>
        </p:nvGrpSpPr>
        <p:grpSpPr>
          <a:xfrm>
            <a:off x="8632332" y="3897933"/>
            <a:ext cx="3559668" cy="1357705"/>
            <a:chOff x="8632332" y="3897933"/>
            <a:chExt cx="3559668" cy="1357705"/>
          </a:xfrm>
        </p:grpSpPr>
        <p:sp>
          <p:nvSpPr>
            <p:cNvPr id="12" name="テキスト ボックス 11">
              <a:extLst>
                <a:ext uri="{FF2B5EF4-FFF2-40B4-BE49-F238E27FC236}">
                  <a16:creationId xmlns:a16="http://schemas.microsoft.com/office/drawing/2014/main" id="{912B06E0-39A8-0783-ED85-64F7E6C1930B}"/>
                </a:ext>
              </a:extLst>
            </p:cNvPr>
            <p:cNvSpPr txBox="1"/>
            <p:nvPr/>
          </p:nvSpPr>
          <p:spPr>
            <a:xfrm>
              <a:off x="8632332" y="3897933"/>
              <a:ext cx="3472804" cy="1107996"/>
            </a:xfrm>
            <a:prstGeom prst="rect">
              <a:avLst/>
            </a:prstGeom>
            <a:noFill/>
          </p:spPr>
          <p:txBody>
            <a:bodyPr wrap="square" rtlCol="0">
              <a:spAutoFit/>
            </a:bodyPr>
            <a:lstStyle/>
            <a:p>
              <a:r>
                <a:rPr lang="ja-JP" altLang="en-US" sz="2400" dirty="0">
                  <a:latin typeface="BIZ UDPゴシック" panose="020B0400000000000000" pitchFamily="50" charset="-128"/>
                  <a:ea typeface="BIZ UDPゴシック" panose="020B0400000000000000" pitchFamily="50" charset="-128"/>
                </a:rPr>
                <a:t>このニュースがマイナスだと考えるなら</a:t>
              </a:r>
              <a:r>
                <a:rPr lang="en-US" altLang="ja-JP" sz="2400" dirty="0">
                  <a:latin typeface="BIZ UDPゴシック" panose="020B0400000000000000" pitchFamily="50" charset="-128"/>
                  <a:ea typeface="BIZ UDPゴシック" panose="020B0400000000000000" pitchFamily="50" charset="-128"/>
                </a:rPr>
                <a:t>:</a:t>
              </a:r>
            </a:p>
            <a:p>
              <a:endParaRPr kumimoji="1" lang="ja-JP" altLang="en-US"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A6C5A1FC-645B-5983-5259-4F5FEB23EB68}"/>
                </a:ext>
              </a:extLst>
            </p:cNvPr>
            <p:cNvSpPr txBox="1"/>
            <p:nvPr/>
          </p:nvSpPr>
          <p:spPr>
            <a:xfrm>
              <a:off x="9363636" y="4670863"/>
              <a:ext cx="2828364" cy="584775"/>
            </a:xfrm>
            <a:prstGeom prst="rect">
              <a:avLst/>
            </a:prstGeom>
            <a:noFill/>
          </p:spPr>
          <p:txBody>
            <a:bodyPr wrap="square" rtlCol="0">
              <a:spAutoFit/>
            </a:bodyPr>
            <a:lstStyle/>
            <a:p>
              <a:r>
                <a:rPr kumimoji="1" lang="ja-JP" altLang="en-US" sz="3200" dirty="0">
                  <a:latin typeface="BIZ UDPゴシック" panose="020B0400000000000000" pitchFamily="50" charset="-128"/>
                  <a:ea typeface="BIZ UDPゴシック" panose="020B0400000000000000" pitchFamily="50" charset="-128"/>
                </a:rPr>
                <a:t>株価は下がる</a:t>
              </a:r>
            </a:p>
          </p:txBody>
        </p:sp>
      </p:grpSp>
      <p:pic>
        <p:nvPicPr>
          <p:cNvPr id="16" name="図 15">
            <a:extLst>
              <a:ext uri="{FF2B5EF4-FFF2-40B4-BE49-F238E27FC236}">
                <a16:creationId xmlns:a16="http://schemas.microsoft.com/office/drawing/2014/main" id="{5B5EE46D-163A-7BE9-0084-88C10D97F798}"/>
              </a:ext>
            </a:extLst>
          </p:cNvPr>
          <p:cNvPicPr>
            <a:picLocks noChangeAspect="1"/>
          </p:cNvPicPr>
          <p:nvPr/>
        </p:nvPicPr>
        <p:blipFill>
          <a:blip r:embed="rId3"/>
          <a:stretch>
            <a:fillRect/>
          </a:stretch>
        </p:blipFill>
        <p:spPr>
          <a:xfrm>
            <a:off x="4315845" y="2746139"/>
            <a:ext cx="4257896" cy="3020804"/>
          </a:xfrm>
          <a:prstGeom prst="rect">
            <a:avLst/>
          </a:prstGeom>
        </p:spPr>
      </p:pic>
      <p:sp>
        <p:nvSpPr>
          <p:cNvPr id="2" name="テキスト ボックス 1">
            <a:extLst>
              <a:ext uri="{FF2B5EF4-FFF2-40B4-BE49-F238E27FC236}">
                <a16:creationId xmlns:a16="http://schemas.microsoft.com/office/drawing/2014/main" id="{31FA0B91-87B4-09C0-44B3-02931F8E66C0}"/>
              </a:ext>
            </a:extLst>
          </p:cNvPr>
          <p:cNvSpPr txBox="1"/>
          <p:nvPr/>
        </p:nvSpPr>
        <p:spPr>
          <a:xfrm>
            <a:off x="298127" y="48985"/>
            <a:ext cx="2528888" cy="1200329"/>
          </a:xfrm>
          <a:prstGeom prst="rect">
            <a:avLst/>
          </a:prstGeom>
          <a:noFill/>
        </p:spPr>
        <p:txBody>
          <a:bodyPr wrap="square" rtlCol="0">
            <a:spAutoFit/>
          </a:bodyPr>
          <a:lstStyle/>
          <a:p>
            <a:r>
              <a:rPr lang="ja-JP" altLang="en-US" sz="7200" b="1" dirty="0">
                <a:latin typeface="BIZ UDPゴシック" panose="020B0400000000000000" pitchFamily="50" charset="-128"/>
                <a:ea typeface="BIZ UDPゴシック" panose="020B0400000000000000" pitchFamily="50" charset="-128"/>
              </a:rPr>
              <a:t>概要</a:t>
            </a:r>
            <a:endParaRPr kumimoji="1" lang="ja-JP" altLang="en-US" sz="72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FB08202D-3543-6338-83D4-9AE5781C867C}"/>
              </a:ext>
            </a:extLst>
          </p:cNvPr>
          <p:cNvSpPr txBox="1"/>
          <p:nvPr/>
        </p:nvSpPr>
        <p:spPr>
          <a:xfrm>
            <a:off x="507669" y="1276410"/>
            <a:ext cx="5190144" cy="646331"/>
          </a:xfrm>
          <a:prstGeom prst="rect">
            <a:avLst/>
          </a:prstGeom>
          <a:noFill/>
        </p:spPr>
        <p:txBody>
          <a:bodyPr wrap="square" rtlCol="0">
            <a:spAutoFit/>
          </a:bodyPr>
          <a:lstStyle/>
          <a:p>
            <a:r>
              <a:rPr lang="en-US" altLang="ja-JP" sz="3600" dirty="0">
                <a:latin typeface="BIZ UDPゴシック" panose="020B0400000000000000" pitchFamily="50" charset="-128"/>
                <a:ea typeface="BIZ UDPゴシック" panose="020B0400000000000000" pitchFamily="50" charset="-128"/>
              </a:rPr>
              <a:t>2</a:t>
            </a:r>
            <a:r>
              <a:rPr kumimoji="1" lang="en-US" altLang="ja-JP" sz="3600" dirty="0">
                <a:latin typeface="BIZ UDPゴシック" panose="020B0400000000000000" pitchFamily="50" charset="-128"/>
                <a:ea typeface="BIZ UDPゴシック" panose="020B0400000000000000" pitchFamily="50" charset="-128"/>
              </a:rPr>
              <a:t>. </a:t>
            </a:r>
            <a:r>
              <a:rPr lang="ja-JP" altLang="en-US" sz="3600" dirty="0">
                <a:latin typeface="BIZ UDPゴシック" panose="020B0400000000000000" pitchFamily="50" charset="-128"/>
                <a:ea typeface="BIZ UDPゴシック" panose="020B0400000000000000" pitchFamily="50" charset="-128"/>
              </a:rPr>
              <a:t>ニュース</a:t>
            </a:r>
            <a:r>
              <a:rPr kumimoji="1" lang="ja-JP" altLang="en-US" sz="3600" dirty="0">
                <a:latin typeface="BIZ UDPゴシック" panose="020B0400000000000000" pitchFamily="50" charset="-128"/>
                <a:ea typeface="BIZ UDPゴシック" panose="020B0400000000000000" pitchFamily="50" charset="-128"/>
              </a:rPr>
              <a:t>を基準にする</a:t>
            </a:r>
          </a:p>
        </p:txBody>
      </p:sp>
      <p:pic>
        <p:nvPicPr>
          <p:cNvPr id="4" name="図 3">
            <a:extLst>
              <a:ext uri="{FF2B5EF4-FFF2-40B4-BE49-F238E27FC236}">
                <a16:creationId xmlns:a16="http://schemas.microsoft.com/office/drawing/2014/main" id="{428C2848-61D3-9B3C-3660-31FAB7045FAD}"/>
              </a:ext>
            </a:extLst>
          </p:cNvPr>
          <p:cNvPicPr>
            <a:picLocks noChangeAspect="1"/>
          </p:cNvPicPr>
          <p:nvPr/>
        </p:nvPicPr>
        <p:blipFill rotWithShape="1">
          <a:blip r:embed="rId4">
            <a:extLst>
              <a:ext uri="{28A0092B-C50C-407E-A947-70E740481C1C}">
                <a14:useLocalDpi xmlns:a14="http://schemas.microsoft.com/office/drawing/2010/main" val="0"/>
              </a:ext>
            </a:extLst>
          </a:blip>
          <a:srcRect t="14552" b="45729"/>
          <a:stretch/>
        </p:blipFill>
        <p:spPr>
          <a:xfrm>
            <a:off x="251943" y="2400517"/>
            <a:ext cx="4005311" cy="3712048"/>
          </a:xfrm>
          <a:prstGeom prst="rect">
            <a:avLst/>
          </a:prstGeom>
        </p:spPr>
      </p:pic>
      <p:sp>
        <p:nvSpPr>
          <p:cNvPr id="7" name="Slide Number Placeholder 6">
            <a:extLst>
              <a:ext uri="{FF2B5EF4-FFF2-40B4-BE49-F238E27FC236}">
                <a16:creationId xmlns:a16="http://schemas.microsoft.com/office/drawing/2014/main" id="{98216E72-F676-7DA7-A046-8B98B36C9523}"/>
              </a:ext>
            </a:extLst>
          </p:cNvPr>
          <p:cNvSpPr>
            <a:spLocks noGrp="1"/>
          </p:cNvSpPr>
          <p:nvPr>
            <p:ph type="sldNum" sz="quarter" idx="12"/>
          </p:nvPr>
        </p:nvSpPr>
        <p:spPr/>
        <p:txBody>
          <a:bodyPr/>
          <a:lstStyle/>
          <a:p>
            <a:fld id="{F42732FB-2277-442C-9711-A45410BE01D8}" type="slidenum">
              <a:rPr kumimoji="1" lang="ja-JP" altLang="en-US" smtClean="0"/>
              <a:t>24</a:t>
            </a:fld>
            <a:endParaRPr kumimoji="1" lang="ja-JP" altLang="en-US"/>
          </a:p>
        </p:txBody>
      </p:sp>
    </p:spTree>
    <p:extLst>
      <p:ext uri="{BB962C8B-B14F-4D97-AF65-F5344CB8AC3E}">
        <p14:creationId xmlns:p14="http://schemas.microsoft.com/office/powerpoint/2010/main" val="1058059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34A9DBF-B67B-2ACD-33BF-E73683873EDD}"/>
              </a:ext>
            </a:extLst>
          </p:cNvPr>
          <p:cNvSpPr txBox="1"/>
          <p:nvPr/>
        </p:nvSpPr>
        <p:spPr>
          <a:xfrm>
            <a:off x="298127" y="48985"/>
            <a:ext cx="2528888" cy="1200329"/>
          </a:xfrm>
          <a:prstGeom prst="rect">
            <a:avLst/>
          </a:prstGeom>
          <a:noFill/>
        </p:spPr>
        <p:txBody>
          <a:bodyPr wrap="square" rtlCol="0">
            <a:spAutoFit/>
          </a:bodyPr>
          <a:lstStyle/>
          <a:p>
            <a:r>
              <a:rPr lang="ja-JP" altLang="en-US" sz="7200" b="1" dirty="0">
                <a:latin typeface="BIZ UDPゴシック" panose="020B0400000000000000" pitchFamily="50" charset="-128"/>
                <a:ea typeface="BIZ UDPゴシック" panose="020B0400000000000000" pitchFamily="50" charset="-128"/>
              </a:rPr>
              <a:t>概要</a:t>
            </a:r>
            <a:endParaRPr kumimoji="1" lang="ja-JP" altLang="en-US" sz="7200" b="1" dirty="0">
              <a:latin typeface="BIZ UDPゴシック" panose="020B0400000000000000" pitchFamily="50" charset="-128"/>
              <a:ea typeface="BIZ UDPゴシック" panose="020B0400000000000000" pitchFamily="50" charset="-128"/>
            </a:endParaRPr>
          </a:p>
        </p:txBody>
      </p:sp>
      <p:pic>
        <p:nvPicPr>
          <p:cNvPr id="3" name="図 2">
            <a:extLst>
              <a:ext uri="{FF2B5EF4-FFF2-40B4-BE49-F238E27FC236}">
                <a16:creationId xmlns:a16="http://schemas.microsoft.com/office/drawing/2014/main" id="{653A79EC-6432-636C-3613-1A9A9E04D5CE}"/>
              </a:ext>
            </a:extLst>
          </p:cNvPr>
          <p:cNvPicPr>
            <a:picLocks noChangeAspect="1"/>
          </p:cNvPicPr>
          <p:nvPr/>
        </p:nvPicPr>
        <p:blipFill rotWithShape="1">
          <a:blip r:embed="rId2">
            <a:extLst>
              <a:ext uri="{28A0092B-C50C-407E-A947-70E740481C1C}">
                <a14:useLocalDpi xmlns:a14="http://schemas.microsoft.com/office/drawing/2010/main" val="0"/>
              </a:ext>
            </a:extLst>
          </a:blip>
          <a:srcRect l="1" t="2449" r="-142" b="26185"/>
          <a:stretch/>
        </p:blipFill>
        <p:spPr>
          <a:xfrm>
            <a:off x="1590997" y="1493464"/>
            <a:ext cx="2943296" cy="4894294"/>
          </a:xfrm>
          <a:prstGeom prst="rect">
            <a:avLst/>
          </a:prstGeom>
        </p:spPr>
      </p:pic>
      <p:sp>
        <p:nvSpPr>
          <p:cNvPr id="4" name="テキスト ボックス 3">
            <a:extLst>
              <a:ext uri="{FF2B5EF4-FFF2-40B4-BE49-F238E27FC236}">
                <a16:creationId xmlns:a16="http://schemas.microsoft.com/office/drawing/2014/main" id="{6B884C97-0738-B458-7296-D81F69FA27B1}"/>
              </a:ext>
            </a:extLst>
          </p:cNvPr>
          <p:cNvSpPr txBox="1"/>
          <p:nvPr/>
        </p:nvSpPr>
        <p:spPr>
          <a:xfrm>
            <a:off x="5054455" y="2880634"/>
            <a:ext cx="7362334" cy="1569660"/>
          </a:xfrm>
          <a:prstGeom prst="rect">
            <a:avLst/>
          </a:prstGeom>
          <a:noFill/>
        </p:spPr>
        <p:txBody>
          <a:bodyPr wrap="square" rtlCol="0">
            <a:spAutoFit/>
          </a:bodyPr>
          <a:lstStyle/>
          <a:p>
            <a:r>
              <a:rPr kumimoji="1" lang="ja-JP" altLang="en-US" sz="4800" dirty="0">
                <a:latin typeface="BIZ UDPゴシック" panose="020B0400000000000000" pitchFamily="50" charset="-128"/>
                <a:ea typeface="BIZ UDPゴシック" panose="020B0400000000000000" pitchFamily="50" charset="-128"/>
              </a:rPr>
              <a:t>次の日実際に上がった</a:t>
            </a:r>
            <a:endParaRPr kumimoji="1" lang="en-GB" altLang="ja-JP" sz="4800" dirty="0">
              <a:latin typeface="BIZ UDPゴシック" panose="020B0400000000000000" pitchFamily="50" charset="-128"/>
              <a:ea typeface="BIZ UDPゴシック" panose="020B0400000000000000" pitchFamily="50" charset="-128"/>
            </a:endParaRPr>
          </a:p>
          <a:p>
            <a:r>
              <a:rPr kumimoji="1" lang="en-US" altLang="ja-JP" sz="4800" dirty="0">
                <a:latin typeface="BIZ UDPゴシック" panose="020B0400000000000000" pitchFamily="50" charset="-128"/>
                <a:ea typeface="BIZ UDPゴシック" panose="020B0400000000000000" pitchFamily="50" charset="-128"/>
              </a:rPr>
              <a:t>(</a:t>
            </a:r>
            <a:r>
              <a:rPr kumimoji="1" lang="ja-JP" altLang="en-US" sz="4800" dirty="0">
                <a:latin typeface="BIZ UDPゴシック" panose="020B0400000000000000" pitchFamily="50" charset="-128"/>
                <a:ea typeface="BIZ UDPゴシック" panose="020B0400000000000000" pitchFamily="50" charset="-128"/>
              </a:rPr>
              <a:t>前日比</a:t>
            </a:r>
            <a:r>
              <a:rPr kumimoji="1" lang="en-US" altLang="ja-JP" sz="4800" dirty="0">
                <a:latin typeface="BIZ UDPゴシック" panose="020B0400000000000000" pitchFamily="50" charset="-128"/>
                <a:ea typeface="BIZ UDPゴシック" panose="020B0400000000000000" pitchFamily="50" charset="-128"/>
              </a:rPr>
              <a:t>+10%)</a:t>
            </a:r>
            <a:endParaRPr kumimoji="1" lang="ja-JP" altLang="en-US" sz="4800" dirty="0">
              <a:latin typeface="BIZ UDPゴシック" panose="020B0400000000000000" pitchFamily="50" charset="-128"/>
              <a:ea typeface="BIZ UDPゴシック" panose="020B0400000000000000" pitchFamily="50" charset="-128"/>
            </a:endParaRPr>
          </a:p>
        </p:txBody>
      </p:sp>
      <p:sp>
        <p:nvSpPr>
          <p:cNvPr id="5" name="Slide Number Placeholder 4">
            <a:extLst>
              <a:ext uri="{FF2B5EF4-FFF2-40B4-BE49-F238E27FC236}">
                <a16:creationId xmlns:a16="http://schemas.microsoft.com/office/drawing/2014/main" id="{3E4166AD-8F66-3B44-4705-946D39A139F0}"/>
              </a:ext>
            </a:extLst>
          </p:cNvPr>
          <p:cNvSpPr>
            <a:spLocks noGrp="1"/>
          </p:cNvSpPr>
          <p:nvPr>
            <p:ph type="sldNum" sz="quarter" idx="12"/>
          </p:nvPr>
        </p:nvSpPr>
        <p:spPr/>
        <p:txBody>
          <a:bodyPr/>
          <a:lstStyle/>
          <a:p>
            <a:fld id="{F42732FB-2277-442C-9711-A45410BE01D8}" type="slidenum">
              <a:rPr kumimoji="1" lang="ja-JP" altLang="en-US" smtClean="0"/>
              <a:t>25</a:t>
            </a:fld>
            <a:endParaRPr kumimoji="1" lang="ja-JP" altLang="en-US"/>
          </a:p>
        </p:txBody>
      </p:sp>
    </p:spTree>
    <p:extLst>
      <p:ext uri="{BB962C8B-B14F-4D97-AF65-F5344CB8AC3E}">
        <p14:creationId xmlns:p14="http://schemas.microsoft.com/office/powerpoint/2010/main" val="2610012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D6531B4-3A18-1C3C-991D-5CB8667443BE}"/>
              </a:ext>
            </a:extLst>
          </p:cNvPr>
          <p:cNvSpPr txBox="1"/>
          <p:nvPr/>
        </p:nvSpPr>
        <p:spPr>
          <a:xfrm>
            <a:off x="298127" y="48985"/>
            <a:ext cx="2528888" cy="1200329"/>
          </a:xfrm>
          <a:prstGeom prst="rect">
            <a:avLst/>
          </a:prstGeom>
          <a:noFill/>
        </p:spPr>
        <p:txBody>
          <a:bodyPr wrap="square" rtlCol="0">
            <a:spAutoFit/>
          </a:bodyPr>
          <a:lstStyle/>
          <a:p>
            <a:r>
              <a:rPr lang="ja-JP" altLang="en-US" sz="7200" b="1" dirty="0">
                <a:latin typeface="BIZ UDPゴシック" panose="020B0400000000000000" pitchFamily="50" charset="-128"/>
                <a:ea typeface="BIZ UDPゴシック" panose="020B0400000000000000" pitchFamily="50" charset="-128"/>
              </a:rPr>
              <a:t>考察</a:t>
            </a:r>
            <a:endParaRPr kumimoji="1" lang="ja-JP" altLang="en-US" sz="72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74D4EEFF-5CD6-151C-C156-C505382A8642}"/>
              </a:ext>
            </a:extLst>
          </p:cNvPr>
          <p:cNvSpPr txBox="1"/>
          <p:nvPr/>
        </p:nvSpPr>
        <p:spPr>
          <a:xfrm>
            <a:off x="103770" y="1453703"/>
            <a:ext cx="11984460" cy="2154436"/>
          </a:xfrm>
          <a:prstGeom prst="rect">
            <a:avLst/>
          </a:prstGeom>
          <a:noFill/>
        </p:spPr>
        <p:txBody>
          <a:bodyPr wrap="square" rtlCol="0">
            <a:spAutoFit/>
          </a:bodyPr>
          <a:lstStyle/>
          <a:p>
            <a:pPr marL="457200" indent="-457200">
              <a:buFont typeface="Arial" panose="020B0604020202020204" pitchFamily="34" charset="0"/>
              <a:buChar char="•"/>
            </a:pPr>
            <a:r>
              <a:rPr lang="ja-JP" altLang="en-US" sz="3800" dirty="0">
                <a:latin typeface="BIZ UDPゴシック" panose="020B0400000000000000" pitchFamily="50" charset="-128"/>
                <a:ea typeface="BIZ UDPゴシック" panose="020B0400000000000000" pitchFamily="50" charset="-128"/>
              </a:rPr>
              <a:t>会社ごとに</a:t>
            </a:r>
            <a:r>
              <a:rPr kumimoji="1" lang="ja-JP" altLang="en-US" sz="3800" dirty="0">
                <a:latin typeface="BIZ UDPゴシック" panose="020B0400000000000000" pitchFamily="50" charset="-128"/>
                <a:ea typeface="BIZ UDPゴシック" panose="020B0400000000000000" pitchFamily="50" charset="-128"/>
              </a:rPr>
              <a:t>ニュース量のばらつきがある</a:t>
            </a:r>
            <a:endParaRPr kumimoji="1" lang="en-US" altLang="ja-JP" sz="3800" dirty="0">
              <a:latin typeface="BIZ UDPゴシック" panose="020B0400000000000000" pitchFamily="50" charset="-128"/>
              <a:ea typeface="BIZ UDPゴシック" panose="020B0400000000000000" pitchFamily="50" charset="-128"/>
            </a:endParaRPr>
          </a:p>
          <a:p>
            <a:endParaRPr lang="en-US" altLang="ja-JP" sz="2000" dirty="0">
              <a:latin typeface="BIZ UDPゴシック" panose="020B0400000000000000" pitchFamily="50" charset="-128"/>
              <a:ea typeface="BIZ UDPゴシック" panose="020B0400000000000000" pitchFamily="50" charset="-128"/>
            </a:endParaRPr>
          </a:p>
          <a:p>
            <a:pPr marL="457200" indent="-457200">
              <a:buFont typeface="Arial" panose="020B0604020202020204" pitchFamily="34" charset="0"/>
              <a:buChar char="•"/>
            </a:pPr>
            <a:r>
              <a:rPr kumimoji="1" lang="ja-JP" altLang="en-US" sz="3800" dirty="0">
                <a:latin typeface="BIZ UDPゴシック" panose="020B0400000000000000" pitchFamily="50" charset="-128"/>
                <a:ea typeface="BIZ UDPゴシック" panose="020B0400000000000000" pitchFamily="50" charset="-128"/>
              </a:rPr>
              <a:t>ただの思い付きだが、</a:t>
            </a:r>
            <a:r>
              <a:rPr kumimoji="1" lang="en-US" altLang="ja-JP" sz="3800" dirty="0">
                <a:latin typeface="BIZ UDPゴシック" panose="020B0400000000000000" pitchFamily="50" charset="-128"/>
                <a:ea typeface="BIZ UDPゴシック" panose="020B0400000000000000" pitchFamily="50" charset="-128"/>
              </a:rPr>
              <a:t>Twitter</a:t>
            </a:r>
            <a:r>
              <a:rPr kumimoji="1" lang="ja-JP" altLang="en-US" sz="3800" dirty="0">
                <a:latin typeface="BIZ UDPゴシック" panose="020B0400000000000000" pitchFamily="50" charset="-128"/>
                <a:ea typeface="BIZ UDPゴシック" panose="020B0400000000000000" pitchFamily="50" charset="-128"/>
              </a:rPr>
              <a:t>のトレンド等も学習すると面白いかもと思った</a:t>
            </a:r>
          </a:p>
        </p:txBody>
      </p:sp>
      <p:sp>
        <p:nvSpPr>
          <p:cNvPr id="4" name="Slide Number Placeholder 3">
            <a:extLst>
              <a:ext uri="{FF2B5EF4-FFF2-40B4-BE49-F238E27FC236}">
                <a16:creationId xmlns:a16="http://schemas.microsoft.com/office/drawing/2014/main" id="{1E795E33-4CFA-30FB-E60B-911BA3BDC906}"/>
              </a:ext>
            </a:extLst>
          </p:cNvPr>
          <p:cNvSpPr>
            <a:spLocks noGrp="1"/>
          </p:cNvSpPr>
          <p:nvPr>
            <p:ph type="sldNum" sz="quarter" idx="12"/>
          </p:nvPr>
        </p:nvSpPr>
        <p:spPr/>
        <p:txBody>
          <a:bodyPr/>
          <a:lstStyle/>
          <a:p>
            <a:fld id="{F42732FB-2277-442C-9711-A45410BE01D8}" type="slidenum">
              <a:rPr kumimoji="1" lang="ja-JP" altLang="en-US" smtClean="0"/>
              <a:t>26</a:t>
            </a:fld>
            <a:endParaRPr kumimoji="1" lang="ja-JP" altLang="en-US"/>
          </a:p>
        </p:txBody>
      </p:sp>
    </p:spTree>
    <p:extLst>
      <p:ext uri="{BB962C8B-B14F-4D97-AF65-F5344CB8AC3E}">
        <p14:creationId xmlns:p14="http://schemas.microsoft.com/office/powerpoint/2010/main" val="844907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4D659-4738-33FA-8932-DB7D2A0186BC}"/>
            </a:ext>
          </a:extLst>
        </p:cNvPr>
        <p:cNvGrpSpPr/>
        <p:nvPr/>
      </p:nvGrpSpPr>
      <p:grpSpPr>
        <a:xfrm>
          <a:off x="0" y="0"/>
          <a:ext cx="0" cy="0"/>
          <a:chOff x="0" y="0"/>
          <a:chExt cx="0" cy="0"/>
        </a:xfrm>
      </p:grpSpPr>
      <p:pic>
        <p:nvPicPr>
          <p:cNvPr id="1026" name="Picture 2" descr="Nasdaq Logo PNG vector in SVG, PDF, AI, CDR format">
            <a:extLst>
              <a:ext uri="{FF2B5EF4-FFF2-40B4-BE49-F238E27FC236}">
                <a16:creationId xmlns:a16="http://schemas.microsoft.com/office/drawing/2014/main" id="{5ED6ACAC-E3C2-958D-F2AF-81F7B669A1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259" b="29533"/>
          <a:stretch/>
        </p:blipFill>
        <p:spPr bwMode="auto">
          <a:xfrm>
            <a:off x="620890" y="3355729"/>
            <a:ext cx="2409326" cy="745199"/>
          </a:xfrm>
          <a:prstGeom prst="rect">
            <a:avLst/>
          </a:prstGeom>
          <a:noFill/>
          <a:ln>
            <a:solidFill>
              <a:schemeClr val="bg2">
                <a:lumMod val="75000"/>
              </a:schemeClr>
            </a:solidFill>
          </a:ln>
          <a:extLst>
            <a:ext uri="{909E8E84-426E-40DD-AFC4-6F175D3DCCD1}">
              <a14:hiddenFill xmlns:a14="http://schemas.microsoft.com/office/drawing/2010/main">
                <a:solidFill>
                  <a:srgbClr val="FFFFFF"/>
                </a:solidFill>
              </a14:hiddenFill>
            </a:ext>
          </a:extLst>
        </p:spPr>
      </p:pic>
      <p:pic>
        <p:nvPicPr>
          <p:cNvPr id="1032" name="Picture 8" descr="Google Finance - 株式市場価格、リアルタイムの相場、ビジネス ニュース">
            <a:extLst>
              <a:ext uri="{FF2B5EF4-FFF2-40B4-BE49-F238E27FC236}">
                <a16:creationId xmlns:a16="http://schemas.microsoft.com/office/drawing/2014/main" id="{CB89B57A-060E-C3D9-C30B-89F3FA3FE8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74" t="21365" r="9907" b="21959"/>
          <a:stretch/>
        </p:blipFill>
        <p:spPr bwMode="auto">
          <a:xfrm>
            <a:off x="620890" y="4916012"/>
            <a:ext cx="2409326" cy="854750"/>
          </a:xfrm>
          <a:prstGeom prst="rect">
            <a:avLst/>
          </a:prstGeom>
          <a:noFill/>
          <a:ln>
            <a:solidFill>
              <a:schemeClr val="bg2">
                <a:lumMod val="75000"/>
              </a:schemeClr>
            </a:solidFill>
          </a:ln>
          <a:extLst>
            <a:ext uri="{909E8E84-426E-40DD-AFC4-6F175D3DCCD1}">
              <a14:hiddenFill xmlns:a14="http://schemas.microsoft.com/office/drawing/2010/main">
                <a:solidFill>
                  <a:srgbClr val="FFFFFF"/>
                </a:solidFill>
              </a14:hiddenFill>
            </a:ext>
          </a:extLst>
        </p:spPr>
      </p:pic>
      <p:grpSp>
        <p:nvGrpSpPr>
          <p:cNvPr id="9" name="グラフィックス 3">
            <a:extLst>
              <a:ext uri="{FF2B5EF4-FFF2-40B4-BE49-F238E27FC236}">
                <a16:creationId xmlns:a16="http://schemas.microsoft.com/office/drawing/2014/main" id="{51E18454-5CB8-D29A-D710-296424B9EB16}"/>
              </a:ext>
            </a:extLst>
          </p:cNvPr>
          <p:cNvGrpSpPr/>
          <p:nvPr/>
        </p:nvGrpSpPr>
        <p:grpSpPr>
          <a:xfrm>
            <a:off x="9337511" y="4404451"/>
            <a:ext cx="1790700" cy="1790700"/>
            <a:chOff x="9467850" y="4543073"/>
            <a:chExt cx="1790700" cy="1790700"/>
          </a:xfrm>
        </p:grpSpPr>
        <p:sp>
          <p:nvSpPr>
            <p:cNvPr id="10" name="フリーフォーム: 図形 9">
              <a:extLst>
                <a:ext uri="{FF2B5EF4-FFF2-40B4-BE49-F238E27FC236}">
                  <a16:creationId xmlns:a16="http://schemas.microsoft.com/office/drawing/2014/main" id="{BC1627E7-1B97-D762-F8C4-E2E202B39736}"/>
                </a:ext>
              </a:extLst>
            </p:cNvPr>
            <p:cNvSpPr/>
            <p:nvPr/>
          </p:nvSpPr>
          <p:spPr>
            <a:xfrm>
              <a:off x="9467850" y="4543073"/>
              <a:ext cx="1790700" cy="1790700"/>
            </a:xfrm>
            <a:custGeom>
              <a:avLst/>
              <a:gdLst>
                <a:gd name="connsiteX0" fmla="*/ 0 w 1790700"/>
                <a:gd name="connsiteY0" fmla="*/ 0 h 1790700"/>
                <a:gd name="connsiteX1" fmla="*/ 1790700 w 1790700"/>
                <a:gd name="connsiteY1" fmla="*/ 0 h 1790700"/>
                <a:gd name="connsiteX2" fmla="*/ 1790700 w 1790700"/>
                <a:gd name="connsiteY2" fmla="*/ 1790700 h 1790700"/>
                <a:gd name="connsiteX3" fmla="*/ 0 w 1790700"/>
                <a:gd name="connsiteY3" fmla="*/ 1790700 h 1790700"/>
              </a:gdLst>
              <a:ahLst/>
              <a:cxnLst>
                <a:cxn ang="0">
                  <a:pos x="connsiteX0" y="connsiteY0"/>
                </a:cxn>
                <a:cxn ang="0">
                  <a:pos x="connsiteX1" y="connsiteY1"/>
                </a:cxn>
                <a:cxn ang="0">
                  <a:pos x="connsiteX2" y="connsiteY2"/>
                </a:cxn>
                <a:cxn ang="0">
                  <a:pos x="connsiteX3" y="connsiteY3"/>
                </a:cxn>
              </a:cxnLst>
              <a:rect l="l" t="t" r="r" b="b"/>
              <a:pathLst>
                <a:path w="1790700" h="1790700">
                  <a:moveTo>
                    <a:pt x="0" y="0"/>
                  </a:moveTo>
                  <a:lnTo>
                    <a:pt x="1790700" y="0"/>
                  </a:lnTo>
                  <a:lnTo>
                    <a:pt x="1790700" y="1790700"/>
                  </a:lnTo>
                  <a:lnTo>
                    <a:pt x="0" y="1790700"/>
                  </a:lnTo>
                  <a:close/>
                </a:path>
              </a:pathLst>
            </a:custGeom>
            <a:noFill/>
            <a:ln w="9525" cap="flat">
              <a:noFill/>
              <a:prstDash val="solid"/>
              <a:miter/>
            </a:ln>
          </p:spPr>
          <p:txBody>
            <a:bodyPr rtlCol="0" anchor="ctr"/>
            <a:lstStyle/>
            <a:p>
              <a:endParaRPr lang="ja-JP" altLang="en-US"/>
            </a:p>
          </p:txBody>
        </p:sp>
        <p:sp>
          <p:nvSpPr>
            <p:cNvPr id="11" name="フリーフォーム: 図形 10">
              <a:extLst>
                <a:ext uri="{FF2B5EF4-FFF2-40B4-BE49-F238E27FC236}">
                  <a16:creationId xmlns:a16="http://schemas.microsoft.com/office/drawing/2014/main" id="{CC5F10FE-FF20-4179-BCC3-49F5B9AD7F5B}"/>
                </a:ext>
              </a:extLst>
            </p:cNvPr>
            <p:cNvSpPr/>
            <p:nvPr/>
          </p:nvSpPr>
          <p:spPr>
            <a:xfrm>
              <a:off x="9467850" y="4545358"/>
              <a:ext cx="1790700" cy="1786127"/>
            </a:xfrm>
            <a:custGeom>
              <a:avLst/>
              <a:gdLst>
                <a:gd name="connsiteX0" fmla="*/ 1709261 w 1790700"/>
                <a:gd name="connsiteY0" fmla="*/ 1139666 h 1786127"/>
                <a:gd name="connsiteX1" fmla="*/ 1709261 w 1790700"/>
                <a:gd name="connsiteY1" fmla="*/ 995839 h 1786127"/>
                <a:gd name="connsiteX2" fmla="*/ 1425797 w 1790700"/>
                <a:gd name="connsiteY2" fmla="*/ 1054037 h 1786127"/>
                <a:gd name="connsiteX3" fmla="*/ 1142429 w 1790700"/>
                <a:gd name="connsiteY3" fmla="*/ 995839 h 1786127"/>
                <a:gd name="connsiteX4" fmla="*/ 1142429 w 1790700"/>
                <a:gd name="connsiteY4" fmla="*/ 1139666 h 1786127"/>
                <a:gd name="connsiteX5" fmla="*/ 1425797 w 1790700"/>
                <a:gd name="connsiteY5" fmla="*/ 1225201 h 1786127"/>
                <a:gd name="connsiteX6" fmla="*/ 1709261 w 1790700"/>
                <a:gd name="connsiteY6" fmla="*/ 1139666 h 1786127"/>
                <a:gd name="connsiteX7" fmla="*/ 1709261 w 1790700"/>
                <a:gd name="connsiteY7" fmla="*/ 1387793 h 1786127"/>
                <a:gd name="connsiteX8" fmla="*/ 1709261 w 1790700"/>
                <a:gd name="connsiteY8" fmla="*/ 1248442 h 1786127"/>
                <a:gd name="connsiteX9" fmla="*/ 1425797 w 1790700"/>
                <a:gd name="connsiteY9" fmla="*/ 1306735 h 1786127"/>
                <a:gd name="connsiteX10" fmla="*/ 1142429 w 1790700"/>
                <a:gd name="connsiteY10" fmla="*/ 1248442 h 1786127"/>
                <a:gd name="connsiteX11" fmla="*/ 1142429 w 1790700"/>
                <a:gd name="connsiteY11" fmla="*/ 1387793 h 1786127"/>
                <a:gd name="connsiteX12" fmla="*/ 1425797 w 1790700"/>
                <a:gd name="connsiteY12" fmla="*/ 1473327 h 1786127"/>
                <a:gd name="connsiteX13" fmla="*/ 1709261 w 1790700"/>
                <a:gd name="connsiteY13" fmla="*/ 1387793 h 1786127"/>
                <a:gd name="connsiteX14" fmla="*/ 1709261 w 1790700"/>
                <a:gd name="connsiteY14" fmla="*/ 1609344 h 1786127"/>
                <a:gd name="connsiteX15" fmla="*/ 1709261 w 1790700"/>
                <a:gd name="connsiteY15" fmla="*/ 1496568 h 1786127"/>
                <a:gd name="connsiteX16" fmla="*/ 1425797 w 1790700"/>
                <a:gd name="connsiteY16" fmla="*/ 1554766 h 1786127"/>
                <a:gd name="connsiteX17" fmla="*/ 1142429 w 1790700"/>
                <a:gd name="connsiteY17" fmla="*/ 1496568 h 1786127"/>
                <a:gd name="connsiteX18" fmla="*/ 1142429 w 1790700"/>
                <a:gd name="connsiteY18" fmla="*/ 1609344 h 1786127"/>
                <a:gd name="connsiteX19" fmla="*/ 1425797 w 1790700"/>
                <a:gd name="connsiteY19" fmla="*/ 1694878 h 1786127"/>
                <a:gd name="connsiteX20" fmla="*/ 1709261 w 1790700"/>
                <a:gd name="connsiteY20" fmla="*/ 1609344 h 1786127"/>
                <a:gd name="connsiteX21" fmla="*/ 1142429 w 1790700"/>
                <a:gd name="connsiteY21" fmla="*/ 887063 h 1786127"/>
                <a:gd name="connsiteX22" fmla="*/ 1425797 w 1790700"/>
                <a:gd name="connsiteY22" fmla="*/ 972598 h 1786127"/>
                <a:gd name="connsiteX23" fmla="*/ 1709261 w 1790700"/>
                <a:gd name="connsiteY23" fmla="*/ 887063 h 1786127"/>
                <a:gd name="connsiteX24" fmla="*/ 1425797 w 1790700"/>
                <a:gd name="connsiteY24" fmla="*/ 801529 h 1786127"/>
                <a:gd name="connsiteX25" fmla="*/ 1142429 w 1790700"/>
                <a:gd name="connsiteY25" fmla="*/ 887063 h 1786127"/>
                <a:gd name="connsiteX26" fmla="*/ 1790700 w 1790700"/>
                <a:gd name="connsiteY26" fmla="*/ 887063 h 1786127"/>
                <a:gd name="connsiteX27" fmla="*/ 1790700 w 1790700"/>
                <a:gd name="connsiteY27" fmla="*/ 1609344 h 1786127"/>
                <a:gd name="connsiteX28" fmla="*/ 1425797 w 1790700"/>
                <a:gd name="connsiteY28" fmla="*/ 1776317 h 1786127"/>
                <a:gd name="connsiteX29" fmla="*/ 1060895 w 1790700"/>
                <a:gd name="connsiteY29" fmla="*/ 1609344 h 1786127"/>
                <a:gd name="connsiteX30" fmla="*/ 1060895 w 1790700"/>
                <a:gd name="connsiteY30" fmla="*/ 887063 h 1786127"/>
                <a:gd name="connsiteX31" fmla="*/ 1425797 w 1790700"/>
                <a:gd name="connsiteY31" fmla="*/ 719995 h 1786127"/>
                <a:gd name="connsiteX32" fmla="*/ 1790700 w 1790700"/>
                <a:gd name="connsiteY32" fmla="*/ 887063 h 1786127"/>
                <a:gd name="connsiteX33" fmla="*/ 81439 w 1790700"/>
                <a:gd name="connsiteY33" fmla="*/ 1551908 h 1786127"/>
                <a:gd name="connsiteX34" fmla="*/ 81439 w 1790700"/>
                <a:gd name="connsiteY34" fmla="*/ 234220 h 1786127"/>
                <a:gd name="connsiteX35" fmla="*/ 234220 w 1790700"/>
                <a:gd name="connsiteY35" fmla="*/ 81439 h 1786127"/>
                <a:gd name="connsiteX36" fmla="*/ 1552004 w 1790700"/>
                <a:gd name="connsiteY36" fmla="*/ 81439 h 1786127"/>
                <a:gd name="connsiteX37" fmla="*/ 1704689 w 1790700"/>
                <a:gd name="connsiteY37" fmla="*/ 234220 h 1786127"/>
                <a:gd name="connsiteX38" fmla="*/ 1704689 w 1790700"/>
                <a:gd name="connsiteY38" fmla="*/ 750951 h 1786127"/>
                <a:gd name="connsiteX39" fmla="*/ 1786223 w 1790700"/>
                <a:gd name="connsiteY39" fmla="*/ 750951 h 1786127"/>
                <a:gd name="connsiteX40" fmla="*/ 1786223 w 1790700"/>
                <a:gd name="connsiteY40" fmla="*/ 234220 h 1786127"/>
                <a:gd name="connsiteX41" fmla="*/ 1552004 w 1790700"/>
                <a:gd name="connsiteY41" fmla="*/ 0 h 1786127"/>
                <a:gd name="connsiteX42" fmla="*/ 234220 w 1790700"/>
                <a:gd name="connsiteY42" fmla="*/ 0 h 1786127"/>
                <a:gd name="connsiteX43" fmla="*/ 0 w 1790700"/>
                <a:gd name="connsiteY43" fmla="*/ 234220 h 1786127"/>
                <a:gd name="connsiteX44" fmla="*/ 0 w 1790700"/>
                <a:gd name="connsiteY44" fmla="*/ 1551908 h 1786127"/>
                <a:gd name="connsiteX45" fmla="*/ 234220 w 1790700"/>
                <a:gd name="connsiteY45" fmla="*/ 1786128 h 1786127"/>
                <a:gd name="connsiteX46" fmla="*/ 1035177 w 1790700"/>
                <a:gd name="connsiteY46" fmla="*/ 1786128 h 1786127"/>
                <a:gd name="connsiteX47" fmla="*/ 1035177 w 1790700"/>
                <a:gd name="connsiteY47" fmla="*/ 1704689 h 1786127"/>
                <a:gd name="connsiteX48" fmla="*/ 234220 w 1790700"/>
                <a:gd name="connsiteY48" fmla="*/ 1704689 h 1786127"/>
                <a:gd name="connsiteX49" fmla="*/ 81439 w 1790700"/>
                <a:gd name="connsiteY49" fmla="*/ 1551908 h 1786127"/>
                <a:gd name="connsiteX50" fmla="*/ 1343216 w 1790700"/>
                <a:gd name="connsiteY50" fmla="*/ 260033 h 1786127"/>
                <a:gd name="connsiteX51" fmla="*/ 1343216 w 1790700"/>
                <a:gd name="connsiteY51" fmla="*/ 579977 h 1786127"/>
                <a:gd name="connsiteX52" fmla="*/ 1516856 w 1790700"/>
                <a:gd name="connsiteY52" fmla="*/ 579977 h 1786127"/>
                <a:gd name="connsiteX53" fmla="*/ 1516856 w 1790700"/>
                <a:gd name="connsiteY53" fmla="*/ 528733 h 1786127"/>
                <a:gd name="connsiteX54" fmla="*/ 1407890 w 1790700"/>
                <a:gd name="connsiteY54" fmla="*/ 528733 h 1786127"/>
                <a:gd name="connsiteX55" fmla="*/ 1407890 w 1790700"/>
                <a:gd name="connsiteY55" fmla="*/ 260033 h 1786127"/>
                <a:gd name="connsiteX56" fmla="*/ 1222343 w 1790700"/>
                <a:gd name="connsiteY56" fmla="*/ 419767 h 1786127"/>
                <a:gd name="connsiteX57" fmla="*/ 1207103 w 1790700"/>
                <a:gd name="connsiteY57" fmla="*/ 333470 h 1786127"/>
                <a:gd name="connsiteX58" fmla="*/ 1160431 w 1790700"/>
                <a:gd name="connsiteY58" fmla="*/ 305276 h 1786127"/>
                <a:gd name="connsiteX59" fmla="*/ 1113758 w 1790700"/>
                <a:gd name="connsiteY59" fmla="*/ 333470 h 1786127"/>
                <a:gd name="connsiteX60" fmla="*/ 1098614 w 1790700"/>
                <a:gd name="connsiteY60" fmla="*/ 419767 h 1786127"/>
                <a:gd name="connsiteX61" fmla="*/ 1114235 w 1790700"/>
                <a:gd name="connsiteY61" fmla="*/ 505682 h 1786127"/>
                <a:gd name="connsiteX62" fmla="*/ 1160431 w 1790700"/>
                <a:gd name="connsiteY62" fmla="*/ 534734 h 1786127"/>
                <a:gd name="connsiteX63" fmla="*/ 1206532 w 1790700"/>
                <a:gd name="connsiteY63" fmla="*/ 505682 h 1786127"/>
                <a:gd name="connsiteX64" fmla="*/ 1222343 w 1790700"/>
                <a:gd name="connsiteY64" fmla="*/ 419767 h 1786127"/>
                <a:gd name="connsiteX65" fmla="*/ 1207103 w 1790700"/>
                <a:gd name="connsiteY65" fmla="*/ 579025 h 1786127"/>
                <a:gd name="connsiteX66" fmla="*/ 1238917 w 1790700"/>
                <a:gd name="connsiteY66" fmla="*/ 597027 h 1786127"/>
                <a:gd name="connsiteX67" fmla="*/ 1281875 w 1790700"/>
                <a:gd name="connsiteY67" fmla="*/ 606362 h 1786127"/>
                <a:gd name="connsiteX68" fmla="*/ 1281875 w 1790700"/>
                <a:gd name="connsiteY68" fmla="*/ 658940 h 1786127"/>
                <a:gd name="connsiteX69" fmla="*/ 1211675 w 1790700"/>
                <a:gd name="connsiteY69" fmla="*/ 634460 h 1786127"/>
                <a:gd name="connsiteX70" fmla="*/ 1153954 w 1790700"/>
                <a:gd name="connsiteY70" fmla="*/ 586931 h 1786127"/>
                <a:gd name="connsiteX71" fmla="*/ 1063943 w 1790700"/>
                <a:gd name="connsiteY71" fmla="*/ 541020 h 1786127"/>
                <a:gd name="connsiteX72" fmla="*/ 1032034 w 1790700"/>
                <a:gd name="connsiteY72" fmla="*/ 419767 h 1786127"/>
                <a:gd name="connsiteX73" fmla="*/ 1065752 w 1790700"/>
                <a:gd name="connsiteY73" fmla="*/ 296799 h 1786127"/>
                <a:gd name="connsiteX74" fmla="*/ 1160431 w 1790700"/>
                <a:gd name="connsiteY74" fmla="*/ 253079 h 1786127"/>
                <a:gd name="connsiteX75" fmla="*/ 1255109 w 1790700"/>
                <a:gd name="connsiteY75" fmla="*/ 296799 h 1786127"/>
                <a:gd name="connsiteX76" fmla="*/ 1288733 w 1790700"/>
                <a:gd name="connsiteY76" fmla="*/ 419767 h 1786127"/>
                <a:gd name="connsiteX77" fmla="*/ 1267778 w 1790700"/>
                <a:gd name="connsiteY77" fmla="*/ 522732 h 1786127"/>
                <a:gd name="connsiteX78" fmla="*/ 1207103 w 1790700"/>
                <a:gd name="connsiteY78" fmla="*/ 579025 h 1786127"/>
                <a:gd name="connsiteX79" fmla="*/ 881539 w 1790700"/>
                <a:gd name="connsiteY79" fmla="*/ 535115 h 1786127"/>
                <a:gd name="connsiteX80" fmla="*/ 844868 w 1790700"/>
                <a:gd name="connsiteY80" fmla="*/ 530828 h 1786127"/>
                <a:gd name="connsiteX81" fmla="*/ 806291 w 1790700"/>
                <a:gd name="connsiteY81" fmla="*/ 519970 h 1786127"/>
                <a:gd name="connsiteX82" fmla="*/ 806291 w 1790700"/>
                <a:gd name="connsiteY82" fmla="*/ 568452 h 1786127"/>
                <a:gd name="connsiteX83" fmla="*/ 842772 w 1790700"/>
                <a:gd name="connsiteY83" fmla="*/ 581882 h 1786127"/>
                <a:gd name="connsiteX84" fmla="*/ 886206 w 1790700"/>
                <a:gd name="connsiteY84" fmla="*/ 586931 h 1786127"/>
                <a:gd name="connsiteX85" fmla="*/ 964406 w 1790700"/>
                <a:gd name="connsiteY85" fmla="*/ 561308 h 1786127"/>
                <a:gd name="connsiteX86" fmla="*/ 992791 w 1790700"/>
                <a:gd name="connsiteY86" fmla="*/ 491776 h 1786127"/>
                <a:gd name="connsiteX87" fmla="*/ 986123 w 1790700"/>
                <a:gd name="connsiteY87" fmla="*/ 453295 h 1786127"/>
                <a:gd name="connsiteX88" fmla="*/ 965359 w 1790700"/>
                <a:gd name="connsiteY88" fmla="*/ 424339 h 1786127"/>
                <a:gd name="connsiteX89" fmla="*/ 927259 w 1790700"/>
                <a:gd name="connsiteY89" fmla="*/ 398526 h 1786127"/>
                <a:gd name="connsiteX90" fmla="*/ 902303 w 1790700"/>
                <a:gd name="connsiteY90" fmla="*/ 385191 h 1786127"/>
                <a:gd name="connsiteX91" fmla="*/ 874871 w 1790700"/>
                <a:gd name="connsiteY91" fmla="*/ 364903 h 1786127"/>
                <a:gd name="connsiteX92" fmla="*/ 867728 w 1790700"/>
                <a:gd name="connsiteY92" fmla="*/ 341281 h 1786127"/>
                <a:gd name="connsiteX93" fmla="*/ 878777 w 1790700"/>
                <a:gd name="connsiteY93" fmla="*/ 314515 h 1786127"/>
                <a:gd name="connsiteX94" fmla="*/ 909257 w 1790700"/>
                <a:gd name="connsiteY94" fmla="*/ 304800 h 1786127"/>
                <a:gd name="connsiteX95" fmla="*/ 975265 w 1790700"/>
                <a:gd name="connsiteY95" fmla="*/ 318707 h 1786127"/>
                <a:gd name="connsiteX96" fmla="*/ 975265 w 1790700"/>
                <a:gd name="connsiteY96" fmla="*/ 269748 h 1786127"/>
                <a:gd name="connsiteX97" fmla="*/ 902780 w 1790700"/>
                <a:gd name="connsiteY97" fmla="*/ 253079 h 1786127"/>
                <a:gd name="connsiteX98" fmla="*/ 851345 w 1790700"/>
                <a:gd name="connsiteY98" fmla="*/ 264414 h 1786127"/>
                <a:gd name="connsiteX99" fmla="*/ 816007 w 1790700"/>
                <a:gd name="connsiteY99" fmla="*/ 296799 h 1786127"/>
                <a:gd name="connsiteX100" fmla="*/ 803053 w 1790700"/>
                <a:gd name="connsiteY100" fmla="*/ 345948 h 1786127"/>
                <a:gd name="connsiteX101" fmla="*/ 817817 w 1790700"/>
                <a:gd name="connsiteY101" fmla="*/ 397574 h 1786127"/>
                <a:gd name="connsiteX102" fmla="*/ 866775 w 1790700"/>
                <a:gd name="connsiteY102" fmla="*/ 437293 h 1786127"/>
                <a:gd name="connsiteX103" fmla="*/ 891731 w 1790700"/>
                <a:gd name="connsiteY103" fmla="*/ 450723 h 1786127"/>
                <a:gd name="connsiteX104" fmla="*/ 918686 w 1790700"/>
                <a:gd name="connsiteY104" fmla="*/ 470821 h 1786127"/>
                <a:gd name="connsiteX105" fmla="*/ 926878 w 1790700"/>
                <a:gd name="connsiteY105" fmla="*/ 495014 h 1786127"/>
                <a:gd name="connsiteX106" fmla="*/ 915257 w 1790700"/>
                <a:gd name="connsiteY106" fmla="*/ 524828 h 1786127"/>
                <a:gd name="connsiteX107" fmla="*/ 881539 w 1790700"/>
                <a:gd name="connsiteY107" fmla="*/ 535115 h 1786127"/>
                <a:gd name="connsiteX108" fmla="*/ 644271 w 1790700"/>
                <a:gd name="connsiteY108" fmla="*/ 623792 h 1786127"/>
                <a:gd name="connsiteX109" fmla="*/ 617887 w 1790700"/>
                <a:gd name="connsiteY109" fmla="*/ 633032 h 1786127"/>
                <a:gd name="connsiteX110" fmla="*/ 595694 w 1790700"/>
                <a:gd name="connsiteY110" fmla="*/ 631317 h 1786127"/>
                <a:gd name="connsiteX111" fmla="*/ 595694 w 1790700"/>
                <a:gd name="connsiteY111" fmla="*/ 673703 h 1786127"/>
                <a:gd name="connsiteX112" fmla="*/ 636365 w 1790700"/>
                <a:gd name="connsiteY112" fmla="*/ 680657 h 1786127"/>
                <a:gd name="connsiteX113" fmla="*/ 678847 w 1790700"/>
                <a:gd name="connsiteY113" fmla="*/ 665417 h 1786127"/>
                <a:gd name="connsiteX114" fmla="*/ 704755 w 1790700"/>
                <a:gd name="connsiteY114" fmla="*/ 615982 h 1786127"/>
                <a:gd name="connsiteX115" fmla="*/ 782765 w 1790700"/>
                <a:gd name="connsiteY115" fmla="*/ 344138 h 1786127"/>
                <a:gd name="connsiteX116" fmla="*/ 717613 w 1790700"/>
                <a:gd name="connsiteY116" fmla="*/ 344138 h 1786127"/>
                <a:gd name="connsiteX117" fmla="*/ 683038 w 1790700"/>
                <a:gd name="connsiteY117" fmla="*/ 517684 h 1786127"/>
                <a:gd name="connsiteX118" fmla="*/ 647510 w 1790700"/>
                <a:gd name="connsiteY118" fmla="*/ 344138 h 1786127"/>
                <a:gd name="connsiteX119" fmla="*/ 580454 w 1790700"/>
                <a:gd name="connsiteY119" fmla="*/ 344138 h 1786127"/>
                <a:gd name="connsiteX120" fmla="*/ 656749 w 1790700"/>
                <a:gd name="connsiteY120" fmla="*/ 584645 h 1786127"/>
                <a:gd name="connsiteX121" fmla="*/ 655796 w 1790700"/>
                <a:gd name="connsiteY121" fmla="*/ 592836 h 1786127"/>
                <a:gd name="connsiteX122" fmla="*/ 644271 w 1790700"/>
                <a:gd name="connsiteY122" fmla="*/ 623792 h 1786127"/>
                <a:gd name="connsiteX123" fmla="*/ 489585 w 1790700"/>
                <a:gd name="connsiteY123" fmla="*/ 579977 h 1786127"/>
                <a:gd name="connsiteX124" fmla="*/ 489585 w 1790700"/>
                <a:gd name="connsiteY124" fmla="*/ 355664 h 1786127"/>
                <a:gd name="connsiteX125" fmla="*/ 435578 w 1790700"/>
                <a:gd name="connsiteY125" fmla="*/ 501015 h 1786127"/>
                <a:gd name="connsiteX126" fmla="*/ 380619 w 1790700"/>
                <a:gd name="connsiteY126" fmla="*/ 501015 h 1786127"/>
                <a:gd name="connsiteX127" fmla="*/ 326993 w 1790700"/>
                <a:gd name="connsiteY127" fmla="*/ 356997 h 1786127"/>
                <a:gd name="connsiteX128" fmla="*/ 326993 w 1790700"/>
                <a:gd name="connsiteY128" fmla="*/ 579977 h 1786127"/>
                <a:gd name="connsiteX129" fmla="*/ 269272 w 1790700"/>
                <a:gd name="connsiteY129" fmla="*/ 579977 h 1786127"/>
                <a:gd name="connsiteX130" fmla="*/ 269272 w 1790700"/>
                <a:gd name="connsiteY130" fmla="*/ 260033 h 1786127"/>
                <a:gd name="connsiteX131" fmla="*/ 343281 w 1790700"/>
                <a:gd name="connsiteY131" fmla="*/ 260033 h 1786127"/>
                <a:gd name="connsiteX132" fmla="*/ 409289 w 1790700"/>
                <a:gd name="connsiteY132" fmla="*/ 439198 h 1786127"/>
                <a:gd name="connsiteX133" fmla="*/ 475298 w 1790700"/>
                <a:gd name="connsiteY133" fmla="*/ 260033 h 1786127"/>
                <a:gd name="connsiteX134" fmla="*/ 547307 w 1790700"/>
                <a:gd name="connsiteY134" fmla="*/ 260033 h 1786127"/>
                <a:gd name="connsiteX135" fmla="*/ 547307 w 1790700"/>
                <a:gd name="connsiteY135" fmla="*/ 579977 h 178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790700" h="1786127">
                  <a:moveTo>
                    <a:pt x="1709261" y="1139666"/>
                  </a:moveTo>
                  <a:lnTo>
                    <a:pt x="1709261" y="995839"/>
                  </a:lnTo>
                  <a:cubicBezTo>
                    <a:pt x="1638776" y="1034225"/>
                    <a:pt x="1532096" y="1054037"/>
                    <a:pt x="1425797" y="1054037"/>
                  </a:cubicBezTo>
                  <a:cubicBezTo>
                    <a:pt x="1319593" y="1054037"/>
                    <a:pt x="1212818" y="1034225"/>
                    <a:pt x="1142429" y="995839"/>
                  </a:cubicBezTo>
                  <a:lnTo>
                    <a:pt x="1142429" y="1139666"/>
                  </a:lnTo>
                  <a:cubicBezTo>
                    <a:pt x="1142429" y="1165193"/>
                    <a:pt x="1238822" y="1225201"/>
                    <a:pt x="1425797" y="1225201"/>
                  </a:cubicBezTo>
                  <a:cubicBezTo>
                    <a:pt x="1612868" y="1225201"/>
                    <a:pt x="1709261" y="1165193"/>
                    <a:pt x="1709261" y="1139666"/>
                  </a:cubicBezTo>
                  <a:close/>
                  <a:moveTo>
                    <a:pt x="1709261" y="1387793"/>
                  </a:moveTo>
                  <a:lnTo>
                    <a:pt x="1709261" y="1248442"/>
                  </a:lnTo>
                  <a:cubicBezTo>
                    <a:pt x="1638776" y="1286828"/>
                    <a:pt x="1532096" y="1306735"/>
                    <a:pt x="1425797" y="1306735"/>
                  </a:cubicBezTo>
                  <a:cubicBezTo>
                    <a:pt x="1319593" y="1306735"/>
                    <a:pt x="1212818" y="1286828"/>
                    <a:pt x="1142429" y="1248442"/>
                  </a:cubicBezTo>
                  <a:lnTo>
                    <a:pt x="1142429" y="1387793"/>
                  </a:lnTo>
                  <a:cubicBezTo>
                    <a:pt x="1142429" y="1413320"/>
                    <a:pt x="1238822" y="1473327"/>
                    <a:pt x="1425797" y="1473327"/>
                  </a:cubicBezTo>
                  <a:cubicBezTo>
                    <a:pt x="1612868" y="1473327"/>
                    <a:pt x="1709261" y="1413320"/>
                    <a:pt x="1709261" y="1387793"/>
                  </a:cubicBezTo>
                  <a:close/>
                  <a:moveTo>
                    <a:pt x="1709261" y="1609344"/>
                  </a:moveTo>
                  <a:lnTo>
                    <a:pt x="1709261" y="1496568"/>
                  </a:lnTo>
                  <a:cubicBezTo>
                    <a:pt x="1638776" y="1534954"/>
                    <a:pt x="1532096" y="1554766"/>
                    <a:pt x="1425797" y="1554766"/>
                  </a:cubicBezTo>
                  <a:cubicBezTo>
                    <a:pt x="1319593" y="1554766"/>
                    <a:pt x="1212818" y="1534954"/>
                    <a:pt x="1142429" y="1496568"/>
                  </a:cubicBezTo>
                  <a:lnTo>
                    <a:pt x="1142429" y="1609344"/>
                  </a:lnTo>
                  <a:cubicBezTo>
                    <a:pt x="1142429" y="1634871"/>
                    <a:pt x="1238822" y="1694878"/>
                    <a:pt x="1425797" y="1694878"/>
                  </a:cubicBezTo>
                  <a:cubicBezTo>
                    <a:pt x="1612868" y="1694878"/>
                    <a:pt x="1709261" y="1634871"/>
                    <a:pt x="1709261" y="1609344"/>
                  </a:cubicBezTo>
                  <a:close/>
                  <a:moveTo>
                    <a:pt x="1142429" y="887063"/>
                  </a:moveTo>
                  <a:cubicBezTo>
                    <a:pt x="1142429" y="912686"/>
                    <a:pt x="1238822" y="972598"/>
                    <a:pt x="1425797" y="972598"/>
                  </a:cubicBezTo>
                  <a:cubicBezTo>
                    <a:pt x="1612868" y="972598"/>
                    <a:pt x="1709261" y="912686"/>
                    <a:pt x="1709261" y="887063"/>
                  </a:cubicBezTo>
                  <a:cubicBezTo>
                    <a:pt x="1709261" y="861536"/>
                    <a:pt x="1612868" y="801529"/>
                    <a:pt x="1425797" y="801529"/>
                  </a:cubicBezTo>
                  <a:cubicBezTo>
                    <a:pt x="1238822" y="801529"/>
                    <a:pt x="1142429" y="861536"/>
                    <a:pt x="1142429" y="887063"/>
                  </a:cubicBezTo>
                  <a:close/>
                  <a:moveTo>
                    <a:pt x="1790700" y="887063"/>
                  </a:moveTo>
                  <a:lnTo>
                    <a:pt x="1790700" y="1609344"/>
                  </a:lnTo>
                  <a:cubicBezTo>
                    <a:pt x="1790700" y="1718977"/>
                    <a:pt x="1607153" y="1776317"/>
                    <a:pt x="1425797" y="1776317"/>
                  </a:cubicBezTo>
                  <a:cubicBezTo>
                    <a:pt x="1244537" y="1776317"/>
                    <a:pt x="1060895" y="1718977"/>
                    <a:pt x="1060895" y="1609344"/>
                  </a:cubicBezTo>
                  <a:lnTo>
                    <a:pt x="1060895" y="887063"/>
                  </a:lnTo>
                  <a:cubicBezTo>
                    <a:pt x="1060895" y="777431"/>
                    <a:pt x="1244537" y="719995"/>
                    <a:pt x="1425797" y="719995"/>
                  </a:cubicBezTo>
                  <a:cubicBezTo>
                    <a:pt x="1607153" y="719995"/>
                    <a:pt x="1790700" y="777431"/>
                    <a:pt x="1790700" y="887063"/>
                  </a:cubicBezTo>
                  <a:close/>
                  <a:moveTo>
                    <a:pt x="81439" y="1551908"/>
                  </a:moveTo>
                  <a:lnTo>
                    <a:pt x="81439" y="234220"/>
                  </a:lnTo>
                  <a:cubicBezTo>
                    <a:pt x="81439" y="149924"/>
                    <a:pt x="150019" y="81439"/>
                    <a:pt x="234220" y="81439"/>
                  </a:cubicBezTo>
                  <a:lnTo>
                    <a:pt x="1552004" y="81439"/>
                  </a:lnTo>
                  <a:cubicBezTo>
                    <a:pt x="1636205" y="81439"/>
                    <a:pt x="1704689" y="149924"/>
                    <a:pt x="1704689" y="234220"/>
                  </a:cubicBezTo>
                  <a:lnTo>
                    <a:pt x="1704689" y="750951"/>
                  </a:lnTo>
                  <a:lnTo>
                    <a:pt x="1786223" y="750951"/>
                  </a:lnTo>
                  <a:lnTo>
                    <a:pt x="1786223" y="234220"/>
                  </a:lnTo>
                  <a:cubicBezTo>
                    <a:pt x="1786223" y="105061"/>
                    <a:pt x="1681163" y="0"/>
                    <a:pt x="1552004" y="0"/>
                  </a:cubicBezTo>
                  <a:lnTo>
                    <a:pt x="234220" y="0"/>
                  </a:lnTo>
                  <a:cubicBezTo>
                    <a:pt x="105061" y="0"/>
                    <a:pt x="0" y="105061"/>
                    <a:pt x="0" y="234220"/>
                  </a:cubicBezTo>
                  <a:lnTo>
                    <a:pt x="0" y="1551908"/>
                  </a:lnTo>
                  <a:cubicBezTo>
                    <a:pt x="0" y="1681067"/>
                    <a:pt x="105061" y="1786128"/>
                    <a:pt x="234220" y="1786128"/>
                  </a:cubicBezTo>
                  <a:lnTo>
                    <a:pt x="1035177" y="1786128"/>
                  </a:lnTo>
                  <a:lnTo>
                    <a:pt x="1035177" y="1704689"/>
                  </a:lnTo>
                  <a:lnTo>
                    <a:pt x="234220" y="1704689"/>
                  </a:lnTo>
                  <a:cubicBezTo>
                    <a:pt x="150019" y="1704689"/>
                    <a:pt x="81439" y="1636109"/>
                    <a:pt x="81439" y="1551908"/>
                  </a:cubicBezTo>
                  <a:close/>
                  <a:moveTo>
                    <a:pt x="1343216" y="260033"/>
                  </a:moveTo>
                  <a:lnTo>
                    <a:pt x="1343216" y="579977"/>
                  </a:lnTo>
                  <a:lnTo>
                    <a:pt x="1516856" y="579977"/>
                  </a:lnTo>
                  <a:lnTo>
                    <a:pt x="1516856" y="528733"/>
                  </a:lnTo>
                  <a:lnTo>
                    <a:pt x="1407890" y="528733"/>
                  </a:lnTo>
                  <a:lnTo>
                    <a:pt x="1407890" y="260033"/>
                  </a:lnTo>
                  <a:close/>
                  <a:moveTo>
                    <a:pt x="1222343" y="419767"/>
                  </a:moveTo>
                  <a:cubicBezTo>
                    <a:pt x="1222343" y="381000"/>
                    <a:pt x="1217200" y="352235"/>
                    <a:pt x="1207103" y="333470"/>
                  </a:cubicBezTo>
                  <a:cubicBezTo>
                    <a:pt x="1196912" y="314706"/>
                    <a:pt x="1181291" y="305276"/>
                    <a:pt x="1160431" y="305276"/>
                  </a:cubicBezTo>
                  <a:cubicBezTo>
                    <a:pt x="1139571" y="305276"/>
                    <a:pt x="1123950" y="314706"/>
                    <a:pt x="1113758" y="333470"/>
                  </a:cubicBezTo>
                  <a:cubicBezTo>
                    <a:pt x="1103662" y="352235"/>
                    <a:pt x="1098614" y="381000"/>
                    <a:pt x="1098614" y="419767"/>
                  </a:cubicBezTo>
                  <a:cubicBezTo>
                    <a:pt x="1098614" y="457676"/>
                    <a:pt x="1103757" y="486251"/>
                    <a:pt x="1114235" y="505682"/>
                  </a:cubicBezTo>
                  <a:cubicBezTo>
                    <a:pt x="1124712" y="525018"/>
                    <a:pt x="1140143" y="534734"/>
                    <a:pt x="1160431" y="534734"/>
                  </a:cubicBezTo>
                  <a:cubicBezTo>
                    <a:pt x="1180719" y="534734"/>
                    <a:pt x="1196150" y="525018"/>
                    <a:pt x="1206532" y="505682"/>
                  </a:cubicBezTo>
                  <a:cubicBezTo>
                    <a:pt x="1217009" y="486251"/>
                    <a:pt x="1222343" y="457676"/>
                    <a:pt x="1222343" y="419767"/>
                  </a:cubicBezTo>
                  <a:close/>
                  <a:moveTo>
                    <a:pt x="1207103" y="579025"/>
                  </a:moveTo>
                  <a:cubicBezTo>
                    <a:pt x="1216628" y="586740"/>
                    <a:pt x="1227201" y="592741"/>
                    <a:pt x="1238917" y="597027"/>
                  </a:cubicBezTo>
                  <a:cubicBezTo>
                    <a:pt x="1250633" y="601313"/>
                    <a:pt x="1264920" y="604457"/>
                    <a:pt x="1281875" y="606362"/>
                  </a:cubicBezTo>
                  <a:lnTo>
                    <a:pt x="1281875" y="658940"/>
                  </a:lnTo>
                  <a:cubicBezTo>
                    <a:pt x="1257491" y="655225"/>
                    <a:pt x="1234154" y="647033"/>
                    <a:pt x="1211675" y="634460"/>
                  </a:cubicBezTo>
                  <a:cubicBezTo>
                    <a:pt x="1189196" y="621792"/>
                    <a:pt x="1169956" y="605981"/>
                    <a:pt x="1153954" y="586931"/>
                  </a:cubicBezTo>
                  <a:cubicBezTo>
                    <a:pt x="1115187" y="585407"/>
                    <a:pt x="1085183" y="570071"/>
                    <a:pt x="1063943" y="541020"/>
                  </a:cubicBezTo>
                  <a:cubicBezTo>
                    <a:pt x="1042702" y="511874"/>
                    <a:pt x="1032034" y="471583"/>
                    <a:pt x="1032034" y="419767"/>
                  </a:cubicBezTo>
                  <a:cubicBezTo>
                    <a:pt x="1032034" y="366808"/>
                    <a:pt x="1043273" y="325850"/>
                    <a:pt x="1065752" y="296799"/>
                  </a:cubicBezTo>
                  <a:cubicBezTo>
                    <a:pt x="1088231" y="267653"/>
                    <a:pt x="1119759" y="253079"/>
                    <a:pt x="1160431" y="253079"/>
                  </a:cubicBezTo>
                  <a:cubicBezTo>
                    <a:pt x="1201007" y="253079"/>
                    <a:pt x="1232630" y="267653"/>
                    <a:pt x="1255109" y="296799"/>
                  </a:cubicBezTo>
                  <a:cubicBezTo>
                    <a:pt x="1277493" y="325850"/>
                    <a:pt x="1288733" y="366808"/>
                    <a:pt x="1288733" y="419767"/>
                  </a:cubicBezTo>
                  <a:cubicBezTo>
                    <a:pt x="1288733" y="461010"/>
                    <a:pt x="1281779" y="495395"/>
                    <a:pt x="1267778" y="522732"/>
                  </a:cubicBezTo>
                  <a:cubicBezTo>
                    <a:pt x="1253776" y="550164"/>
                    <a:pt x="1233488" y="568928"/>
                    <a:pt x="1207103" y="579025"/>
                  </a:cubicBezTo>
                  <a:close/>
                  <a:moveTo>
                    <a:pt x="881539" y="535115"/>
                  </a:moveTo>
                  <a:cubicBezTo>
                    <a:pt x="871442" y="535115"/>
                    <a:pt x="859250" y="533781"/>
                    <a:pt x="844868" y="530828"/>
                  </a:cubicBezTo>
                  <a:cubicBezTo>
                    <a:pt x="830580" y="527876"/>
                    <a:pt x="817721" y="524351"/>
                    <a:pt x="806291" y="519970"/>
                  </a:cubicBezTo>
                  <a:lnTo>
                    <a:pt x="806291" y="568452"/>
                  </a:lnTo>
                  <a:cubicBezTo>
                    <a:pt x="816102" y="573977"/>
                    <a:pt x="828294" y="578453"/>
                    <a:pt x="842772" y="581882"/>
                  </a:cubicBezTo>
                  <a:cubicBezTo>
                    <a:pt x="857250" y="585216"/>
                    <a:pt x="871728" y="586931"/>
                    <a:pt x="886206" y="586931"/>
                  </a:cubicBezTo>
                  <a:cubicBezTo>
                    <a:pt x="919353" y="586931"/>
                    <a:pt x="945452" y="578453"/>
                    <a:pt x="964406" y="561308"/>
                  </a:cubicBezTo>
                  <a:cubicBezTo>
                    <a:pt x="983361" y="544163"/>
                    <a:pt x="992791" y="521018"/>
                    <a:pt x="992791" y="491776"/>
                  </a:cubicBezTo>
                  <a:cubicBezTo>
                    <a:pt x="992791" y="476726"/>
                    <a:pt x="990505" y="463868"/>
                    <a:pt x="986123" y="453295"/>
                  </a:cubicBezTo>
                  <a:cubicBezTo>
                    <a:pt x="981742" y="442627"/>
                    <a:pt x="974788" y="433007"/>
                    <a:pt x="965359" y="424339"/>
                  </a:cubicBezTo>
                  <a:cubicBezTo>
                    <a:pt x="955929" y="415862"/>
                    <a:pt x="943261" y="407194"/>
                    <a:pt x="927259" y="398526"/>
                  </a:cubicBezTo>
                  <a:lnTo>
                    <a:pt x="902303" y="385191"/>
                  </a:lnTo>
                  <a:cubicBezTo>
                    <a:pt x="888778" y="377857"/>
                    <a:pt x="879634" y="370999"/>
                    <a:pt x="874871" y="364903"/>
                  </a:cubicBezTo>
                  <a:cubicBezTo>
                    <a:pt x="870013" y="358712"/>
                    <a:pt x="867728" y="350806"/>
                    <a:pt x="867728" y="341281"/>
                  </a:cubicBezTo>
                  <a:cubicBezTo>
                    <a:pt x="867728" y="329946"/>
                    <a:pt x="871442" y="320993"/>
                    <a:pt x="878777" y="314515"/>
                  </a:cubicBezTo>
                  <a:cubicBezTo>
                    <a:pt x="886206" y="308039"/>
                    <a:pt x="896303" y="304800"/>
                    <a:pt x="909257" y="304800"/>
                  </a:cubicBezTo>
                  <a:cubicBezTo>
                    <a:pt x="928307" y="304800"/>
                    <a:pt x="950309" y="309467"/>
                    <a:pt x="975265" y="318707"/>
                  </a:cubicBezTo>
                  <a:lnTo>
                    <a:pt x="975265" y="269748"/>
                  </a:lnTo>
                  <a:cubicBezTo>
                    <a:pt x="951357" y="258604"/>
                    <a:pt x="927163" y="253079"/>
                    <a:pt x="902780" y="253079"/>
                  </a:cubicBezTo>
                  <a:cubicBezTo>
                    <a:pt x="883444" y="253079"/>
                    <a:pt x="866299" y="256889"/>
                    <a:pt x="851345" y="264414"/>
                  </a:cubicBezTo>
                  <a:cubicBezTo>
                    <a:pt x="836390" y="271939"/>
                    <a:pt x="824579" y="282797"/>
                    <a:pt x="816007" y="296799"/>
                  </a:cubicBezTo>
                  <a:cubicBezTo>
                    <a:pt x="807339" y="310706"/>
                    <a:pt x="803053" y="327184"/>
                    <a:pt x="803053" y="345948"/>
                  </a:cubicBezTo>
                  <a:cubicBezTo>
                    <a:pt x="803053" y="366236"/>
                    <a:pt x="808006" y="383477"/>
                    <a:pt x="817817" y="397574"/>
                  </a:cubicBezTo>
                  <a:cubicBezTo>
                    <a:pt x="827723" y="411766"/>
                    <a:pt x="844010" y="425006"/>
                    <a:pt x="866775" y="437293"/>
                  </a:cubicBezTo>
                  <a:lnTo>
                    <a:pt x="891731" y="450723"/>
                  </a:lnTo>
                  <a:cubicBezTo>
                    <a:pt x="904399" y="457486"/>
                    <a:pt x="913352" y="464249"/>
                    <a:pt x="918686" y="470821"/>
                  </a:cubicBezTo>
                  <a:cubicBezTo>
                    <a:pt x="924115" y="477393"/>
                    <a:pt x="926878" y="485489"/>
                    <a:pt x="926878" y="495014"/>
                  </a:cubicBezTo>
                  <a:cubicBezTo>
                    <a:pt x="926878" y="507968"/>
                    <a:pt x="922973" y="517874"/>
                    <a:pt x="915257" y="524828"/>
                  </a:cubicBezTo>
                  <a:cubicBezTo>
                    <a:pt x="907542" y="531781"/>
                    <a:pt x="896303" y="535115"/>
                    <a:pt x="881539" y="535115"/>
                  </a:cubicBezTo>
                  <a:close/>
                  <a:moveTo>
                    <a:pt x="644271" y="623792"/>
                  </a:moveTo>
                  <a:cubicBezTo>
                    <a:pt x="638461" y="629984"/>
                    <a:pt x="629603" y="633032"/>
                    <a:pt x="617887" y="633032"/>
                  </a:cubicBezTo>
                  <a:cubicBezTo>
                    <a:pt x="611410" y="633032"/>
                    <a:pt x="604076" y="632460"/>
                    <a:pt x="595694" y="631317"/>
                  </a:cubicBezTo>
                  <a:lnTo>
                    <a:pt x="595694" y="673703"/>
                  </a:lnTo>
                  <a:cubicBezTo>
                    <a:pt x="609600" y="678371"/>
                    <a:pt x="623126" y="680657"/>
                    <a:pt x="636365" y="680657"/>
                  </a:cubicBezTo>
                  <a:cubicBezTo>
                    <a:pt x="653891" y="680657"/>
                    <a:pt x="668084" y="675513"/>
                    <a:pt x="678847" y="665417"/>
                  </a:cubicBezTo>
                  <a:cubicBezTo>
                    <a:pt x="689705" y="655225"/>
                    <a:pt x="698278" y="638747"/>
                    <a:pt x="704755" y="615982"/>
                  </a:cubicBezTo>
                  <a:lnTo>
                    <a:pt x="782765" y="344138"/>
                  </a:lnTo>
                  <a:lnTo>
                    <a:pt x="717613" y="344138"/>
                  </a:lnTo>
                  <a:lnTo>
                    <a:pt x="683038" y="517684"/>
                  </a:lnTo>
                  <a:lnTo>
                    <a:pt x="647510" y="344138"/>
                  </a:lnTo>
                  <a:lnTo>
                    <a:pt x="580454" y="344138"/>
                  </a:lnTo>
                  <a:lnTo>
                    <a:pt x="656749" y="584645"/>
                  </a:lnTo>
                  <a:lnTo>
                    <a:pt x="655796" y="592836"/>
                  </a:lnTo>
                  <a:cubicBezTo>
                    <a:pt x="653891" y="607409"/>
                    <a:pt x="650081" y="617696"/>
                    <a:pt x="644271" y="623792"/>
                  </a:cubicBezTo>
                  <a:close/>
                  <a:moveTo>
                    <a:pt x="489585" y="579977"/>
                  </a:moveTo>
                  <a:lnTo>
                    <a:pt x="489585" y="355664"/>
                  </a:lnTo>
                  <a:lnTo>
                    <a:pt x="435578" y="501015"/>
                  </a:lnTo>
                  <a:lnTo>
                    <a:pt x="380619" y="501015"/>
                  </a:lnTo>
                  <a:lnTo>
                    <a:pt x="326993" y="356997"/>
                  </a:lnTo>
                  <a:lnTo>
                    <a:pt x="326993" y="579977"/>
                  </a:lnTo>
                  <a:lnTo>
                    <a:pt x="269272" y="579977"/>
                  </a:lnTo>
                  <a:lnTo>
                    <a:pt x="269272" y="260033"/>
                  </a:lnTo>
                  <a:lnTo>
                    <a:pt x="343281" y="260033"/>
                  </a:lnTo>
                  <a:lnTo>
                    <a:pt x="409289" y="439198"/>
                  </a:lnTo>
                  <a:lnTo>
                    <a:pt x="475298" y="260033"/>
                  </a:lnTo>
                  <a:lnTo>
                    <a:pt x="547307" y="260033"/>
                  </a:lnTo>
                  <a:lnTo>
                    <a:pt x="547307" y="579977"/>
                  </a:lnTo>
                  <a:close/>
                </a:path>
              </a:pathLst>
            </a:custGeom>
            <a:solidFill>
              <a:srgbClr val="C925D1"/>
            </a:solidFill>
            <a:ln w="9525" cap="flat">
              <a:noFill/>
              <a:prstDash val="solid"/>
              <a:miter/>
            </a:ln>
          </p:spPr>
          <p:txBody>
            <a:bodyPr rtlCol="0" anchor="ctr"/>
            <a:lstStyle/>
            <a:p>
              <a:endParaRPr lang="ja-JP" altLang="en-US" dirty="0"/>
            </a:p>
          </p:txBody>
        </p:sp>
      </p:grpSp>
      <p:pic>
        <p:nvPicPr>
          <p:cNvPr id="6" name="グラフィックス 5">
            <a:extLst>
              <a:ext uri="{FF2B5EF4-FFF2-40B4-BE49-F238E27FC236}">
                <a16:creationId xmlns:a16="http://schemas.microsoft.com/office/drawing/2014/main" id="{703F5217-E906-E559-AA09-8FDF5A5D09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10187" y="3019073"/>
            <a:ext cx="1571625" cy="1524000"/>
          </a:xfrm>
          <a:prstGeom prst="rect">
            <a:avLst/>
          </a:prstGeom>
        </p:spPr>
      </p:pic>
      <p:cxnSp>
        <p:nvCxnSpPr>
          <p:cNvPr id="13" name="直線矢印コネクタ 12">
            <a:extLst>
              <a:ext uri="{FF2B5EF4-FFF2-40B4-BE49-F238E27FC236}">
                <a16:creationId xmlns:a16="http://schemas.microsoft.com/office/drawing/2014/main" id="{04DC4338-20B9-9311-9D4F-968456642280}"/>
              </a:ext>
            </a:extLst>
          </p:cNvPr>
          <p:cNvCxnSpPr>
            <a:cxnSpLocks/>
          </p:cNvCxnSpPr>
          <p:nvPr/>
        </p:nvCxnSpPr>
        <p:spPr>
          <a:xfrm flipH="1" flipV="1">
            <a:off x="3030217" y="2210044"/>
            <a:ext cx="2106227" cy="71831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E3C4AB87-BF0F-729F-B951-BBD6CBD31D41}"/>
              </a:ext>
            </a:extLst>
          </p:cNvPr>
          <p:cNvCxnSpPr>
            <a:cxnSpLocks/>
            <a:endCxn id="1026" idx="3"/>
          </p:cNvCxnSpPr>
          <p:nvPr/>
        </p:nvCxnSpPr>
        <p:spPr>
          <a:xfrm flipH="1">
            <a:off x="3030216" y="3728328"/>
            <a:ext cx="2106228" cy="1"/>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7B1DACF4-979B-2FEF-F45C-7344CC98982C}"/>
              </a:ext>
            </a:extLst>
          </p:cNvPr>
          <p:cNvCxnSpPr>
            <a:cxnSpLocks/>
            <a:endCxn id="1032" idx="3"/>
          </p:cNvCxnSpPr>
          <p:nvPr/>
        </p:nvCxnSpPr>
        <p:spPr>
          <a:xfrm flipH="1">
            <a:off x="3030216" y="4551745"/>
            <a:ext cx="2106228" cy="791642"/>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FB017D86-903D-292C-BB0F-69DA90C83623}"/>
              </a:ext>
            </a:extLst>
          </p:cNvPr>
          <p:cNvSpPr txBox="1"/>
          <p:nvPr/>
        </p:nvSpPr>
        <p:spPr>
          <a:xfrm rot="508353">
            <a:off x="7029265" y="4547456"/>
            <a:ext cx="2206125" cy="523220"/>
          </a:xfrm>
          <a:prstGeom prst="rect">
            <a:avLst/>
          </a:prstGeom>
          <a:noFill/>
        </p:spPr>
        <p:txBody>
          <a:bodyPr wrap="square" rtlCol="0">
            <a:spAutoFit/>
          </a:bodyPr>
          <a:lstStyle/>
          <a:p>
            <a:pPr algn="ctr"/>
            <a:r>
              <a:rPr kumimoji="1" lang="en-US" altLang="ja-JP" sz="2800" b="1" dirty="0">
                <a:latin typeface="BIZ UDPゴシック" panose="020B0400000000000000" pitchFamily="50" charset="-128"/>
                <a:ea typeface="BIZ UDPゴシック" panose="020B0400000000000000" pitchFamily="50" charset="-128"/>
              </a:rPr>
              <a:t>post</a:t>
            </a:r>
            <a:endParaRPr kumimoji="1" lang="ja-JP" altLang="en-US" sz="2800" b="1" dirty="0">
              <a:latin typeface="BIZ UDPゴシック" panose="020B0400000000000000" pitchFamily="50" charset="-128"/>
              <a:ea typeface="BIZ UDPゴシック" panose="020B0400000000000000" pitchFamily="50" charset="-128"/>
            </a:endParaRPr>
          </a:p>
        </p:txBody>
      </p:sp>
      <p:cxnSp>
        <p:nvCxnSpPr>
          <p:cNvPr id="26" name="直線矢印コネクタ 25">
            <a:extLst>
              <a:ext uri="{FF2B5EF4-FFF2-40B4-BE49-F238E27FC236}">
                <a16:creationId xmlns:a16="http://schemas.microsoft.com/office/drawing/2014/main" id="{EACB52C4-E6EE-37BF-9CF2-17AA52E415EE}"/>
              </a:ext>
            </a:extLst>
          </p:cNvPr>
          <p:cNvCxnSpPr>
            <a:cxnSpLocks/>
          </p:cNvCxnSpPr>
          <p:nvPr/>
        </p:nvCxnSpPr>
        <p:spPr>
          <a:xfrm>
            <a:off x="7180822" y="4520191"/>
            <a:ext cx="1980961" cy="288876"/>
          </a:xfrm>
          <a:prstGeom prst="straightConnector1">
            <a:avLst/>
          </a:prstGeom>
          <a:ln>
            <a:solidFill>
              <a:schemeClr val="bg2">
                <a:lumMod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7EE3B1FB-AF25-A52E-6580-BD20070897B4}"/>
              </a:ext>
            </a:extLst>
          </p:cNvPr>
          <p:cNvCxnSpPr>
            <a:cxnSpLocks/>
          </p:cNvCxnSpPr>
          <p:nvPr/>
        </p:nvCxnSpPr>
        <p:spPr>
          <a:xfrm>
            <a:off x="10182578" y="2569199"/>
            <a:ext cx="0" cy="1720579"/>
          </a:xfrm>
          <a:prstGeom prst="straightConnector1">
            <a:avLst/>
          </a:prstGeom>
          <a:ln>
            <a:solidFill>
              <a:schemeClr val="bg2">
                <a:lumMod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 name="図 7" descr="アイコン&#10;&#10;自動的に生成された説明">
            <a:extLst>
              <a:ext uri="{FF2B5EF4-FFF2-40B4-BE49-F238E27FC236}">
                <a16:creationId xmlns:a16="http://schemas.microsoft.com/office/drawing/2014/main" id="{91F408B9-01EB-7AF2-F726-66929B6652A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55255" y="614884"/>
            <a:ext cx="1572956" cy="1790700"/>
          </a:xfrm>
          <a:prstGeom prst="rect">
            <a:avLst/>
          </a:prstGeom>
        </p:spPr>
      </p:pic>
      <p:sp>
        <p:nvSpPr>
          <p:cNvPr id="35" name="テキスト ボックス 34">
            <a:extLst>
              <a:ext uri="{FF2B5EF4-FFF2-40B4-BE49-F238E27FC236}">
                <a16:creationId xmlns:a16="http://schemas.microsoft.com/office/drawing/2014/main" id="{4692A7EB-B27B-C519-E29A-AF6DA2961EE5}"/>
              </a:ext>
            </a:extLst>
          </p:cNvPr>
          <p:cNvSpPr txBox="1"/>
          <p:nvPr/>
        </p:nvSpPr>
        <p:spPr>
          <a:xfrm>
            <a:off x="3067139" y="3117561"/>
            <a:ext cx="2206125" cy="523220"/>
          </a:xfrm>
          <a:prstGeom prst="rect">
            <a:avLst/>
          </a:prstGeom>
          <a:noFill/>
        </p:spPr>
        <p:txBody>
          <a:bodyPr wrap="square" rtlCol="0">
            <a:spAutoFit/>
          </a:bodyPr>
          <a:lstStyle/>
          <a:p>
            <a:pPr algn="ctr"/>
            <a:r>
              <a:rPr kumimoji="1" lang="ja-JP" altLang="en-US" sz="2800" b="1" dirty="0">
                <a:latin typeface="BIZ UDPゴシック" panose="020B0400000000000000" pitchFamily="50" charset="-128"/>
                <a:ea typeface="BIZ UDPゴシック" panose="020B0400000000000000" pitchFamily="50" charset="-128"/>
              </a:rPr>
              <a:t>スクレイプ</a:t>
            </a:r>
          </a:p>
        </p:txBody>
      </p:sp>
      <p:sp>
        <p:nvSpPr>
          <p:cNvPr id="36" name="テキスト ボックス 35">
            <a:extLst>
              <a:ext uri="{FF2B5EF4-FFF2-40B4-BE49-F238E27FC236}">
                <a16:creationId xmlns:a16="http://schemas.microsoft.com/office/drawing/2014/main" id="{1A508570-B1B5-E228-7855-FB1708719CD5}"/>
              </a:ext>
            </a:extLst>
          </p:cNvPr>
          <p:cNvSpPr txBox="1"/>
          <p:nvPr/>
        </p:nvSpPr>
        <p:spPr>
          <a:xfrm rot="488513">
            <a:off x="7054854" y="4107500"/>
            <a:ext cx="2206125" cy="523220"/>
          </a:xfrm>
          <a:prstGeom prst="rect">
            <a:avLst/>
          </a:prstGeom>
          <a:noFill/>
        </p:spPr>
        <p:txBody>
          <a:bodyPr wrap="square" rtlCol="0">
            <a:spAutoFit/>
          </a:bodyPr>
          <a:lstStyle/>
          <a:p>
            <a:pPr algn="ctr"/>
            <a:r>
              <a:rPr lang="en-US" altLang="ja-JP" sz="2800" b="1" dirty="0">
                <a:latin typeface="BIZ UDPゴシック" panose="020B0400000000000000" pitchFamily="50" charset="-128"/>
                <a:ea typeface="BIZ UDPゴシック" panose="020B0400000000000000" pitchFamily="50" charset="-128"/>
              </a:rPr>
              <a:t>g</a:t>
            </a:r>
            <a:r>
              <a:rPr kumimoji="1" lang="en-US" altLang="ja-JP" sz="2800" b="1" dirty="0">
                <a:latin typeface="BIZ UDPゴシック" panose="020B0400000000000000" pitchFamily="50" charset="-128"/>
                <a:ea typeface="BIZ UDPゴシック" panose="020B0400000000000000" pitchFamily="50" charset="-128"/>
              </a:rPr>
              <a:t>et</a:t>
            </a:r>
          </a:p>
        </p:txBody>
      </p:sp>
      <p:cxnSp>
        <p:nvCxnSpPr>
          <p:cNvPr id="37" name="直線矢印コネクタ 36">
            <a:extLst>
              <a:ext uri="{FF2B5EF4-FFF2-40B4-BE49-F238E27FC236}">
                <a16:creationId xmlns:a16="http://schemas.microsoft.com/office/drawing/2014/main" id="{61761759-5FF0-D2F8-0000-329E9268ECB5}"/>
              </a:ext>
            </a:extLst>
          </p:cNvPr>
          <p:cNvCxnSpPr>
            <a:cxnSpLocks/>
          </p:cNvCxnSpPr>
          <p:nvPr/>
        </p:nvCxnSpPr>
        <p:spPr>
          <a:xfrm flipH="1">
            <a:off x="7192109" y="1879442"/>
            <a:ext cx="1886662" cy="1048912"/>
          </a:xfrm>
          <a:prstGeom prst="straightConnector1">
            <a:avLst/>
          </a:prstGeom>
          <a:ln>
            <a:solidFill>
              <a:schemeClr val="bg2">
                <a:lumMod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170953CB-70ED-215E-4AEC-7700C8554861}"/>
              </a:ext>
            </a:extLst>
          </p:cNvPr>
          <p:cNvSpPr txBox="1"/>
          <p:nvPr/>
        </p:nvSpPr>
        <p:spPr>
          <a:xfrm rot="5400000">
            <a:off x="9367857" y="3193457"/>
            <a:ext cx="2206125" cy="523220"/>
          </a:xfrm>
          <a:prstGeom prst="rect">
            <a:avLst/>
          </a:prstGeom>
          <a:noFill/>
        </p:spPr>
        <p:txBody>
          <a:bodyPr wrap="square" rtlCol="0">
            <a:spAutoFit/>
          </a:bodyPr>
          <a:lstStyle/>
          <a:p>
            <a:pPr algn="ctr"/>
            <a:r>
              <a:rPr lang="en-US" altLang="ja-JP" sz="2800" b="1" dirty="0">
                <a:latin typeface="BIZ UDPゴシック" panose="020B0400000000000000" pitchFamily="50" charset="-128"/>
                <a:ea typeface="BIZ UDPゴシック" panose="020B0400000000000000" pitchFamily="50" charset="-128"/>
              </a:rPr>
              <a:t>g</a:t>
            </a:r>
            <a:r>
              <a:rPr kumimoji="1" lang="en-US" altLang="ja-JP" sz="2800" b="1" dirty="0">
                <a:latin typeface="BIZ UDPゴシック" panose="020B0400000000000000" pitchFamily="50" charset="-128"/>
                <a:ea typeface="BIZ UDPゴシック" panose="020B0400000000000000" pitchFamily="50" charset="-128"/>
              </a:rPr>
              <a:t>et</a:t>
            </a:r>
          </a:p>
        </p:txBody>
      </p:sp>
      <p:sp>
        <p:nvSpPr>
          <p:cNvPr id="40" name="テキスト ボックス 39">
            <a:extLst>
              <a:ext uri="{FF2B5EF4-FFF2-40B4-BE49-F238E27FC236}">
                <a16:creationId xmlns:a16="http://schemas.microsoft.com/office/drawing/2014/main" id="{3464CB45-8F09-7F22-8792-8349957EA6CD}"/>
              </a:ext>
            </a:extLst>
          </p:cNvPr>
          <p:cNvSpPr txBox="1"/>
          <p:nvPr/>
        </p:nvSpPr>
        <p:spPr>
          <a:xfrm rot="16200000">
            <a:off x="8791174" y="3193456"/>
            <a:ext cx="2206125" cy="523220"/>
          </a:xfrm>
          <a:prstGeom prst="rect">
            <a:avLst/>
          </a:prstGeom>
          <a:noFill/>
        </p:spPr>
        <p:txBody>
          <a:bodyPr wrap="square" rtlCol="0">
            <a:spAutoFit/>
          </a:bodyPr>
          <a:lstStyle/>
          <a:p>
            <a:pPr algn="ctr"/>
            <a:r>
              <a:rPr kumimoji="1" lang="en-US" altLang="ja-JP" sz="2800" b="1" dirty="0">
                <a:latin typeface="BIZ UDPゴシック" panose="020B0400000000000000" pitchFamily="50" charset="-128"/>
                <a:ea typeface="BIZ UDPゴシック" panose="020B0400000000000000" pitchFamily="50" charset="-128"/>
              </a:rPr>
              <a:t>post</a:t>
            </a:r>
            <a:endParaRPr kumimoji="1" lang="ja-JP" altLang="en-US" sz="2800" b="1" dirty="0">
              <a:latin typeface="BIZ UDPゴシック" panose="020B0400000000000000" pitchFamily="50" charset="-128"/>
              <a:ea typeface="BIZ UDPゴシック" panose="020B0400000000000000" pitchFamily="50" charset="-128"/>
            </a:endParaRPr>
          </a:p>
        </p:txBody>
      </p:sp>
      <p:sp>
        <p:nvSpPr>
          <p:cNvPr id="41" name="テキスト ボックス 40">
            <a:extLst>
              <a:ext uri="{FF2B5EF4-FFF2-40B4-BE49-F238E27FC236}">
                <a16:creationId xmlns:a16="http://schemas.microsoft.com/office/drawing/2014/main" id="{087AE362-3E79-88B9-248E-AF1582012FB1}"/>
              </a:ext>
            </a:extLst>
          </p:cNvPr>
          <p:cNvSpPr txBox="1"/>
          <p:nvPr/>
        </p:nvSpPr>
        <p:spPr>
          <a:xfrm>
            <a:off x="8330322" y="6266504"/>
            <a:ext cx="3757971" cy="523220"/>
          </a:xfrm>
          <a:prstGeom prst="rect">
            <a:avLst/>
          </a:prstGeom>
          <a:noFill/>
        </p:spPr>
        <p:txBody>
          <a:bodyPr wrap="square" rtlCol="0">
            <a:spAutoFit/>
          </a:bodyPr>
          <a:lstStyle/>
          <a:p>
            <a:pPr algn="ctr"/>
            <a:r>
              <a:rPr kumimoji="1" lang="en-US" altLang="ja-JP" sz="2800" b="1" dirty="0" err="1">
                <a:latin typeface="BIZ UDPゴシック" panose="020B0400000000000000" pitchFamily="50" charset="-128"/>
                <a:ea typeface="BIZ UDPゴシック" panose="020B0400000000000000" pitchFamily="50" charset="-128"/>
              </a:rPr>
              <a:t>DataBase</a:t>
            </a:r>
            <a:r>
              <a:rPr lang="ja-JP" altLang="en-US" sz="2800" b="1" dirty="0">
                <a:latin typeface="BIZ UDPゴシック" panose="020B0400000000000000" pitchFamily="50" charset="-128"/>
                <a:ea typeface="BIZ UDPゴシック" panose="020B0400000000000000" pitchFamily="50" charset="-128"/>
              </a:rPr>
              <a:t> </a:t>
            </a:r>
            <a:r>
              <a:rPr lang="en-US" altLang="ja-JP" sz="2800" b="1" dirty="0">
                <a:latin typeface="BIZ UDPゴシック" panose="020B0400000000000000" pitchFamily="50" charset="-128"/>
                <a:ea typeface="BIZ UDPゴシック" panose="020B0400000000000000" pitchFamily="50" charset="-128"/>
              </a:rPr>
              <a:t>Server</a:t>
            </a:r>
            <a:endParaRPr kumimoji="1" lang="ja-JP" altLang="en-US" sz="2800" b="1" dirty="0">
              <a:latin typeface="BIZ UDPゴシック" panose="020B0400000000000000" pitchFamily="50" charset="-128"/>
              <a:ea typeface="BIZ UDPゴシック" panose="020B0400000000000000" pitchFamily="50" charset="-128"/>
            </a:endParaRPr>
          </a:p>
        </p:txBody>
      </p:sp>
      <p:sp>
        <p:nvSpPr>
          <p:cNvPr id="42" name="テキスト ボックス 41">
            <a:extLst>
              <a:ext uri="{FF2B5EF4-FFF2-40B4-BE49-F238E27FC236}">
                <a16:creationId xmlns:a16="http://schemas.microsoft.com/office/drawing/2014/main" id="{A337CF9E-05EB-78A8-F5E9-66BFA7AFA70B}"/>
              </a:ext>
            </a:extLst>
          </p:cNvPr>
          <p:cNvSpPr txBox="1"/>
          <p:nvPr/>
        </p:nvSpPr>
        <p:spPr>
          <a:xfrm>
            <a:off x="9106246" y="66902"/>
            <a:ext cx="2206125" cy="523220"/>
          </a:xfrm>
          <a:prstGeom prst="rect">
            <a:avLst/>
          </a:prstGeom>
          <a:noFill/>
        </p:spPr>
        <p:txBody>
          <a:bodyPr wrap="square" rtlCol="0">
            <a:spAutoFit/>
          </a:bodyPr>
          <a:lstStyle/>
          <a:p>
            <a:pPr algn="ctr"/>
            <a:r>
              <a:rPr kumimoji="1" lang="ja-JP" altLang="en-US" sz="2800" b="1" dirty="0">
                <a:latin typeface="BIZ UDPゴシック" panose="020B0400000000000000" pitchFamily="50" charset="-128"/>
                <a:ea typeface="BIZ UDPゴシック" panose="020B0400000000000000" pitchFamily="50" charset="-128"/>
              </a:rPr>
              <a:t>学習用</a:t>
            </a:r>
            <a:r>
              <a:rPr kumimoji="1" lang="en-US" altLang="ja-JP" sz="2800" b="1" dirty="0">
                <a:latin typeface="BIZ UDPゴシック" panose="020B0400000000000000" pitchFamily="50" charset="-128"/>
                <a:ea typeface="BIZ UDPゴシック" panose="020B0400000000000000" pitchFamily="50" charset="-128"/>
              </a:rPr>
              <a:t>PC</a:t>
            </a:r>
            <a:endParaRPr kumimoji="1" lang="ja-JP" altLang="en-US" sz="2800" b="1" dirty="0">
              <a:latin typeface="BIZ UDPゴシック" panose="020B0400000000000000" pitchFamily="50" charset="-128"/>
              <a:ea typeface="BIZ UDPゴシック" panose="020B0400000000000000" pitchFamily="50" charset="-128"/>
            </a:endParaRPr>
          </a:p>
        </p:txBody>
      </p:sp>
      <p:sp>
        <p:nvSpPr>
          <p:cNvPr id="44" name="テキスト ボックス 43">
            <a:extLst>
              <a:ext uri="{FF2B5EF4-FFF2-40B4-BE49-F238E27FC236}">
                <a16:creationId xmlns:a16="http://schemas.microsoft.com/office/drawing/2014/main" id="{75A6BBFA-3B90-8E64-A78A-305B523EA90B}"/>
              </a:ext>
            </a:extLst>
          </p:cNvPr>
          <p:cNvSpPr txBox="1"/>
          <p:nvPr/>
        </p:nvSpPr>
        <p:spPr>
          <a:xfrm rot="19910389">
            <a:off x="7007237" y="1891254"/>
            <a:ext cx="2206125" cy="523220"/>
          </a:xfrm>
          <a:prstGeom prst="rect">
            <a:avLst/>
          </a:prstGeom>
          <a:noFill/>
        </p:spPr>
        <p:txBody>
          <a:bodyPr wrap="square" rtlCol="0">
            <a:spAutoFit/>
          </a:bodyPr>
          <a:lstStyle/>
          <a:p>
            <a:pPr algn="ctr"/>
            <a:r>
              <a:rPr lang="ja-JP" altLang="en-US" sz="2800" b="1" dirty="0">
                <a:latin typeface="BIZ UDPゴシック" panose="020B0400000000000000" pitchFamily="50" charset="-128"/>
                <a:ea typeface="BIZ UDPゴシック" panose="020B0400000000000000" pitchFamily="50" charset="-128"/>
              </a:rPr>
              <a:t>操作</a:t>
            </a:r>
            <a:endParaRPr kumimoji="1" lang="en-US" altLang="ja-JP" sz="2800" b="1" dirty="0">
              <a:latin typeface="BIZ UDPゴシック" panose="020B0400000000000000" pitchFamily="50" charset="-128"/>
              <a:ea typeface="BIZ UDPゴシック" panose="020B0400000000000000" pitchFamily="50" charset="-128"/>
            </a:endParaRPr>
          </a:p>
        </p:txBody>
      </p:sp>
      <p:sp>
        <p:nvSpPr>
          <p:cNvPr id="3" name="テキスト ボックス 41">
            <a:extLst>
              <a:ext uri="{FF2B5EF4-FFF2-40B4-BE49-F238E27FC236}">
                <a16:creationId xmlns:a16="http://schemas.microsoft.com/office/drawing/2014/main" id="{4318522F-4614-6DF8-5C05-9FB95418AE9D}"/>
              </a:ext>
            </a:extLst>
          </p:cNvPr>
          <p:cNvSpPr txBox="1"/>
          <p:nvPr/>
        </p:nvSpPr>
        <p:spPr>
          <a:xfrm>
            <a:off x="620890" y="1617832"/>
            <a:ext cx="2409326" cy="1077218"/>
          </a:xfrm>
          <a:prstGeom prst="rect">
            <a:avLst/>
          </a:prstGeom>
          <a:noFill/>
          <a:ln>
            <a:solidFill>
              <a:schemeClr val="bg1">
                <a:lumMod val="65000"/>
              </a:schemeClr>
            </a:solidFill>
          </a:ln>
        </p:spPr>
        <p:txBody>
          <a:bodyPr wrap="square" rtlCol="0">
            <a:spAutoFit/>
          </a:bodyPr>
          <a:lstStyle/>
          <a:p>
            <a:pPr algn="ctr"/>
            <a:r>
              <a:rPr kumimoji="1" lang="ja-JP" altLang="en-US" sz="3200" b="1" dirty="0">
                <a:latin typeface="BIZ UDPゴシック" panose="020B0400000000000000" pitchFamily="50" charset="-128"/>
                <a:ea typeface="BIZ UDPゴシック" panose="020B0400000000000000" pitchFamily="50" charset="-128"/>
              </a:rPr>
              <a:t>ニュース</a:t>
            </a:r>
            <a:endParaRPr kumimoji="1" lang="en-GB" altLang="ja-JP" sz="3200" b="1" dirty="0">
              <a:latin typeface="BIZ UDPゴシック" panose="020B0400000000000000" pitchFamily="50" charset="-128"/>
              <a:ea typeface="BIZ UDPゴシック" panose="020B0400000000000000" pitchFamily="50" charset="-128"/>
            </a:endParaRPr>
          </a:p>
          <a:p>
            <a:pPr algn="ctr"/>
            <a:r>
              <a:rPr kumimoji="1" lang="ja-JP" altLang="en-US" sz="3200" b="1" dirty="0">
                <a:latin typeface="BIZ UDPゴシック" panose="020B0400000000000000" pitchFamily="50" charset="-128"/>
                <a:ea typeface="BIZ UDPゴシック" panose="020B0400000000000000" pitchFamily="50" charset="-128"/>
              </a:rPr>
              <a:t>サイト</a:t>
            </a:r>
          </a:p>
        </p:txBody>
      </p:sp>
      <p:sp>
        <p:nvSpPr>
          <p:cNvPr id="4" name="テキスト ボックス 34">
            <a:extLst>
              <a:ext uri="{FF2B5EF4-FFF2-40B4-BE49-F238E27FC236}">
                <a16:creationId xmlns:a16="http://schemas.microsoft.com/office/drawing/2014/main" id="{85EBD594-32DB-D7BF-76BD-5847F1CC1672}"/>
              </a:ext>
            </a:extLst>
          </p:cNvPr>
          <p:cNvSpPr txBox="1"/>
          <p:nvPr/>
        </p:nvSpPr>
        <p:spPr>
          <a:xfrm rot="1121792">
            <a:off x="3199782" y="2029145"/>
            <a:ext cx="2206125" cy="523220"/>
          </a:xfrm>
          <a:prstGeom prst="rect">
            <a:avLst/>
          </a:prstGeom>
          <a:noFill/>
        </p:spPr>
        <p:txBody>
          <a:bodyPr wrap="square" rtlCol="0">
            <a:spAutoFit/>
          </a:bodyPr>
          <a:lstStyle/>
          <a:p>
            <a:pPr algn="ctr"/>
            <a:r>
              <a:rPr kumimoji="1" lang="ja-JP" altLang="en-US" sz="2800" b="1" dirty="0">
                <a:latin typeface="BIZ UDPゴシック" panose="020B0400000000000000" pitchFamily="50" charset="-128"/>
                <a:ea typeface="BIZ UDPゴシック" panose="020B0400000000000000" pitchFamily="50" charset="-128"/>
              </a:rPr>
              <a:t>スクレイプ</a:t>
            </a:r>
          </a:p>
        </p:txBody>
      </p:sp>
      <p:sp>
        <p:nvSpPr>
          <p:cNvPr id="5" name="テキスト ボックス 34">
            <a:extLst>
              <a:ext uri="{FF2B5EF4-FFF2-40B4-BE49-F238E27FC236}">
                <a16:creationId xmlns:a16="http://schemas.microsoft.com/office/drawing/2014/main" id="{A07183A4-FA2D-DFBA-2CF3-2D5EE81D109F}"/>
              </a:ext>
            </a:extLst>
          </p:cNvPr>
          <p:cNvSpPr txBox="1"/>
          <p:nvPr/>
        </p:nvSpPr>
        <p:spPr>
          <a:xfrm rot="20314251">
            <a:off x="2996549" y="4327196"/>
            <a:ext cx="2206125" cy="523220"/>
          </a:xfrm>
          <a:prstGeom prst="rect">
            <a:avLst/>
          </a:prstGeom>
          <a:noFill/>
        </p:spPr>
        <p:txBody>
          <a:bodyPr wrap="square" rtlCol="0">
            <a:spAutoFit/>
          </a:bodyPr>
          <a:lstStyle/>
          <a:p>
            <a:pPr algn="ctr"/>
            <a:r>
              <a:rPr kumimoji="1" lang="ja-JP" altLang="en-US" sz="2800" b="1" dirty="0">
                <a:latin typeface="BIZ UDPゴシック" panose="020B0400000000000000" pitchFamily="50" charset="-128"/>
                <a:ea typeface="BIZ UDPゴシック" panose="020B0400000000000000" pitchFamily="50" charset="-128"/>
              </a:rPr>
              <a:t>スクレイプ</a:t>
            </a:r>
          </a:p>
        </p:txBody>
      </p:sp>
      <p:sp>
        <p:nvSpPr>
          <p:cNvPr id="2" name="Slide Number Placeholder 1">
            <a:extLst>
              <a:ext uri="{FF2B5EF4-FFF2-40B4-BE49-F238E27FC236}">
                <a16:creationId xmlns:a16="http://schemas.microsoft.com/office/drawing/2014/main" id="{80DE02BC-2648-D036-6B05-CC0517B754E2}"/>
              </a:ext>
            </a:extLst>
          </p:cNvPr>
          <p:cNvSpPr>
            <a:spLocks noGrp="1"/>
          </p:cNvSpPr>
          <p:nvPr>
            <p:ph type="sldNum" sz="quarter" idx="12"/>
          </p:nvPr>
        </p:nvSpPr>
        <p:spPr/>
        <p:txBody>
          <a:bodyPr/>
          <a:lstStyle/>
          <a:p>
            <a:fld id="{F42732FB-2277-442C-9711-A45410BE01D8}" type="slidenum">
              <a:rPr kumimoji="1" lang="ja-JP" altLang="en-US" smtClean="0"/>
              <a:t>27</a:t>
            </a:fld>
            <a:endParaRPr kumimoji="1" lang="ja-JP" altLang="en-US"/>
          </a:p>
        </p:txBody>
      </p:sp>
    </p:spTree>
    <p:extLst>
      <p:ext uri="{BB962C8B-B14F-4D97-AF65-F5344CB8AC3E}">
        <p14:creationId xmlns:p14="http://schemas.microsoft.com/office/powerpoint/2010/main" val="2488031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矢印: 右 5">
            <a:extLst>
              <a:ext uri="{FF2B5EF4-FFF2-40B4-BE49-F238E27FC236}">
                <a16:creationId xmlns:a16="http://schemas.microsoft.com/office/drawing/2014/main" id="{FD0C6863-084D-E0EC-72F2-CFD6E9A7F84C}"/>
              </a:ext>
            </a:extLst>
          </p:cNvPr>
          <p:cNvSpPr/>
          <p:nvPr/>
        </p:nvSpPr>
        <p:spPr>
          <a:xfrm rot="780814">
            <a:off x="4404025" y="4436650"/>
            <a:ext cx="2030507" cy="878541"/>
          </a:xfrm>
          <a:prstGeom prst="rightArrow">
            <a:avLst>
              <a:gd name="adj1" fmla="val 43878"/>
              <a:gd name="adj2" fmla="val 50000"/>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2" name="図 1">
            <a:extLst>
              <a:ext uri="{FF2B5EF4-FFF2-40B4-BE49-F238E27FC236}">
                <a16:creationId xmlns:a16="http://schemas.microsoft.com/office/drawing/2014/main" id="{8B62A16B-F0A0-5E06-5808-C3CD27A78076}"/>
              </a:ext>
            </a:extLst>
          </p:cNvPr>
          <p:cNvPicPr>
            <a:picLocks noChangeAspect="1"/>
          </p:cNvPicPr>
          <p:nvPr/>
        </p:nvPicPr>
        <p:blipFill>
          <a:blip r:embed="rId2"/>
          <a:stretch>
            <a:fillRect/>
          </a:stretch>
        </p:blipFill>
        <p:spPr>
          <a:xfrm>
            <a:off x="5018650" y="1473981"/>
            <a:ext cx="6845972" cy="1955019"/>
          </a:xfrm>
          <a:prstGeom prst="rect">
            <a:avLst/>
          </a:prstGeom>
        </p:spPr>
      </p:pic>
      <p:pic>
        <p:nvPicPr>
          <p:cNvPr id="4" name="図 3">
            <a:extLst>
              <a:ext uri="{FF2B5EF4-FFF2-40B4-BE49-F238E27FC236}">
                <a16:creationId xmlns:a16="http://schemas.microsoft.com/office/drawing/2014/main" id="{3F1622E8-592A-648F-5D86-533C56802587}"/>
              </a:ext>
            </a:extLst>
          </p:cNvPr>
          <p:cNvPicPr>
            <a:picLocks noChangeAspect="1"/>
          </p:cNvPicPr>
          <p:nvPr/>
        </p:nvPicPr>
        <p:blipFill>
          <a:blip r:embed="rId3"/>
          <a:stretch>
            <a:fillRect/>
          </a:stretch>
        </p:blipFill>
        <p:spPr>
          <a:xfrm>
            <a:off x="168049" y="688622"/>
            <a:ext cx="3768731" cy="5130800"/>
          </a:xfrm>
          <a:prstGeom prst="rect">
            <a:avLst/>
          </a:prstGeom>
        </p:spPr>
      </p:pic>
      <p:sp>
        <p:nvSpPr>
          <p:cNvPr id="3" name="Slide Number Placeholder 2">
            <a:extLst>
              <a:ext uri="{FF2B5EF4-FFF2-40B4-BE49-F238E27FC236}">
                <a16:creationId xmlns:a16="http://schemas.microsoft.com/office/drawing/2014/main" id="{01688AC8-E7F6-1E0D-72ED-ACF1C9264E81}"/>
              </a:ext>
            </a:extLst>
          </p:cNvPr>
          <p:cNvSpPr>
            <a:spLocks noGrp="1"/>
          </p:cNvSpPr>
          <p:nvPr>
            <p:ph type="sldNum" sz="quarter" idx="12"/>
          </p:nvPr>
        </p:nvSpPr>
        <p:spPr/>
        <p:txBody>
          <a:bodyPr/>
          <a:lstStyle/>
          <a:p>
            <a:fld id="{F42732FB-2277-442C-9711-A45410BE01D8}" type="slidenum">
              <a:rPr kumimoji="1" lang="ja-JP" altLang="en-US" smtClean="0"/>
              <a:t>28</a:t>
            </a:fld>
            <a:endParaRPr kumimoji="1" lang="ja-JP" altLang="en-US"/>
          </a:p>
        </p:txBody>
      </p:sp>
    </p:spTree>
    <p:extLst>
      <p:ext uri="{BB962C8B-B14F-4D97-AF65-F5344CB8AC3E}">
        <p14:creationId xmlns:p14="http://schemas.microsoft.com/office/powerpoint/2010/main" val="545646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91F35A1-E77C-CF76-F5C6-CB7AFBB83056}"/>
              </a:ext>
            </a:extLst>
          </p:cNvPr>
          <p:cNvSpPr txBox="1"/>
          <p:nvPr/>
        </p:nvSpPr>
        <p:spPr>
          <a:xfrm>
            <a:off x="298127" y="48985"/>
            <a:ext cx="2528888" cy="1200329"/>
          </a:xfrm>
          <a:prstGeom prst="rect">
            <a:avLst/>
          </a:prstGeom>
          <a:noFill/>
        </p:spPr>
        <p:txBody>
          <a:bodyPr wrap="square" rtlCol="0">
            <a:spAutoFit/>
          </a:bodyPr>
          <a:lstStyle/>
          <a:p>
            <a:r>
              <a:rPr lang="ja-JP" altLang="en-US" sz="7200" b="1" dirty="0">
                <a:latin typeface="BIZ UDPゴシック" panose="020B0400000000000000" pitchFamily="50" charset="-128"/>
                <a:ea typeface="BIZ UDPゴシック" panose="020B0400000000000000" pitchFamily="50" charset="-128"/>
              </a:rPr>
              <a:t>概要</a:t>
            </a:r>
            <a:endParaRPr kumimoji="1" lang="ja-JP" altLang="en-US" sz="72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D3AF3B55-87C2-B148-E860-A5B42C9854D6}"/>
              </a:ext>
            </a:extLst>
          </p:cNvPr>
          <p:cNvSpPr txBox="1"/>
          <p:nvPr/>
        </p:nvSpPr>
        <p:spPr>
          <a:xfrm>
            <a:off x="536222" y="1384480"/>
            <a:ext cx="11119556" cy="1077218"/>
          </a:xfrm>
          <a:prstGeom prst="rect">
            <a:avLst/>
          </a:prstGeom>
          <a:solidFill>
            <a:schemeClr val="bg2">
              <a:lumMod val="90000"/>
            </a:schemeClr>
          </a:solidFill>
        </p:spPr>
        <p:txBody>
          <a:bodyPr wrap="square" rtlCol="0">
            <a:spAutoFit/>
          </a:bodyPr>
          <a:lstStyle/>
          <a:p>
            <a:r>
              <a:rPr kumimoji="1" lang="en-US" altLang="ja-JP" sz="3200" b="1" dirty="0">
                <a:latin typeface="BIZ UDPゴシック" panose="020B0400000000000000" pitchFamily="50" charset="-128"/>
                <a:ea typeface="BIZ UDPゴシック" panose="020B0400000000000000" pitchFamily="50" charset="-128"/>
              </a:rPr>
              <a:t>【</a:t>
            </a:r>
            <a:r>
              <a:rPr kumimoji="1" lang="ja-JP" altLang="en-US" sz="3200" b="1" dirty="0">
                <a:latin typeface="BIZ UDPゴシック" panose="020B0400000000000000" pitchFamily="50" charset="-128"/>
                <a:ea typeface="BIZ UDPゴシック" panose="020B0400000000000000" pitchFamily="50" charset="-128"/>
              </a:rPr>
              <a:t>速報</a:t>
            </a:r>
            <a:r>
              <a:rPr kumimoji="1" lang="en-US" altLang="ja-JP" sz="3200" b="1" dirty="0">
                <a:latin typeface="BIZ UDPゴシック" panose="020B0400000000000000" pitchFamily="50" charset="-128"/>
                <a:ea typeface="BIZ UDPゴシック" panose="020B0400000000000000" pitchFamily="50" charset="-128"/>
              </a:rPr>
              <a:t>】</a:t>
            </a:r>
            <a:r>
              <a:rPr kumimoji="1" lang="ja-JP" altLang="en-US" sz="3200" b="1" dirty="0">
                <a:latin typeface="BIZ UDPゴシック" panose="020B0400000000000000" pitchFamily="50" charset="-128"/>
                <a:ea typeface="BIZ UDPゴシック" panose="020B0400000000000000" pitchFamily="50" charset="-128"/>
              </a:rPr>
              <a:t>世界が注目する</a:t>
            </a:r>
            <a:r>
              <a:rPr kumimoji="1" lang="en-US" altLang="ja-JP" sz="3200" b="1" dirty="0">
                <a:latin typeface="BIZ UDPゴシック" panose="020B0400000000000000" pitchFamily="50" charset="-128"/>
                <a:ea typeface="BIZ UDPゴシック" panose="020B0400000000000000" pitchFamily="50" charset="-128"/>
              </a:rPr>
              <a:t>NVIDIA(</a:t>
            </a:r>
            <a:r>
              <a:rPr kumimoji="1" lang="ja-JP" altLang="en-US" sz="3200" b="1" dirty="0">
                <a:latin typeface="BIZ UDPゴシック" panose="020B0400000000000000" pitchFamily="50" charset="-128"/>
                <a:ea typeface="BIZ UDPゴシック" panose="020B0400000000000000" pitchFamily="50" charset="-128"/>
              </a:rPr>
              <a:t>エヌビディア</a:t>
            </a:r>
            <a:r>
              <a:rPr kumimoji="1" lang="en-US" altLang="ja-JP" sz="3200" b="1" dirty="0">
                <a:latin typeface="BIZ UDPゴシック" panose="020B0400000000000000" pitchFamily="50" charset="-128"/>
                <a:ea typeface="BIZ UDPゴシック" panose="020B0400000000000000" pitchFamily="50" charset="-128"/>
              </a:rPr>
              <a:t>)</a:t>
            </a:r>
            <a:r>
              <a:rPr kumimoji="1" lang="ja-JP" altLang="en-US" sz="3200" b="1" dirty="0">
                <a:latin typeface="BIZ UDPゴシック" panose="020B0400000000000000" pitchFamily="50" charset="-128"/>
                <a:ea typeface="BIZ UDPゴシック" panose="020B0400000000000000" pitchFamily="50" charset="-128"/>
              </a:rPr>
              <a:t>が決算発表「最終的な利益 前年比</a:t>
            </a:r>
            <a:r>
              <a:rPr kumimoji="1" lang="en-US" altLang="ja-JP" sz="3200" b="1" dirty="0">
                <a:latin typeface="BIZ UDPゴシック" panose="020B0400000000000000" pitchFamily="50" charset="-128"/>
                <a:ea typeface="BIZ UDPゴシック" panose="020B0400000000000000" pitchFamily="50" charset="-128"/>
              </a:rPr>
              <a:t>7.3</a:t>
            </a:r>
            <a:r>
              <a:rPr kumimoji="1" lang="ja-JP" altLang="en-US" sz="3200" b="1" dirty="0">
                <a:latin typeface="BIZ UDPゴシック" panose="020B0400000000000000" pitchFamily="50" charset="-128"/>
                <a:ea typeface="BIZ UDPゴシック" panose="020B0400000000000000" pitchFamily="50" charset="-128"/>
              </a:rPr>
              <a:t>倍</a:t>
            </a:r>
            <a:r>
              <a:rPr kumimoji="1" lang="en-US" altLang="ja-JP" sz="3200" b="1" dirty="0">
                <a:latin typeface="BIZ UDPゴシック" panose="020B0400000000000000" pitchFamily="50" charset="-128"/>
                <a:ea typeface="BIZ UDPゴシック" panose="020B0400000000000000" pitchFamily="50" charset="-128"/>
              </a:rPr>
              <a:t>2</a:t>
            </a:r>
            <a:r>
              <a:rPr kumimoji="1" lang="ja-JP" altLang="en-US" sz="3200" b="1" dirty="0">
                <a:latin typeface="BIZ UDPゴシック" panose="020B0400000000000000" pitchFamily="50" charset="-128"/>
                <a:ea typeface="BIZ UDPゴシック" panose="020B0400000000000000" pitchFamily="50" charset="-128"/>
              </a:rPr>
              <a:t>兆</a:t>
            </a:r>
            <a:r>
              <a:rPr kumimoji="1" lang="en-US" altLang="ja-JP" sz="3200" b="1" dirty="0">
                <a:latin typeface="BIZ UDPゴシック" panose="020B0400000000000000" pitchFamily="50" charset="-128"/>
                <a:ea typeface="BIZ UDPゴシック" panose="020B0400000000000000" pitchFamily="50" charset="-128"/>
              </a:rPr>
              <a:t>3300</a:t>
            </a:r>
            <a:r>
              <a:rPr kumimoji="1" lang="ja-JP" altLang="en-US" sz="3200" b="1" dirty="0">
                <a:latin typeface="BIZ UDPゴシック" panose="020B0400000000000000" pitchFamily="50" charset="-128"/>
                <a:ea typeface="BIZ UDPゴシック" panose="020B0400000000000000" pitchFamily="50" charset="-128"/>
              </a:rPr>
              <a:t>億円」勢い止まらず</a:t>
            </a:r>
          </a:p>
        </p:txBody>
      </p:sp>
      <p:graphicFrame>
        <p:nvGraphicFramePr>
          <p:cNvPr id="4" name="表 3">
            <a:extLst>
              <a:ext uri="{FF2B5EF4-FFF2-40B4-BE49-F238E27FC236}">
                <a16:creationId xmlns:a16="http://schemas.microsoft.com/office/drawing/2014/main" id="{9BF8B309-5D38-69B8-FDBF-C8EE6FA47CA2}"/>
              </a:ext>
            </a:extLst>
          </p:cNvPr>
          <p:cNvGraphicFramePr>
            <a:graphicFrameLocks noGrp="1"/>
          </p:cNvGraphicFramePr>
          <p:nvPr>
            <p:extLst>
              <p:ext uri="{D42A27DB-BD31-4B8C-83A1-F6EECF244321}">
                <p14:modId xmlns:p14="http://schemas.microsoft.com/office/powerpoint/2010/main" val="1608638702"/>
              </p:ext>
            </p:extLst>
          </p:nvPr>
        </p:nvGraphicFramePr>
        <p:xfrm>
          <a:off x="1840089" y="3708279"/>
          <a:ext cx="8511820" cy="1053424"/>
        </p:xfrm>
        <a:graphic>
          <a:graphicData uri="http://schemas.openxmlformats.org/drawingml/2006/table">
            <a:tbl>
              <a:tblPr>
                <a:tableStyleId>{5C22544A-7EE6-4342-B048-85BDC9FD1C3A}</a:tableStyleId>
              </a:tblPr>
              <a:tblGrid>
                <a:gridCol w="1702364">
                  <a:extLst>
                    <a:ext uri="{9D8B030D-6E8A-4147-A177-3AD203B41FA5}">
                      <a16:colId xmlns:a16="http://schemas.microsoft.com/office/drawing/2014/main" val="893344366"/>
                    </a:ext>
                  </a:extLst>
                </a:gridCol>
                <a:gridCol w="1702364">
                  <a:extLst>
                    <a:ext uri="{9D8B030D-6E8A-4147-A177-3AD203B41FA5}">
                      <a16:colId xmlns:a16="http://schemas.microsoft.com/office/drawing/2014/main" val="3337786240"/>
                    </a:ext>
                  </a:extLst>
                </a:gridCol>
                <a:gridCol w="1702364">
                  <a:extLst>
                    <a:ext uri="{9D8B030D-6E8A-4147-A177-3AD203B41FA5}">
                      <a16:colId xmlns:a16="http://schemas.microsoft.com/office/drawing/2014/main" val="832829902"/>
                    </a:ext>
                  </a:extLst>
                </a:gridCol>
                <a:gridCol w="1702364">
                  <a:extLst>
                    <a:ext uri="{9D8B030D-6E8A-4147-A177-3AD203B41FA5}">
                      <a16:colId xmlns:a16="http://schemas.microsoft.com/office/drawing/2014/main" val="3318059863"/>
                    </a:ext>
                  </a:extLst>
                </a:gridCol>
                <a:gridCol w="1702364">
                  <a:extLst>
                    <a:ext uri="{9D8B030D-6E8A-4147-A177-3AD203B41FA5}">
                      <a16:colId xmlns:a16="http://schemas.microsoft.com/office/drawing/2014/main" val="2909980776"/>
                    </a:ext>
                  </a:extLst>
                </a:gridCol>
              </a:tblGrid>
              <a:tr h="526712">
                <a:tc>
                  <a:txBody>
                    <a:bodyPr/>
                    <a:lstStyle/>
                    <a:p>
                      <a:pPr algn="ctr"/>
                      <a:r>
                        <a:rPr kumimoji="1" lang="ja-JP" altLang="en-US" sz="2400" b="1" dirty="0"/>
                        <a:t>失望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楽観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懸念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興奮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400" b="1" dirty="0"/>
                        <a:t>安定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2857899"/>
                  </a:ext>
                </a:extLst>
              </a:tr>
              <a:tr h="526712">
                <a:tc>
                  <a:txBody>
                    <a:bodyPr/>
                    <a:lstStyle/>
                    <a:p>
                      <a:pPr algn="l"/>
                      <a:r>
                        <a:rPr kumimoji="1" lang="en-US" altLang="ja-JP" sz="2000" b="0" i="0" kern="1200" dirty="0">
                          <a:solidFill>
                            <a:schemeClr val="dk1"/>
                          </a:solidFill>
                          <a:effectLst/>
                          <a:latin typeface="+mn-lt"/>
                          <a:ea typeface="+mn-ea"/>
                          <a:cs typeface="+mn-cs"/>
                        </a:rPr>
                        <a:t>0.05364992</a:t>
                      </a:r>
                      <a:endParaRPr kumimoji="1" lang="ja-JP"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2000" b="0" i="0" kern="1200" dirty="0">
                          <a:solidFill>
                            <a:schemeClr val="dk1"/>
                          </a:solidFill>
                          <a:effectLst/>
                          <a:latin typeface="+mn-lt"/>
                          <a:ea typeface="+mn-ea"/>
                          <a:cs typeface="+mn-cs"/>
                        </a:rPr>
                        <a:t>0.39513937</a:t>
                      </a:r>
                      <a:endParaRPr kumimoji="1" lang="ja-JP"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2000" b="0" i="0" kern="1200" dirty="0">
                          <a:solidFill>
                            <a:schemeClr val="dk1"/>
                          </a:solidFill>
                          <a:effectLst/>
                          <a:latin typeface="+mn-lt"/>
                          <a:ea typeface="+mn-ea"/>
                          <a:cs typeface="+mn-cs"/>
                        </a:rPr>
                        <a:t>0.1085517</a:t>
                      </a:r>
                      <a:endParaRPr kumimoji="1" lang="ja-JP"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2000" b="0" i="0" kern="1200" dirty="0">
                          <a:solidFill>
                            <a:schemeClr val="dk1"/>
                          </a:solidFill>
                          <a:effectLst/>
                          <a:latin typeface="+mn-lt"/>
                          <a:ea typeface="+mn-ea"/>
                          <a:cs typeface="+mn-cs"/>
                        </a:rPr>
                        <a:t>0.23088336</a:t>
                      </a:r>
                      <a:endParaRPr kumimoji="1" lang="ja-JP"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2000" b="0" i="0" kern="1200" dirty="0">
                          <a:solidFill>
                            <a:schemeClr val="dk1"/>
                          </a:solidFill>
                          <a:effectLst/>
                          <a:latin typeface="+mn-lt"/>
                          <a:ea typeface="+mn-ea"/>
                          <a:cs typeface="+mn-cs"/>
                        </a:rPr>
                        <a:t>0.21177563</a:t>
                      </a:r>
                      <a:endParaRPr kumimoji="1" lang="ja-JP"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647180"/>
                  </a:ext>
                </a:extLst>
              </a:tr>
            </a:tbl>
          </a:graphicData>
        </a:graphic>
      </p:graphicFrame>
      <p:sp>
        <p:nvSpPr>
          <p:cNvPr id="6" name="テキスト ボックス 5">
            <a:extLst>
              <a:ext uri="{FF2B5EF4-FFF2-40B4-BE49-F238E27FC236}">
                <a16:creationId xmlns:a16="http://schemas.microsoft.com/office/drawing/2014/main" id="{D7CF3C00-7AED-3FB1-666F-E8D0A4380AF2}"/>
              </a:ext>
            </a:extLst>
          </p:cNvPr>
          <p:cNvSpPr txBox="1"/>
          <p:nvPr/>
        </p:nvSpPr>
        <p:spPr>
          <a:xfrm>
            <a:off x="1428044" y="5256207"/>
            <a:ext cx="9335912" cy="954107"/>
          </a:xfrm>
          <a:prstGeom prst="rect">
            <a:avLst/>
          </a:prstGeom>
          <a:noFill/>
        </p:spPr>
        <p:txBody>
          <a:bodyPr wrap="square" rtlCol="0">
            <a:spAutoFit/>
          </a:bodyPr>
          <a:lstStyle/>
          <a:p>
            <a:r>
              <a:rPr kumimoji="1" lang="ja-JP" altLang="en-US" sz="2800" dirty="0">
                <a:latin typeface="BIZ UDPゴシック" panose="020B0400000000000000" pitchFamily="50" charset="-128"/>
                <a:ea typeface="BIZ UDPゴシック" panose="020B0400000000000000" pitchFamily="50" charset="-128"/>
              </a:rPr>
              <a:t>このような出力になるように</a:t>
            </a:r>
            <a:r>
              <a:rPr kumimoji="1" lang="en-US" altLang="ja-JP" sz="2800" dirty="0">
                <a:latin typeface="BIZ UDPゴシック" panose="020B0400000000000000" pitchFamily="50" charset="-128"/>
                <a:ea typeface="BIZ UDPゴシック" panose="020B0400000000000000" pitchFamily="50" charset="-128"/>
              </a:rPr>
              <a:t>ChatGPT</a:t>
            </a:r>
            <a:r>
              <a:rPr kumimoji="1" lang="ja-JP" altLang="en-US" sz="2800" dirty="0">
                <a:latin typeface="BIZ UDPゴシック" panose="020B0400000000000000" pitchFamily="50" charset="-128"/>
                <a:ea typeface="BIZ UDPゴシック" panose="020B0400000000000000" pitchFamily="50" charset="-128"/>
              </a:rPr>
              <a:t>でデータセットを作成し、</a:t>
            </a:r>
            <a:r>
              <a:rPr kumimoji="1" lang="en-US" altLang="ja-JP" sz="2800" dirty="0">
                <a:latin typeface="BIZ UDPゴシック" panose="020B0400000000000000" pitchFamily="50" charset="-128"/>
                <a:ea typeface="BIZ UDPゴシック" panose="020B0400000000000000" pitchFamily="50" charset="-128"/>
              </a:rPr>
              <a:t>BERT</a:t>
            </a:r>
            <a:r>
              <a:rPr kumimoji="1" lang="ja-JP" altLang="en-US" sz="2800" dirty="0">
                <a:latin typeface="BIZ UDPゴシック" panose="020B0400000000000000" pitchFamily="50" charset="-128"/>
                <a:ea typeface="BIZ UDPゴシック" panose="020B0400000000000000" pitchFamily="50" charset="-128"/>
              </a:rPr>
              <a:t>をファインチューニングしました。</a:t>
            </a:r>
          </a:p>
        </p:txBody>
      </p:sp>
      <p:sp>
        <p:nvSpPr>
          <p:cNvPr id="7" name="矢印: 右 6">
            <a:extLst>
              <a:ext uri="{FF2B5EF4-FFF2-40B4-BE49-F238E27FC236}">
                <a16:creationId xmlns:a16="http://schemas.microsoft.com/office/drawing/2014/main" id="{3ED8C8D5-15A8-96FF-80F2-32F6F5987B83}"/>
              </a:ext>
            </a:extLst>
          </p:cNvPr>
          <p:cNvSpPr/>
          <p:nvPr/>
        </p:nvSpPr>
        <p:spPr>
          <a:xfrm rot="5400000">
            <a:off x="5751988" y="2645718"/>
            <a:ext cx="688023" cy="878541"/>
          </a:xfrm>
          <a:prstGeom prst="rightArrow">
            <a:avLst>
              <a:gd name="adj1" fmla="val 43878"/>
              <a:gd name="adj2" fmla="val 50000"/>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Slide Number Placeholder 4">
            <a:extLst>
              <a:ext uri="{FF2B5EF4-FFF2-40B4-BE49-F238E27FC236}">
                <a16:creationId xmlns:a16="http://schemas.microsoft.com/office/drawing/2014/main" id="{BE5C3779-95CF-1EEF-8D4A-77AB599C0CC2}"/>
              </a:ext>
            </a:extLst>
          </p:cNvPr>
          <p:cNvSpPr>
            <a:spLocks noGrp="1"/>
          </p:cNvSpPr>
          <p:nvPr>
            <p:ph type="sldNum" sz="quarter" idx="12"/>
          </p:nvPr>
        </p:nvSpPr>
        <p:spPr/>
        <p:txBody>
          <a:bodyPr/>
          <a:lstStyle/>
          <a:p>
            <a:fld id="{F42732FB-2277-442C-9711-A45410BE01D8}" type="slidenum">
              <a:rPr kumimoji="1" lang="ja-JP" altLang="en-US" smtClean="0"/>
              <a:t>29</a:t>
            </a:fld>
            <a:endParaRPr kumimoji="1" lang="ja-JP" altLang="en-US"/>
          </a:p>
        </p:txBody>
      </p:sp>
    </p:spTree>
    <p:extLst>
      <p:ext uri="{BB962C8B-B14F-4D97-AF65-F5344CB8AC3E}">
        <p14:creationId xmlns:p14="http://schemas.microsoft.com/office/powerpoint/2010/main" val="1740467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descr="ダイアグラム, 設計図, 概略図&#10;&#10;自動的に生成された説明">
            <a:extLst>
              <a:ext uri="{FF2B5EF4-FFF2-40B4-BE49-F238E27FC236}">
                <a16:creationId xmlns:a16="http://schemas.microsoft.com/office/drawing/2014/main" id="{2741BFD1-225F-26C2-9FE3-97DFC63AB1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785276" y="-2778023"/>
            <a:ext cx="8621450" cy="12192002"/>
          </a:xfrm>
          <a:prstGeom prst="rect">
            <a:avLst/>
          </a:prstGeom>
        </p:spPr>
      </p:pic>
      <p:sp>
        <p:nvSpPr>
          <p:cNvPr id="2" name="Slide Number Placeholder 1">
            <a:extLst>
              <a:ext uri="{FF2B5EF4-FFF2-40B4-BE49-F238E27FC236}">
                <a16:creationId xmlns:a16="http://schemas.microsoft.com/office/drawing/2014/main" id="{EBB6E3EB-F2B3-6371-9B25-669607B91E70}"/>
              </a:ext>
            </a:extLst>
          </p:cNvPr>
          <p:cNvSpPr>
            <a:spLocks noGrp="1"/>
          </p:cNvSpPr>
          <p:nvPr>
            <p:ph type="sldNum" sz="quarter" idx="12"/>
          </p:nvPr>
        </p:nvSpPr>
        <p:spPr/>
        <p:txBody>
          <a:bodyPr/>
          <a:lstStyle/>
          <a:p>
            <a:fld id="{F42732FB-2277-442C-9711-A45410BE01D8}" type="slidenum">
              <a:rPr kumimoji="1" lang="ja-JP" altLang="en-US" smtClean="0"/>
              <a:t>30</a:t>
            </a:fld>
            <a:endParaRPr kumimoji="1" lang="ja-JP" altLang="en-US"/>
          </a:p>
        </p:txBody>
      </p:sp>
    </p:spTree>
    <p:extLst>
      <p:ext uri="{BB962C8B-B14F-4D97-AF65-F5344CB8AC3E}">
        <p14:creationId xmlns:p14="http://schemas.microsoft.com/office/powerpoint/2010/main" val="685024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2A704BD-AE99-3786-4115-FD0A53B76121}"/>
              </a:ext>
            </a:extLst>
          </p:cNvPr>
          <p:cNvSpPr txBox="1"/>
          <p:nvPr/>
        </p:nvSpPr>
        <p:spPr>
          <a:xfrm>
            <a:off x="298127" y="48985"/>
            <a:ext cx="6113962" cy="1200329"/>
          </a:xfrm>
          <a:prstGeom prst="rect">
            <a:avLst/>
          </a:prstGeom>
          <a:noFill/>
        </p:spPr>
        <p:txBody>
          <a:bodyPr wrap="square" rtlCol="0">
            <a:spAutoFit/>
          </a:bodyPr>
          <a:lstStyle/>
          <a:p>
            <a:r>
              <a:rPr lang="ja-JP" altLang="en-US" sz="7200" b="1" dirty="0">
                <a:latin typeface="BIZ UDPゴシック" panose="020B0400000000000000" pitchFamily="50" charset="-128"/>
                <a:ea typeface="BIZ UDPゴシック" panose="020B0400000000000000" pitchFamily="50" charset="-128"/>
              </a:rPr>
              <a:t>スケジュール</a:t>
            </a:r>
            <a:endParaRPr kumimoji="1" lang="ja-JP" altLang="en-US" sz="7200" b="1"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0CF17158-A6BE-9E95-D15C-7F97DCE4DCAF}"/>
              </a:ext>
            </a:extLst>
          </p:cNvPr>
          <p:cNvSpPr txBox="1"/>
          <p:nvPr/>
        </p:nvSpPr>
        <p:spPr>
          <a:xfrm>
            <a:off x="717456" y="1690062"/>
            <a:ext cx="8245921" cy="3477875"/>
          </a:xfrm>
          <a:prstGeom prst="rect">
            <a:avLst/>
          </a:prstGeom>
          <a:noFill/>
        </p:spPr>
        <p:txBody>
          <a:bodyPr wrap="square" rtlCol="0">
            <a:spAutoFit/>
          </a:bodyPr>
          <a:lstStyle/>
          <a:p>
            <a:r>
              <a:rPr lang="en-US" altLang="ja-JP" sz="4400" dirty="0">
                <a:latin typeface="BIZ UDPゴシック" panose="020B0400000000000000" pitchFamily="50" charset="-128"/>
                <a:ea typeface="BIZ UDPゴシック" panose="020B0400000000000000" pitchFamily="50" charset="-128"/>
              </a:rPr>
              <a:t>4</a:t>
            </a:r>
            <a:r>
              <a:rPr lang="ja-JP" altLang="en-US" sz="4400" dirty="0">
                <a:latin typeface="BIZ UDPゴシック" panose="020B0400000000000000" pitchFamily="50" charset="-128"/>
                <a:ea typeface="BIZ UDPゴシック" panose="020B0400000000000000" pitchFamily="50" charset="-128"/>
              </a:rPr>
              <a:t>月 </a:t>
            </a:r>
            <a:r>
              <a:rPr lang="en-US" altLang="ja-JP" sz="4400" dirty="0">
                <a:latin typeface="BIZ UDPゴシック" panose="020B0400000000000000" pitchFamily="50" charset="-128"/>
                <a:ea typeface="BIZ UDPゴシック" panose="020B0400000000000000" pitchFamily="50" charset="-128"/>
              </a:rPr>
              <a:t>: </a:t>
            </a:r>
            <a:r>
              <a:rPr lang="ja-JP" altLang="en-US" sz="4400" dirty="0">
                <a:latin typeface="BIZ UDPゴシック" panose="020B0400000000000000" pitchFamily="50" charset="-128"/>
                <a:ea typeface="BIZ UDPゴシック" panose="020B0400000000000000" pitchFamily="50" charset="-128"/>
              </a:rPr>
              <a:t>構想・技術選定</a:t>
            </a:r>
            <a:endParaRPr lang="en-US" altLang="ja-JP" sz="4400" dirty="0">
              <a:latin typeface="BIZ UDPゴシック" panose="020B0400000000000000" pitchFamily="50" charset="-128"/>
              <a:ea typeface="BIZ UDPゴシック" panose="020B0400000000000000" pitchFamily="50" charset="-128"/>
            </a:endParaRPr>
          </a:p>
          <a:p>
            <a:r>
              <a:rPr kumimoji="1" lang="en-US" altLang="ja-JP" sz="4400" dirty="0">
                <a:latin typeface="BIZ UDPゴシック" panose="020B0400000000000000" pitchFamily="50" charset="-128"/>
                <a:ea typeface="BIZ UDPゴシック" panose="020B0400000000000000" pitchFamily="50" charset="-128"/>
              </a:rPr>
              <a:t>5</a:t>
            </a:r>
            <a:r>
              <a:rPr kumimoji="1" lang="ja-JP" altLang="en-US" sz="4400" dirty="0">
                <a:latin typeface="BIZ UDPゴシック" panose="020B0400000000000000" pitchFamily="50" charset="-128"/>
                <a:ea typeface="BIZ UDPゴシック" panose="020B0400000000000000" pitchFamily="50" charset="-128"/>
              </a:rPr>
              <a:t>月 </a:t>
            </a:r>
            <a:r>
              <a:rPr kumimoji="1" lang="en-US" altLang="ja-JP" sz="4400" dirty="0">
                <a:latin typeface="BIZ UDPゴシック" panose="020B0400000000000000" pitchFamily="50" charset="-128"/>
                <a:ea typeface="BIZ UDPゴシック" panose="020B0400000000000000" pitchFamily="50" charset="-128"/>
              </a:rPr>
              <a:t>: BERT</a:t>
            </a:r>
            <a:r>
              <a:rPr kumimoji="1" lang="ja-JP" altLang="en-US" sz="4400" dirty="0">
                <a:latin typeface="BIZ UDPゴシック" panose="020B0400000000000000" pitchFamily="50" charset="-128"/>
                <a:ea typeface="BIZ UDPゴシック" panose="020B0400000000000000" pitchFamily="50" charset="-128"/>
              </a:rPr>
              <a:t>学習</a:t>
            </a:r>
            <a:endParaRPr kumimoji="1" lang="en-US" altLang="ja-JP" sz="4400" dirty="0">
              <a:latin typeface="BIZ UDPゴシック" panose="020B0400000000000000" pitchFamily="50" charset="-128"/>
              <a:ea typeface="BIZ UDPゴシック" panose="020B0400000000000000" pitchFamily="50" charset="-128"/>
            </a:endParaRPr>
          </a:p>
          <a:p>
            <a:r>
              <a:rPr lang="en-US" altLang="ja-JP" sz="4400" dirty="0">
                <a:latin typeface="BIZ UDPゴシック" panose="020B0400000000000000" pitchFamily="50" charset="-128"/>
                <a:ea typeface="BIZ UDPゴシック" panose="020B0400000000000000" pitchFamily="50" charset="-128"/>
              </a:rPr>
              <a:t>6</a:t>
            </a:r>
            <a:r>
              <a:rPr lang="ja-JP" altLang="en-US" sz="4400" dirty="0">
                <a:latin typeface="BIZ UDPゴシック" panose="020B0400000000000000" pitchFamily="50" charset="-128"/>
                <a:ea typeface="BIZ UDPゴシック" panose="020B0400000000000000" pitchFamily="50" charset="-128"/>
              </a:rPr>
              <a:t>月 </a:t>
            </a:r>
            <a:r>
              <a:rPr lang="en-US" altLang="ja-JP" sz="4400" dirty="0">
                <a:latin typeface="BIZ UDPゴシック" panose="020B0400000000000000" pitchFamily="50" charset="-128"/>
                <a:ea typeface="BIZ UDPゴシック" panose="020B0400000000000000" pitchFamily="50" charset="-128"/>
              </a:rPr>
              <a:t>: </a:t>
            </a:r>
            <a:r>
              <a:rPr lang="ja-JP" altLang="en-US" sz="4400" dirty="0">
                <a:latin typeface="BIZ UDPゴシック" panose="020B0400000000000000" pitchFamily="50" charset="-128"/>
                <a:ea typeface="BIZ UDPゴシック" panose="020B0400000000000000" pitchFamily="50" charset="-128"/>
              </a:rPr>
              <a:t>データセット作成</a:t>
            </a:r>
            <a:br>
              <a:rPr lang="en-US" altLang="ja-JP" sz="4400" dirty="0">
                <a:latin typeface="BIZ UDPゴシック" panose="020B0400000000000000" pitchFamily="50" charset="-128"/>
                <a:ea typeface="BIZ UDPゴシック" panose="020B0400000000000000" pitchFamily="50" charset="-128"/>
              </a:rPr>
            </a:br>
            <a:r>
              <a:rPr lang="en-US" altLang="ja-JP" sz="4400" dirty="0">
                <a:latin typeface="BIZ UDPゴシック" panose="020B0400000000000000" pitchFamily="50" charset="-128"/>
                <a:ea typeface="BIZ UDPゴシック" panose="020B0400000000000000" pitchFamily="50" charset="-128"/>
              </a:rPr>
              <a:t>7</a:t>
            </a:r>
            <a:r>
              <a:rPr lang="ja-JP" altLang="en-US" sz="4400" dirty="0">
                <a:latin typeface="BIZ UDPゴシック" panose="020B0400000000000000" pitchFamily="50" charset="-128"/>
                <a:ea typeface="BIZ UDPゴシック" panose="020B0400000000000000" pitchFamily="50" charset="-128"/>
              </a:rPr>
              <a:t>月 </a:t>
            </a:r>
            <a:r>
              <a:rPr lang="en-US" altLang="ja-JP" sz="4400" dirty="0">
                <a:latin typeface="BIZ UDPゴシック" panose="020B0400000000000000" pitchFamily="50" charset="-128"/>
                <a:ea typeface="BIZ UDPゴシック" panose="020B0400000000000000" pitchFamily="50" charset="-128"/>
              </a:rPr>
              <a:t>: </a:t>
            </a:r>
            <a:r>
              <a:rPr lang="ja-JP" altLang="en-US" sz="4400" dirty="0">
                <a:latin typeface="BIZ UDPゴシック" panose="020B0400000000000000" pitchFamily="50" charset="-128"/>
                <a:ea typeface="BIZ UDPゴシック" panose="020B0400000000000000" pitchFamily="50" charset="-128"/>
              </a:rPr>
              <a:t>時系列モデルの選定</a:t>
            </a:r>
            <a:endParaRPr lang="en-US" altLang="ja-JP" sz="4400" dirty="0">
              <a:latin typeface="BIZ UDPゴシック" panose="020B0400000000000000" pitchFamily="50" charset="-128"/>
              <a:ea typeface="BIZ UDPゴシック" panose="020B0400000000000000" pitchFamily="50" charset="-128"/>
            </a:endParaRPr>
          </a:p>
          <a:p>
            <a:r>
              <a:rPr kumimoji="1" lang="en-US" altLang="ja-JP" sz="4400" dirty="0">
                <a:latin typeface="BIZ UDPゴシック" panose="020B0400000000000000" pitchFamily="50" charset="-128"/>
                <a:ea typeface="BIZ UDPゴシック" panose="020B0400000000000000" pitchFamily="50" charset="-128"/>
              </a:rPr>
              <a:t>8</a:t>
            </a:r>
            <a:r>
              <a:rPr kumimoji="1" lang="ja-JP" altLang="en-US" sz="4400" dirty="0">
                <a:latin typeface="BIZ UDPゴシック" panose="020B0400000000000000" pitchFamily="50" charset="-128"/>
                <a:ea typeface="BIZ UDPゴシック" panose="020B0400000000000000" pitchFamily="50" charset="-128"/>
              </a:rPr>
              <a:t>月 </a:t>
            </a:r>
            <a:r>
              <a:rPr kumimoji="1" lang="en-US" altLang="ja-JP" sz="4400" dirty="0">
                <a:latin typeface="BIZ UDPゴシック" panose="020B0400000000000000" pitchFamily="50" charset="-128"/>
                <a:ea typeface="BIZ UDPゴシック" panose="020B0400000000000000" pitchFamily="50" charset="-128"/>
              </a:rPr>
              <a:t>: </a:t>
            </a:r>
            <a:r>
              <a:rPr kumimoji="1" lang="ja-JP" altLang="en-US" sz="4400" dirty="0">
                <a:latin typeface="BIZ UDPゴシック" panose="020B0400000000000000" pitchFamily="50" charset="-128"/>
                <a:ea typeface="BIZ UDPゴシック" panose="020B0400000000000000" pitchFamily="50" charset="-128"/>
              </a:rPr>
              <a:t>学習・発表資料作成</a:t>
            </a:r>
          </a:p>
        </p:txBody>
      </p:sp>
      <p:sp>
        <p:nvSpPr>
          <p:cNvPr id="4" name="テキスト ボックス 3">
            <a:extLst>
              <a:ext uri="{FF2B5EF4-FFF2-40B4-BE49-F238E27FC236}">
                <a16:creationId xmlns:a16="http://schemas.microsoft.com/office/drawing/2014/main" id="{6FC0D656-FC07-DF21-A715-036EACE74006}"/>
              </a:ext>
            </a:extLst>
          </p:cNvPr>
          <p:cNvSpPr txBox="1"/>
          <p:nvPr/>
        </p:nvSpPr>
        <p:spPr>
          <a:xfrm>
            <a:off x="8091618" y="1690062"/>
            <a:ext cx="3784294" cy="4154984"/>
          </a:xfrm>
          <a:prstGeom prst="rect">
            <a:avLst/>
          </a:prstGeom>
          <a:noFill/>
        </p:spPr>
        <p:txBody>
          <a:bodyPr wrap="square" rtlCol="0">
            <a:spAutoFit/>
          </a:bodyPr>
          <a:lstStyle/>
          <a:p>
            <a:r>
              <a:rPr lang="ja-JP" altLang="en-US" sz="4400" dirty="0">
                <a:latin typeface="BIZ UDPゴシック" panose="020B0400000000000000" pitchFamily="50" charset="-128"/>
                <a:ea typeface="BIZ UDPゴシック" panose="020B0400000000000000" pitchFamily="50" charset="-128"/>
              </a:rPr>
              <a:t>担当 </a:t>
            </a:r>
            <a:r>
              <a:rPr lang="en-US" altLang="ja-JP" sz="4400" dirty="0">
                <a:latin typeface="BIZ UDPゴシック" panose="020B0400000000000000" pitchFamily="50" charset="-128"/>
                <a:ea typeface="BIZ UDPゴシック" panose="020B0400000000000000" pitchFamily="50" charset="-128"/>
              </a:rPr>
              <a:t>: </a:t>
            </a:r>
            <a:r>
              <a:rPr lang="ja-JP" altLang="en-US" sz="4400" dirty="0">
                <a:latin typeface="BIZ UDPゴシック" panose="020B0400000000000000" pitchFamily="50" charset="-128"/>
                <a:ea typeface="BIZ UDPゴシック" panose="020B0400000000000000" pitchFamily="50" charset="-128"/>
              </a:rPr>
              <a:t>下沢</a:t>
            </a:r>
            <a:endParaRPr lang="en-US" altLang="ja-JP" sz="4400" dirty="0">
              <a:latin typeface="BIZ UDPゴシック" panose="020B0400000000000000" pitchFamily="50" charset="-128"/>
              <a:ea typeface="BIZ UDPゴシック" panose="020B0400000000000000" pitchFamily="50" charset="-128"/>
            </a:endParaRPr>
          </a:p>
          <a:p>
            <a:r>
              <a:rPr lang="ja-JP" altLang="en-US" sz="4400" dirty="0">
                <a:latin typeface="BIZ UDPゴシック" panose="020B0400000000000000" pitchFamily="50" charset="-128"/>
                <a:ea typeface="BIZ UDPゴシック" panose="020B0400000000000000" pitchFamily="50" charset="-128"/>
              </a:rPr>
              <a:t>担当 </a:t>
            </a:r>
            <a:r>
              <a:rPr lang="en-US" altLang="ja-JP" sz="4400" dirty="0">
                <a:latin typeface="BIZ UDPゴシック" panose="020B0400000000000000" pitchFamily="50" charset="-128"/>
                <a:ea typeface="BIZ UDPゴシック" panose="020B0400000000000000" pitchFamily="50" charset="-128"/>
              </a:rPr>
              <a:t>: </a:t>
            </a:r>
            <a:r>
              <a:rPr lang="ja-JP" altLang="en-US" sz="4400" dirty="0">
                <a:latin typeface="BIZ UDPゴシック" panose="020B0400000000000000" pitchFamily="50" charset="-128"/>
                <a:ea typeface="BIZ UDPゴシック" panose="020B0400000000000000" pitchFamily="50" charset="-128"/>
              </a:rPr>
              <a:t>下沢</a:t>
            </a:r>
            <a:endParaRPr kumimoji="1" lang="ja-JP" altLang="en-US" sz="4400" dirty="0">
              <a:latin typeface="BIZ UDPゴシック" panose="020B0400000000000000" pitchFamily="50" charset="-128"/>
              <a:ea typeface="BIZ UDPゴシック" panose="020B0400000000000000" pitchFamily="50" charset="-128"/>
            </a:endParaRPr>
          </a:p>
          <a:p>
            <a:r>
              <a:rPr lang="ja-JP" altLang="en-US" sz="4400" dirty="0">
                <a:latin typeface="BIZ UDPゴシック" panose="020B0400000000000000" pitchFamily="50" charset="-128"/>
                <a:ea typeface="BIZ UDPゴシック" panose="020B0400000000000000" pitchFamily="50" charset="-128"/>
              </a:rPr>
              <a:t>担当 </a:t>
            </a:r>
            <a:r>
              <a:rPr lang="en-US" altLang="ja-JP" sz="4400" dirty="0">
                <a:latin typeface="BIZ UDPゴシック" panose="020B0400000000000000" pitchFamily="50" charset="-128"/>
                <a:ea typeface="BIZ UDPゴシック" panose="020B0400000000000000" pitchFamily="50" charset="-128"/>
              </a:rPr>
              <a:t>: </a:t>
            </a:r>
            <a:r>
              <a:rPr lang="ja-JP" altLang="en-US" sz="4400" dirty="0">
                <a:latin typeface="BIZ UDPゴシック" panose="020B0400000000000000" pitchFamily="50" charset="-128"/>
                <a:ea typeface="BIZ UDPゴシック" panose="020B0400000000000000" pitchFamily="50" charset="-128"/>
              </a:rPr>
              <a:t>下沢</a:t>
            </a:r>
            <a:endParaRPr kumimoji="1" lang="ja-JP" altLang="en-US" sz="4400" dirty="0">
              <a:latin typeface="BIZ UDPゴシック" panose="020B0400000000000000" pitchFamily="50" charset="-128"/>
              <a:ea typeface="BIZ UDPゴシック" panose="020B0400000000000000" pitchFamily="50" charset="-128"/>
            </a:endParaRPr>
          </a:p>
          <a:p>
            <a:r>
              <a:rPr lang="ja-JP" altLang="en-US" sz="4400" dirty="0">
                <a:latin typeface="BIZ UDPゴシック" panose="020B0400000000000000" pitchFamily="50" charset="-128"/>
                <a:ea typeface="BIZ UDPゴシック" panose="020B0400000000000000" pitchFamily="50" charset="-128"/>
              </a:rPr>
              <a:t>担当 </a:t>
            </a:r>
            <a:r>
              <a:rPr lang="en-US" altLang="ja-JP" sz="4400" dirty="0">
                <a:latin typeface="BIZ UDPゴシック" panose="020B0400000000000000" pitchFamily="50" charset="-128"/>
                <a:ea typeface="BIZ UDPゴシック" panose="020B0400000000000000" pitchFamily="50" charset="-128"/>
              </a:rPr>
              <a:t>: </a:t>
            </a:r>
            <a:r>
              <a:rPr lang="ja-JP" altLang="en-US" sz="4400" dirty="0">
                <a:latin typeface="BIZ UDPゴシック" panose="020B0400000000000000" pitchFamily="50" charset="-128"/>
                <a:ea typeface="BIZ UDPゴシック" panose="020B0400000000000000" pitchFamily="50" charset="-128"/>
              </a:rPr>
              <a:t>下沢</a:t>
            </a:r>
            <a:endParaRPr kumimoji="1" lang="ja-JP" altLang="en-US" sz="4400" dirty="0">
              <a:latin typeface="BIZ UDPゴシック" panose="020B0400000000000000" pitchFamily="50" charset="-128"/>
              <a:ea typeface="BIZ UDPゴシック" panose="020B0400000000000000" pitchFamily="50" charset="-128"/>
            </a:endParaRPr>
          </a:p>
          <a:p>
            <a:r>
              <a:rPr lang="ja-JP" altLang="en-US" sz="4400" dirty="0">
                <a:latin typeface="BIZ UDPゴシック" panose="020B0400000000000000" pitchFamily="50" charset="-128"/>
                <a:ea typeface="BIZ UDPゴシック" panose="020B0400000000000000" pitchFamily="50" charset="-128"/>
              </a:rPr>
              <a:t>担当 </a:t>
            </a:r>
            <a:r>
              <a:rPr lang="en-US" altLang="ja-JP" sz="4400" dirty="0">
                <a:latin typeface="BIZ UDPゴシック" panose="020B0400000000000000" pitchFamily="50" charset="-128"/>
                <a:ea typeface="BIZ UDPゴシック" panose="020B0400000000000000" pitchFamily="50" charset="-128"/>
              </a:rPr>
              <a:t>: </a:t>
            </a:r>
            <a:r>
              <a:rPr lang="ja-JP" altLang="en-US" sz="4400" dirty="0">
                <a:latin typeface="BIZ UDPゴシック" panose="020B0400000000000000" pitchFamily="50" charset="-128"/>
                <a:ea typeface="BIZ UDPゴシック" panose="020B0400000000000000" pitchFamily="50" charset="-128"/>
              </a:rPr>
              <a:t>下沢</a:t>
            </a:r>
            <a:endParaRPr kumimoji="1" lang="ja-JP" altLang="en-US" sz="4400" dirty="0">
              <a:latin typeface="BIZ UDPゴシック" panose="020B0400000000000000" pitchFamily="50" charset="-128"/>
              <a:ea typeface="BIZ UDPゴシック" panose="020B0400000000000000" pitchFamily="50" charset="-128"/>
            </a:endParaRPr>
          </a:p>
          <a:p>
            <a:endParaRPr kumimoji="1" lang="ja-JP" altLang="en-US" sz="4400"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22EF4CED-637D-A8DB-3E39-3706544B94A5}"/>
              </a:ext>
            </a:extLst>
          </p:cNvPr>
          <p:cNvSpPr txBox="1"/>
          <p:nvPr/>
        </p:nvSpPr>
        <p:spPr>
          <a:xfrm>
            <a:off x="717456" y="5608685"/>
            <a:ext cx="8855522" cy="646331"/>
          </a:xfrm>
          <a:prstGeom prst="rect">
            <a:avLst/>
          </a:prstGeom>
          <a:noFill/>
        </p:spPr>
        <p:txBody>
          <a:bodyPr wrap="square" rtlCol="0">
            <a:spAutoFit/>
          </a:bodyPr>
          <a:lstStyle/>
          <a:p>
            <a:r>
              <a:rPr kumimoji="1" lang="en-US" altLang="ja-JP" sz="3600" dirty="0">
                <a:latin typeface="BIZ UDPゴシック" panose="020B0400000000000000" pitchFamily="50" charset="-128"/>
                <a:ea typeface="BIZ UDPゴシック" panose="020B0400000000000000" pitchFamily="50" charset="-128"/>
              </a:rPr>
              <a:t>※</a:t>
            </a:r>
            <a:r>
              <a:rPr kumimoji="1" lang="ja-JP" altLang="en-US" sz="3600" dirty="0">
                <a:latin typeface="BIZ UDPゴシック" panose="020B0400000000000000" pitchFamily="50" charset="-128"/>
                <a:ea typeface="BIZ UDPゴシック" panose="020B0400000000000000" pitchFamily="50" charset="-128"/>
              </a:rPr>
              <a:t>常にスクレイプと</a:t>
            </a:r>
            <a:r>
              <a:rPr kumimoji="1" lang="en-US" altLang="ja-JP" sz="3600" dirty="0">
                <a:latin typeface="BIZ UDPゴシック" panose="020B0400000000000000" pitchFamily="50" charset="-128"/>
                <a:ea typeface="BIZ UDPゴシック" panose="020B0400000000000000" pitchFamily="50" charset="-128"/>
              </a:rPr>
              <a:t>DB</a:t>
            </a:r>
            <a:r>
              <a:rPr kumimoji="1" lang="ja-JP" altLang="en-US" sz="3600" dirty="0">
                <a:latin typeface="BIZ UDPゴシック" panose="020B0400000000000000" pitchFamily="50" charset="-128"/>
                <a:ea typeface="BIZ UDPゴシック" panose="020B0400000000000000" pitchFamily="50" charset="-128"/>
              </a:rPr>
              <a:t>と受験勉強との挌闘</a:t>
            </a:r>
          </a:p>
        </p:txBody>
      </p:sp>
      <p:sp>
        <p:nvSpPr>
          <p:cNvPr id="6" name="Slide Number Placeholder 5">
            <a:extLst>
              <a:ext uri="{FF2B5EF4-FFF2-40B4-BE49-F238E27FC236}">
                <a16:creationId xmlns:a16="http://schemas.microsoft.com/office/drawing/2014/main" id="{17147754-40E3-030D-B821-21F2681DB97F}"/>
              </a:ext>
            </a:extLst>
          </p:cNvPr>
          <p:cNvSpPr>
            <a:spLocks noGrp="1"/>
          </p:cNvSpPr>
          <p:nvPr>
            <p:ph type="sldNum" sz="quarter" idx="12"/>
          </p:nvPr>
        </p:nvSpPr>
        <p:spPr/>
        <p:txBody>
          <a:bodyPr/>
          <a:lstStyle/>
          <a:p>
            <a:fld id="{F42732FB-2277-442C-9711-A45410BE01D8}" type="slidenum">
              <a:rPr kumimoji="1" lang="ja-JP" altLang="en-US" smtClean="0"/>
              <a:t>31</a:t>
            </a:fld>
            <a:endParaRPr kumimoji="1" lang="ja-JP" altLang="en-US"/>
          </a:p>
        </p:txBody>
      </p:sp>
    </p:spTree>
    <p:extLst>
      <p:ext uri="{BB962C8B-B14F-4D97-AF65-F5344CB8AC3E}">
        <p14:creationId xmlns:p14="http://schemas.microsoft.com/office/powerpoint/2010/main" val="21864278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ABE8BEE-52EC-7899-71AC-EF585989D28B}"/>
              </a:ext>
            </a:extLst>
          </p:cNvPr>
          <p:cNvSpPr>
            <a:spLocks noGrp="1"/>
          </p:cNvSpPr>
          <p:nvPr>
            <p:ph type="sldNum" sz="quarter" idx="12"/>
          </p:nvPr>
        </p:nvSpPr>
        <p:spPr/>
        <p:txBody>
          <a:bodyPr/>
          <a:lstStyle/>
          <a:p>
            <a:fld id="{F42732FB-2277-442C-9711-A45410BE01D8}" type="slidenum">
              <a:rPr kumimoji="1" lang="ja-JP" altLang="en-US" smtClean="0"/>
              <a:t>32</a:t>
            </a:fld>
            <a:endParaRPr kumimoji="1" lang="ja-JP" altLang="en-US"/>
          </a:p>
        </p:txBody>
      </p:sp>
      <p:grpSp>
        <p:nvGrpSpPr>
          <p:cNvPr id="7" name="Group 6">
            <a:extLst>
              <a:ext uri="{FF2B5EF4-FFF2-40B4-BE49-F238E27FC236}">
                <a16:creationId xmlns:a16="http://schemas.microsoft.com/office/drawing/2014/main" id="{DFC175B7-FBCC-2DF5-1A0E-E3CF23946173}"/>
              </a:ext>
            </a:extLst>
          </p:cNvPr>
          <p:cNvGrpSpPr/>
          <p:nvPr/>
        </p:nvGrpSpPr>
        <p:grpSpPr>
          <a:xfrm>
            <a:off x="3905929" y="242572"/>
            <a:ext cx="4380142" cy="1675031"/>
            <a:chOff x="3905928" y="381720"/>
            <a:chExt cx="4380142" cy="1675031"/>
          </a:xfrm>
        </p:grpSpPr>
        <p:pic>
          <p:nvPicPr>
            <p:cNvPr id="8" name="Picture 7" descr="\documentclass{article}&#10;\usepackage{amsmath}&#10;\usepackage{fontspec} % フォント設定用&#10;\pagestyle{empty}&#10;&#10;% フォント設定&#10;\newfontfamily\TitleJFont{BIZ UDPGothic}[BoldFont=BIZ UDPGothicBold]&#10;\newfontfamily\SectionJFont{BIZ UDPGothic}[BoldFont=BIZ UDPGothicBold]&#10;&#10;\begin{document}&#10;&#10;\begin{align*}&#10;x_t &amp;= c + \sum_{i=1}^{p} \phi_i y_{t-i} + \sum_{j=1}^{q} \theta_j\epsilon_{t-j} + \epsilon_t\\&#10;y_t &amp;= x_{t} - x_{t-d}&#10;\end{align*}&#10;&#10;\end{document}&#10;" title="IguanaTex Picture Display">
              <a:extLst>
                <a:ext uri="{FF2B5EF4-FFF2-40B4-BE49-F238E27FC236}">
                  <a16:creationId xmlns:a16="http://schemas.microsoft.com/office/drawing/2014/main" id="{8A04319C-ECD7-BC93-8C1B-902E4E6CCDB7}"/>
                </a:ext>
              </a:extLst>
            </p:cNvPr>
            <p:cNvPicPr>
              <a:picLocks noChangeAspect="1"/>
            </p:cNvPicPr>
            <p:nvPr>
              <p:custDataLst>
                <p:tags r:id="rId1"/>
              </p:custDataLst>
            </p:nvPr>
          </p:nvPicPr>
          <p:blipFill>
            <a:blip r:embed="rId3">
              <a:extLst>
                <a:ext uri="{28A0092B-C50C-407E-A947-70E740481C1C}">
                  <a14:useLocalDpi xmlns:a14="http://schemas.microsoft.com/office/drawing/2010/main" val="0"/>
                </a:ext>
              </a:extLst>
            </a:blip>
            <a:stretch>
              <a:fillRect/>
            </a:stretch>
          </p:blipFill>
          <p:spPr>
            <a:xfrm>
              <a:off x="4288935" y="381720"/>
              <a:ext cx="3614129" cy="1041596"/>
            </a:xfrm>
            <a:prstGeom prst="rect">
              <a:avLst/>
            </a:prstGeom>
          </p:spPr>
        </p:pic>
        <p:sp>
          <p:nvSpPr>
            <p:cNvPr id="9" name="テキスト ボックス 4">
              <a:extLst>
                <a:ext uri="{FF2B5EF4-FFF2-40B4-BE49-F238E27FC236}">
                  <a16:creationId xmlns:a16="http://schemas.microsoft.com/office/drawing/2014/main" id="{7E68250F-C630-699F-B013-E91963479B68}"/>
                </a:ext>
              </a:extLst>
            </p:cNvPr>
            <p:cNvSpPr txBox="1"/>
            <p:nvPr/>
          </p:nvSpPr>
          <p:spPr>
            <a:xfrm>
              <a:off x="3905928" y="1471976"/>
              <a:ext cx="4380142" cy="584775"/>
            </a:xfrm>
            <a:prstGeom prst="rect">
              <a:avLst/>
            </a:prstGeom>
            <a:noFill/>
          </p:spPr>
          <p:txBody>
            <a:bodyPr wrap="square" rtlCol="0">
              <a:spAutoFit/>
            </a:bodyPr>
            <a:lstStyle/>
            <a:p>
              <a:pPr algn="ctr"/>
              <a:r>
                <a:rPr lang="en-GB" altLang="ja-JP" sz="3200" dirty="0">
                  <a:latin typeface="BIZ UDPゴシック" panose="020B0400000000000000" pitchFamily="50" charset="-128"/>
                  <a:ea typeface="BIZ UDPゴシック" panose="020B0400000000000000" pitchFamily="50" charset="-128"/>
                </a:rPr>
                <a:t>ARIMA</a:t>
              </a:r>
              <a:r>
                <a:rPr lang="ja-JP" altLang="en-US" sz="3200" dirty="0">
                  <a:latin typeface="BIZ UDPゴシック" panose="020B0400000000000000" pitchFamily="50" charset="-128"/>
                  <a:ea typeface="BIZ UDPゴシック" panose="020B0400000000000000" pitchFamily="50" charset="-128"/>
                </a:rPr>
                <a:t>モデル</a:t>
              </a:r>
            </a:p>
          </p:txBody>
        </p:sp>
      </p:grpSp>
    </p:spTree>
    <p:extLst>
      <p:ext uri="{BB962C8B-B14F-4D97-AF65-F5344CB8AC3E}">
        <p14:creationId xmlns:p14="http://schemas.microsoft.com/office/powerpoint/2010/main" val="37580893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15.5161"/>
  <p:tag name="ORIGINALWIDTH" val="15.7522"/>
  <p:tag name="OUTPUTTYPE" val="PNG"/>
  <p:tag name="IGUANATEXVERSION" val="160"/>
  <p:tag name="LATEXADDIN" val="\documentclass{jsarticle}&#10;\usepackage{amsmath}&#10;\usepackage[T1]{fontenc}&#10;\usepackage{lmodern}&#10;\pagestyle{empty}&#10;&#10;\begin{document}&#10;&#10;\begin{align*}&#10;  \vdots&#10;\end{align*}&#10;&#10;\end{document}"/>
  <p:tag name="IGUANATEXSIZE" val="60"/>
  <p:tag name="IGUANATEXCURSOR" val="153"/>
  <p:tag name="TRANSPARENCY" val="True"/>
  <p:tag name="LATEXENGINEID" val="4"/>
  <p:tag name="TEMPFOLDER" val="c:\temptex\"/>
  <p:tag name="LATEXFORMHEIGHT" val="320"/>
  <p:tag name="LATEXFORMWIDTH" val="38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15.5161"/>
  <p:tag name="ORIGINALWIDTH" val="15.7522"/>
  <p:tag name="OUTPUTTYPE" val="PNG"/>
  <p:tag name="IGUANATEXVERSION" val="160"/>
  <p:tag name="LATEXADDIN" val="\documentclass{jsarticle}&#10;\usepackage{amsmath}&#10;\usepackage[T1]{fontenc}&#10;\usepackage{lmodern}&#10;\pagestyle{empty}&#10;&#10;\begin{document}&#10;&#10;\begin{align*}&#10;  \vdots&#10;\end{align*}&#10;&#10;\end{document}"/>
  <p:tag name="IGUANATEXSIZE" val="60"/>
  <p:tag name="IGUANATEXCURSOR" val="153"/>
  <p:tag name="TRANSPARENCY" val="True"/>
  <p:tag name="LATEXENGINEID" val="4"/>
  <p:tag name="TEMPFOLDER" val="c:\temptex\"/>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15.5161"/>
  <p:tag name="ORIGINALWIDTH" val="15.7522"/>
  <p:tag name="OUTPUTTYPE" val="PNG"/>
  <p:tag name="IGUANATEXVERSION" val="160"/>
  <p:tag name="LATEXADDIN" val="\documentclass{jsarticle}&#10;\usepackage{amsmath}&#10;\usepackage[T1]{fontenc}&#10;\usepackage{lmodern}&#10;\pagestyle{empty}&#10;&#10;\begin{document}&#10;&#10;\begin{align*}&#10;  \vdots&#10;\end{align*}&#10;&#10;\end{document}"/>
  <p:tag name="IGUANATEXSIZE" val="60"/>
  <p:tag name="IGUANATEXCURSOR" val="153"/>
  <p:tag name="TRANSPARENCY" val="True"/>
  <p:tag name="LATEXENGINEID" val="4"/>
  <p:tag name="TEMPFOLDER" val="c:\temptex\"/>
  <p:tag name="LATEXFORMHEIGHT" val="320"/>
  <p:tag name="LATEXFORMWIDTH" val="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558.8279"/>
  <p:tag name="ORIGINALWIDTH" val="1939.021"/>
  <p:tag name="OUTPUTTYPE" val="PNG"/>
  <p:tag name="IGUANATEXVERSION" val="161"/>
  <p:tag name="LATEXADDIN" val="\documentclass{article}&#10;\usepackage{amsmath}&#10;\usepackage{fontspec} % フォント設定用&#10;\pagestyle{empty}&#10;&#10;% フォント設定&#10;\newfontfamily\TitleJFont{BIZ UDPGothic}[BoldFont=BIZ UDPGothicBold]&#10;\newfontfamily\SectionJFont{BIZ UDPGothic}[BoldFont=BIZ UDPGothicBold]&#10;&#10;\begin{document}&#10;&#10;\begin{align*}&#10;x_t &amp;= c + \sum_{i=1}^{p} \phi_i y_{t-i} + \sum_{j=1}^{q} \theta_j\epsilon_{t-j} + \epsilon_t\\&#10;y_t &amp;= x_{t} - x_{t-d}&#10;\end{align*}&#10;&#10;\end{document}&#10;"/>
  <p:tag name="IGUANATEXSIZE" val="20"/>
  <p:tag name="IGUANATEXCURSOR" val="397"/>
  <p:tag name="TRANSPARENCY" val="True"/>
  <p:tag name="LATEXENGINEID" val="3"/>
  <p:tag name="TEMPFOLDER" val="C:\temp\"/>
  <p:tag name="LATEXFORMHEIGHT" val="320"/>
  <p:tag name="LATEXFORMWIDTH" val="385"/>
  <p:tag name="LATEXFORMWRAP" val="True"/>
  <p:tag name="BITMAPVECTOR" val="0"/>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4985</TotalTime>
  <Words>3176</Words>
  <Application>Microsoft Office PowerPoint</Application>
  <PresentationFormat>Widescreen</PresentationFormat>
  <Paragraphs>351</Paragraphs>
  <Slides>32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BIZ UDPGothic</vt:lpstr>
      <vt:lpstr>BIZ UDPGothic</vt:lpstr>
      <vt:lpstr>游ゴシック</vt:lpstr>
      <vt:lpstr>游ゴシック Light</vt:lpstr>
      <vt:lpstr>Aptos</vt:lpstr>
      <vt:lpstr>Arial</vt:lpstr>
      <vt:lpstr>Consolas</vt:lpstr>
      <vt:lpstr>Office テーマ</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亮太郎 下沢</dc:creator>
  <cp:lastModifiedBy>下沢 亮太郎</cp:lastModifiedBy>
  <cp:revision>304</cp:revision>
  <dcterms:created xsi:type="dcterms:W3CDTF">2024-08-01T23:56:15Z</dcterms:created>
  <dcterms:modified xsi:type="dcterms:W3CDTF">2025-01-25T01:35:22Z</dcterms:modified>
</cp:coreProperties>
</file>